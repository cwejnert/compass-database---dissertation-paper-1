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Carbon removal or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610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CDR axis = ALL removal — Novel CDR + fossil/industrial CCS + land-based removal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than CDR-led mitigation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unanimous and fully significant. High-RE is better in all 20 region × ambition cells and ALL 20 clear the interval. At World, net energy employment goes from 228 to 692 job-years per 1,000 people at 1.5°C (+204%) and 187 to 471 at 2°C (+153%). Nothing else in the study comes close for consistency.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now significant at World at high ambition. The decent-living gap closes from 18.43 to 11.62 GJ per capita at 1.5°C, a 37% reduction, and the interval clears zero [+1.72, +9.73]. At 2°C it closes from 15.46 to 11.37 but the interval does not [−0.56, +7.75]. Better in 14 of 20 cells, 11 significant, 2 significantly against.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favourable at high ambition. High-RE avoids 11.11 million cumulative deaths at World 1.5°C [+3.82, +50.40] — significant — while the 2°C cell is −4.28 and not. Europe carries it: 4.99 and 3.66 million avoided, significant at both levels, a 31% reduction on a base of about 16 million.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OVERALL, BY DIRECTION: 42 of 60 comparisons point to High-RE, 18 to High-CDR. Jobs points one way in all 20 cells; deprivation in 14 of 20; mortality in 8 of 20. THE TEST THAT MATTERS FOR AN ASSOCIATION IS WHETHER THAT DIRECTION IS STABLE. Remove REMIND — which is 88% of the High-RE arm at 1.5°C — and jobs keeps its direction in 19 of 20 cells, deprivation reverses in 8 of 20, and mortality cannot be scored at 1.5°C at all.</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Every cell is the two arm medians with a 2,000-replicate cluster bootstrap on the raw difference, resampling whole model × scenario-family clusters.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[+380, +513]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186.50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471.15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+284.65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[+181, +337]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−6.81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[+1.72, +9.73]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15.46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[−0.56, +7.75]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426.23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−11.11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[+3.82, +50.40]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437.88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[−20.6, +35.9]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FOUR OF SIX CELLS CLEAR, and all four favour High-RE: jobs at both ambition levels, deprivation at 1.5°C and mortality at 1.5°C. Both cells that fail are at 2°C, where the two arms differ less in how much combustion remains. Mortality runs on the reporting-complete sample (37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AND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decisions, and what each one buys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DESIGN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CDR AXIS IS ALL REMOVAL — Novel CDR, fossil and industrial CCS, AND LAND-BASED REMOVAL. The question is High-RE against High-CDR, and land-based removal is CDR: a scenario leaning on afforestation is a carbon-removal scenario whether or not the removal is engineered. Restricting the axis to engineered removal would name a SUBSET of the comparison arm. The engineered-only axis is reported throughout as the sensitivity.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67/67 at 1.5°C and 238/238 at 2°C. The portfolio rule takes same-size terciles on the same sample and subtracts the same overlap from each, so the arms are necessarily equal.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the ammonia reporting asymmetry and the synthetic-regions risk at once, by dropping the scenarios that caused them rather than patching.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ammonia harmonisation that dominated the previous round is now obsolete: the input rule makes the correction unnecessary, which is a better fix than the one it replaces.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HOW TO READ THIS DECK</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Direction first — these are associations, not causal estimates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FRAMING</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IS DIRECTIONAL. Does renewables-led mitigation deliver more wellbeing than CDR-led mitigation, at matched ambition? The evidence is WHICH WAY each cell points and how consistently — 42 of 60 to High-RE.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INTERVALS ARE REPORTED BUT ARE NOT THE CLAIM. A ● marks cells whose cluster-bootstrap interval clears zero. That is honest context on how firmly a cell points; nothing here is a causal effect of choosing a pathway.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ONE ROBUSTNESS TEST MATTERS MOST. What breaks an association is a REVERSAL, not a wide interval. Losing significance when a model is dropped is mostly lost power; changing SIGN means the direction belonged to that model.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THAT SEPARATES THE THREE OUTCOMES. Jobs: 20 of 20 cells point to High-RE, 19 of 20 hold without REMIND. Deprivation: 14 of 20, but 8 REVERSE without REMIND. Mortality: 8 of 20, and untestable at 1.5°C. One association survives its dominant model; two do not.</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throughout. Positive ALWAYS favours High-RE, so the two lower-is-better outcomes (deprivation gap, mortality) are sign-flipped.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CDR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ALL removal — novel CDR + fossil/industrial CCS + land-based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question names CDR, so the axis is CDR. Restricting it to engineered removal is reported as a sensitivity, and it is the conservative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Same-size terciles minus the same overlap yields balanced arms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610 classified scenarios sit in 335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High-CDR (−10 and −10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decent-living gap is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far BELOW a decent-living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A threshold is set for the final energy a person needs for decent living; the gap measures the SHORTFALL beneath it. A region above its floor contributes zero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Kikstra et al. 2021, fig 1A · regional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Final energy in GJ/cap/yr needed for decent living: India+ 10, China+ 15, Africa 17, Europe 28, North America 37. Regional because the same service costs different amounts of energy in different climates and settlement patterns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Sector split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residential/commercial · transport · industry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DESIRE shares 6.7 / 11.8 / 3.8 GJ/cap, normalised to 30% / 53% / 17%. The threshold is applied SEPARATELY IN EACH SECTOR, not to the total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over time as service provisioning improves, so the bar drops. Floored at half its 2020 value so it cannot collapse to nothing by 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GAP — step by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gap = max(0, threshold − actual)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For each sector, subtract that sector's delivered final energy per capita from that sector's threshold. (2) TRUNCATE AT ZERO: if delivered exceeds the threshold the sector contributes 0, never a negative. (3) Sum the three sectors. (4) Sum over years 2020–2100. The result is cumulative GJ per capita of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truncation matters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surplus never offsets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Because negatives are clipped, only sectors where a region falls SHORT can move the measure. Abundant industrial energy cannot compensate for a residential shortfall, and a rich region cannot offset a poor one. This makes it a DEPRIVATION measure rather than a net-adequacy one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Second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headcount below threshold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Share of population living below the floor. Moves with the gap in every cell; reported as a within-family check and because it converts directly into people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IT CANNOT SEE: the threshold is applied to a REGIONAL AVERAGE, so the measure is a regional aggregate and cannot say who inside a region is deprived. The implied within-region inequality is lower than observed, so it understates deprivation in unequal regions.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610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the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67 + 67 at 1.5°C · 238 + 238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 + 6 at 1.5°C · 63 + 64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10 · 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one fewer than on the engineered axis — see the axis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World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363 of 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and only among scenarios the engineered axis also classified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because both terciles are the same size on the same sample and the same overlap is removed from each.</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what the wider axis costs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THE COST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280160"/>
                <a:gridCol w="1280160"/>
                <a:gridCol w="2011680"/>
                <a:gridCol w="429768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Change from the engineered axis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73% of the High-RE arm, up from 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gains 55 High-CDR scenarios: land-heavy pathways it reports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 High-CDR, +4 High-RE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unchanged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held both arms on the engineered axis (12 v 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 High-CDR on the engineered axis, none here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THIS IS THE PRICE OF THE WIDER AXIS AND IT BELONGS IN THE PAPER. Families holding both arms falls from eight to seven, and REMIND's share of High-RE rises slightly. A broader CDR definition admits scenarios whose engineered removal is small and re-sorts which models populate which arm. The within-model check is what decides whether that matters.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confound is far worse at 1.5°C than the pooled figure suggests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1.5°C vs 2°C</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1188720"/>
                <a:gridCol w="1188720"/>
                <a:gridCol w="1188720"/>
                <a:gridCol w="1188720"/>
                <a:gridCol w="4206240"/>
              </a:tblGrid>
              <a:tr h="256032">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Model family</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Can it be asked within-model?</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REMIND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 — it is essentially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MESSAGEix</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B7791F"/>
                          </a:solidFill>
                          <a:latin typeface="Calibri" pitchFamily="34" charset="0"/>
                          <a:ea typeface="Calibri" pitchFamily="34" charset="-122"/>
                          <a:cs typeface="Calibri" pitchFamily="34" charset="-120"/>
                        </a:rPr>
                        <a:t>YES — the ONLY one at 1.5°C, on 3 RE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IMAGE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2°C only, barely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POLES-JRC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GCAM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AIM/CGE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WITCH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TIAM-ECN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COFFEE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REMIND's share of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families with ≥3 in BOTH arms: 1 at 1.5°C, 4 at 2°C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AT 1.5°C THE ARMS ARE ALMOST PERFECTLY SEGREGATED BY MODEL. REMIND supplies 59 of 67 High-RE scenarios and one of 67 High-CDR; IMAGE (23/0) and WITCH (6/0) are pure High-CDR. So 'High-RE against High-CDR' at high ambition is close to 'REMIND against IMAGE, MESSAGEix, WITCH and GCAM'. The pooled 73% REMIND share understates the problem exactly where the headline results sit. This is very likely substantive rather than clerical — at the most stringent target, frameworks diverge structurally in HOW they get there, and that divergence is what sorts them into arms.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How many models is each arm really made of?</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CONCENTRATION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108960"/>
                <a:gridCol w="2377440"/>
                <a:gridCol w="2377440"/>
                <a:gridCol w="32004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High-CDR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High-RE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Reading</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1.5°C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one model is nearly the whole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a multi-model ensemble against effectively one model</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B7791F"/>
                          </a:solidFill>
                          <a:latin typeface="Calibri" pitchFamily="34" charset="0"/>
                          <a:ea typeface="Calibri" pitchFamily="34" charset="-122"/>
                          <a:cs typeface="Calibri" pitchFamily="34" charset="-120"/>
                        </a:rPr>
                        <a:t>better, and still a 2-to-1 asymmetry in breadth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Effective number of models = 1 / Σ(share²), the inverse Herfindahl index: it asks how many models an arm is really made of, so an arm that is 88% one model counts as ~1 however long its tail. THE ASYMMETRY IS THE PROBLEM, not the overlap between arms. High-CDR is a genuine ensemble at both ambition levels; High-RE is REMIND with a fringe. A pooled difference between them could be a pathway effect or a REMIND effect, and nothing in the composition alone distinguishes the two — which is what the next slide tests.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Drop REMIND from the High-RE arm and the direction holds — the magnitude does not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LEAVE-ONE-OUT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743200"/>
                <a:gridCol w="1737360"/>
                <a:gridCol w="1737360"/>
                <a:gridCol w="1554480"/>
                <a:gridCol w="329184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World 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What survives</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+463.9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+84.0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sign holds; 18% of the gap; interval lost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+284.7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+37.4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73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B7A4B"/>
                          </a:solidFill>
                          <a:latin typeface="Calibri" pitchFamily="34" charset="0"/>
                          <a:ea typeface="Calibri" pitchFamily="34" charset="-122"/>
                          <a:cs typeface="Calibri" pitchFamily="34" charset="-120"/>
                        </a:rPr>
                        <a:t>STILL SIGNIFICANT, at 13% of the gap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−6.81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+2.77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−4.09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+4.31</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65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Mortality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ACROSS ALL NINE REGIONS + WORLD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keeping the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19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median 18–19% of the advantage retained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 of those 9 are at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Deprivation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8 of 20 cells flip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READ THIS CAREFULLY IN BOTH DIRECTIONS. Dropping REMIND leaves 8 High-RE scenarios at 1.5°C and 73 at 2°C, so losing significance is partly just lost power and is NOT by itself evidence of a confound. But a power loss widens the interval around a STABLE estimate — it does not move the estimate by 80%, and it does not flip signs. Both happen here. The defensible reading: the DIRECTION of the jobs result survives the loss of its dominant model, and at 2°C it survives significantly on 73 independent scenarios, so there is a real pathway effect — but the SIZE of the pooled advantage is substantially a REMIND effect, and the deprivation result does not survive at all.</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 sums are set to NA rather than reported. MORTALITY CARRIES AN EXTRA CAVEAT: its target list was drawn against the engineered axis, so the 80 scenarios the all-CDR axis newly admits have no mortality run at all. That is target selection, not a property of those scenarios, and it is why the mortality arms are the smallest here.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High-CDR scenarios than jobs at 1.5°C (67 against 58), which is exactly why the three outcomes have to be gated separately rather than jointly. Mortality is the binding constraint everywhere — and here it is doubly so, because its targets were drawn against the engineered axis.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Two data defects found and fixed, and what each one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TWO FIXES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ONE — THE WORLD AGGREGATION. The master built the World row by summing outcomes WITHIN each deployment-variable group, so a scenario's World jobs total inherited the regional coverage of whichever CDR variable that row belonged to. COFFEE 1.1 / COMMIT-Baseline read 765,457 on one row and 684,824 on the other. All 288 discrepant scenario-regions showed exactly this pattern.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FIXED AND PORTED. World outcomes are now built from an outcome-only R10 table with no reference to deployment rows, each outcome gated INDEPENDENTLY on having all ten regions, with explicit coverage fields carried through. It is ported into build_df_master() in the master script and verified against the downstream implementation to machine precision.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TWO — MANGLED SCENARIO KEYS, AND THIS ONE WAS LARGER. The published labels file stores degree signs as the LITERAL TEXT "&lt;U+00B0&gt;" while the master files carry a real degree sign, so "COMMIT-2&lt;U+00B0&gt;C-2020" never equals "COMMIT-2°C-2020". The published summary joins the two with inner_join(), which drops non-matching rows SILENTLY. 71 classified scenarios — REMIND 34, IMAGE 20, COFFEE 6, WITCH 6, GCAM 3, MESSAGEix 2 — never reached the outcome tables at all.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REPAIRING THE KEYS MOVED. On the engineered axis it takes World 1.5°C jobs from +395.8 to +405.0 and the arms from 42 v 43 to 53 v 64; World 1.5°C deprivation goes from NON-SIGNIFICANT to SIGNIFICANT; and the scorecard from 42 of 60 to 44 of 60. Direction is unchanged everywhere and no cell reverses significantly, so the finding survives the defect — but the published sample was 12% smaller than it should have been, and every number in this deck is now computed on the repaired keys.</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Defect one: V3_world_strict.R, ported and verified by V4_verify_port.R. Defect two: diagnosed in V6_key_repair.R, which shows all 746 labels joining after repair against 675 before. Both are upstream defects in the published pipeline, not artefacts of the analysis scripts.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Mortality is the MOST model-dependent of the three, not the least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IRONY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108960"/>
                <a:gridCol w="2103120"/>
                <a:gridCol w="2103120"/>
                <a:gridCol w="374904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Classified arms</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Mortality arms</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the reporting gate did</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1.5°C High-RE — REMIND share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94.6%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worse — 35 REMIND, 1 GCAM, 1 MESSAGEix</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1.5°C High-RE — effective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effectively a single model</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2°C High-RE — REMIND share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worse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2°C High-RE — effective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worse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High-CDR — effective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3.6 · 4.7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3.5 · 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essentially unchanged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C7293"/>
                          </a:solidFill>
                          <a:latin typeface="Calibri" pitchFamily="34" charset="0"/>
                          <a:ea typeface="Calibri" pitchFamily="34" charset="-122"/>
                          <a:cs typeface="Calibri" pitchFamily="34" charset="-120"/>
                        </a:rPr>
                        <a:t>WHY: pass rate through the precursor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REMIND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225 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73% pass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survives the gate better than most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GCAM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38 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18% pass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nearly eliminated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WITCH · TIAM · COFFEE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44 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38% · 0% · 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the High-RE fringe is culled; REMIND is not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FIX FOR ONE DATA PROBLEM MADE ANOTHER ONE WORSE. Requiring all five PM2.5 precursors to be reported directly at R10 is the right call — it removed the ammonia asymmetry at source. But it culls scenarios unevenly: REMIND passes at 73% while GCAM passes at 18% and TIAM and COFFEE not at all. Those are exactly the families that gave the High-RE arm what little breadth it had, so the mortality High-RE arm is MORE concentrated than the classified arm, not less. This is worth stating in the paper: the two data decisions interact, and the direction of the interaction is unfavourable.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mortality claim in this deck is untestable or does not survive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651760"/>
                <a:gridCol w="1828800"/>
                <a:gridCol w="2194560"/>
                <a:gridCol w="1645920"/>
                <a:gridCol w="274320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Verdict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World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cannot score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UNTESTABLE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Europe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+4.99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cannot score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UNTESTABLE — and this is the headline claim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Europe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+3.66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+0.23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94% of the effect gone; not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Africa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−2.41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Reforming econ.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+0.89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−0.52</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All ten 1.5°C cells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the test cannot be run at high ambition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All ten 2°C cells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3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 of 3 survive · 2 flip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one NEW significant cell appears — on 27 scenarios, noise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BE FAIR ABOUT WHAT THIS DOES AND DOES NOT SHOW. Twenty-seven High-RE scenarios from four families is thin, so 'does not survive' here means CANNOT BE VERIFIED, not 'is refuted'. But the pattern matches jobs and deprivation: point estimates move by 90%+ and signs flip, which is not what lost power alone looks like. The practical consequence is concrete — the paper currently leads its air-quality section with Europe, and the Europe result is the one claim in the study that cannot be checked against its dominant model at all at 1.5°C.</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clears in eleven cells and mortality in five, with reversals in both — the unevenness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227.60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691.52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471.15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+284.6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263.10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1043.61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+780.5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723.48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+494.3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177.25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+136.7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171.10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+105.2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+56.3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1007.64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+743.2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242.52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668.16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+425.6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232.43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+276.2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178.72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339.12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+511.9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549.95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328.29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+188.0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101.32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219.54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+118.2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764.10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+260.7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874.24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+719.0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(+37.6 at 1.5°C, +22.6 at 2°C, neither significant) and retained in the World aggregate.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14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-6.81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64.88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-0.16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61.80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10.26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Eleven of twenty cells clear, up from six on the engineered axis. Africa and Latin America carry the largest absolute movements; Latin America clears at both levels and Africa only at 1.5°C. Rest of Asia reverses significantly at 2°C and the Middle East at 2°C.</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8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426.23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+11.11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-3.22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-2.41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+3.66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+8.30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4.99 and 3.66 million avoided, significant at both levels, on a base of about 16 million — a 31% reduction, the largest proportional effect anywhere. Africa goes significantly the other way at both levels. Twelve of twenty cells straddle zero. Pacific OECD (+1.70, +1.91, both significant) is excluded from these rows.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and mortality clear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Four of the six World cells clear, and all four favour High-RE.</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840480"/>
                <a:gridCol w="1280160"/>
                <a:gridCol w="2011680"/>
                <a:gridCol w="2011680"/>
                <a:gridCol w="19202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POINT to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Point to 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Of which clear the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 ·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 · 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OUTCOME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 · 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 · 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 · 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 · 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ENGINEERED-ONLY AXIS (the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32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DIRECTION FIRST. The last column is 'for · against' among the cells whose interval clears zero, kept as context rather than as the claim. Read by direction, the three outcomes are plainly different: jobs points one way everywhere, deprivation leans High-RE with six exceptions, and mortality is close to a coin flip at 8 against 12. The axis choice barely moves any of it — the engineered-only sensitivity gives 44 of 60. The SCI-vetted rows run on six scenarios per arm at 1.5°C and score highest because they are smallest; their labels also differ from the published ones by seven scenarios, so treat them as indicative.</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High-CDR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703.7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+451.4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High-CDR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BECCS and land-based removal carry a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11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medians over the scenarios with complete ten-region coverage. THE MECHANISM IS UNAMBIGUOUS: High-CDR wins fossil, nuclear and bioenergy employment combined (−42.3) and still loses by 464, because the renewable build is 2.8 times larger. This also answers the obvious objection — the result is NOT an artefact of counting fossil job destruction, because High-CDR retains more fossil, nuclear AND biomass work and loses anyway.</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704 job-years per 1,000 against 252 — 2.8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CARBON REMOVAL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 Land-based removal is more labour-sparing still in ENERGY terms — its work is in land management, which this outcome set does not count.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HIGH-CDR WINS ARE REAL AND WORTH NAMING. Fossil (+22), nuclear (+10) and bioenergy (+10) all favour it. These are not trivial jobs — fossil extraction is regionally concentrated, nuclear is high-skill and unionised, biomass supply is rural.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the deprivation result now clears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The gap is max(0, threshold − actual) applied per sector and truncated at zero, so a pathway closes it by delivering more usable energy to the sectors that fall short. High-RE closes the World gap from 18.43 to 11.62 GJ per capita at 1.5°C — a 37% reduction, and the interval clears zero at [+1.72, +9.73].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IT CLEARS NOW AND DID NOT BEFORE. Two things changed and both added scenarios rather than changing any value. Repairing the mangled scenario keys returned 71 classified scenarios that a text-encoding mismatch had silently dropped, and the all-CDR axis admits 80 more. Deprivation is the outcome with the widest between-model spread, so it is the one most starved by a smaller sample — the point estimate barely moved; the interval tightened.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STILL A REGIONALLY SPLIT RESULT. Latin America (−24.4), Africa (−24.8), Europe (−3.6), North America (−2.6), India+ (−0.9) and China+ (−0.4) all clear at 1.5°C. Rest of Asia (+3.8 at 1.5°C, +3.4 at 2°C) and the Middle East (+1.3 at 2°C) push the other way, the latter two significantly.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IT DOES NOT HOLD AT 2°C. The World cell is −4.09 [−0.56, +7.75] — large, correctly signed, and not significant. Report deprivation as holding at high ambition and as regionally split at medium ambition; that is more honest and more useful than a single global claim.</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clears at 1.5°C,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MADE MORTALITY REPORTABLE AT ALL.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4.99 million cumulative deaths avoided at 1.5°C and 3.66 million at 2°C, both significant, on a base of about 16 million — a 31% reduction, the largest proportional mortality effect of any region. Europe's population lives densely and close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11.11 million avoided [+3.82, +50.40] against −4.28 [−20.6, +35.9].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AFRICA GOES THE OTHER WAY, SIGNIFICANTLY, AT BOTH LEVELS — 3.2 and 2.4 million more deaths under High-RE. This is the study's most uncomfortable cell and it should be reported prominently. African PM2.5 is dominated by residential solid fuel and windblown dust, which the power-sector mix does not control; a pathway that builds generation without displacing household solid fuel does not buy clean air there. Twelve of twenty cells still straddle zero, so there is no universal air-quality co-benefit to claim.</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264.4 → 1007.6 · 242.5 → 668.2</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1.35 → 0.47 · 1.08 → 0.44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112.9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3.8× · 2.8×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113–116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+8.3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(+743 job-years per 1,000 at 1.5°C) on top of an already-high High-CDR base — the renewable build is 3.8 times larger, not merely additive. Its decent-living threshold is the lowest anywhere at 10 GJ/cap, so the small absolute deprivation gap (0.47 GJ/cap under High-RE) still clears the interval at BOTH ambition levels, which India+, China+, Europe and Latin America all now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carbon-removal alternative here means coal or gas with capture, which locks in both the mine and the import bill. India+ also carries the largest absolute PM2.5 burden of any region at 113–116 million cumulative deaths, so even a non-significant 8.3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at either level and the sign flips between them, so India+ supports the jobs and deprivation claims but not an air-quality claim.</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65.9 → 171.1 · 60.1 → 116.4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6.21 → 2.65 · 3.46 → 2.64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16.2 v 11.2 · 14.9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31%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ALL THREE OUTCOMES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+105 · +56</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(+105 job-years per 1,000) because its build is small relative to its incumbent system — and it still clears the interval at both levels. Its distinguishing result is mortality: 4.99 and 3.66 million cumulative deaths avoided on a base of about 16 million, a 31%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Europe is the ONLY region where all three outcomes clear at 1.5°C, and it is the natural anchor for the paper's three-outcome claim.</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study's hardest cell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263.1 → 1043.6 · 229.2 → 723.5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67.3 → 42.5 · 64.9 → 41.8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75.3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4.0×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−24.8,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+781 job-years per 1,000 at 1.5°C, because there is almost nothing to retire and everything to build. Its deprivation baseline is also by far the worst — a 65–67 GJ/cap shortfall against a 17 GJ/cap threshold — and High-RE closes 23–25 GJ/cap of it, which NOW CLEARS at 1.5°C on the larger sample, though not at 2°C. But mortality goes significantly the other way at BOTH ambition levels: 3.2 and 2.4 million more deaths.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three outcomes disagree most sharply. The mortality reversal is the important finding and it has a clear mechanism: African PM2.5 is dominated by residential solid fuel and windblown dust, not the power mix, so a pathway that builds generation without displacing household cooking fuel does not buy clean air. It may even shift exposure, because the build itself is dusty and the displaced capacity was never the binding source.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paper should report Africa's mortality cell prominently rather than treating it as noise. It is the clearest evidence that the air-quality co-benefit is not universal and depends on what actually dominates local exposure.</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232.4 → 508.7 · 178.7 → 372.6</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61.8 → 37.4 · 51.2 → 39.0</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15.2 v 15.7 · 13.8 v 15.7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−24.4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51–62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INSIDE the axis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clears at both ambition levels: −24.4 GJ/cap at 1.5°C and −12.2 at 2°C. Its models agree, so the result is both large and precise. Jobs is solid (+276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affected by the axis decision. Under an engineered-only axis, Latin American carbon management is largely INVISIBLE — its removal is overwhelmingly land-based, afforestation and soil carbon — so an engineered axis scores the region on an intervention it barely uses. Putting land back in makes Latin America a genuine High-CDR region for the first time, which is the single strongest argument for the all-CDR axis being the right primary specification.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339.1 → 851.0 · 153.8 → 550.0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1.83 → 2.43 · 0.94 → 2.24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46.2 v 46.2 · 43.8 v 46.6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2.5× · 3.6×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−0.60 against,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one of the largest jobs multiples in the study (3.6× at 2°C) and is the region where deprivation most clearly reverses — the gap WIDENS from 0.94 to 2.24 GJ/cap at 2°C, significantly. Those two facts sit together because the region starts from an unusually low renewable share and an unusually high per-capita energy base: building renewables creates a great deal of work while the delivered-energy trajectory under High-RE falls short of what the carbon-removal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On the wider CDR axis the 1.5°C deprivation cell no longer clears (−0.60, not significant) where it did on the engineered axis, so the reversal is now a 2°C finding rather than a universal one.</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177.3 → 373.0 · 129.5 → 266.3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1.20 → 0.80 · 0.83 → 0.67</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79.1 v 77.4 · 79.6 v 78.8</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 · 2.1×</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JOBS MULTIPLE</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2.1× — but on a large base, so the absolute gap (+196 and +137 job-years per 1,000) still clears the interval comfortably at both levels. The modest multiple reflects that China's High-CDR pathways already involve a very large build; the two arms differ less in whether they construct than in what they construct. Deprivation now clears at BOTH ambition levels on the larger sample.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China+ is a reliable contributor to the headline without being the story anywhere: two of three outcomes clear at both levels, and the third is a genuine null.</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deprivation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155.2 → 874.2 · 129.2 → 543.0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4.28 → 8.06 · 3.62 → 7.06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55.4 v 56.1 · 57.9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+3.44, significantly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+3.78,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5.6× at 1.5°C, from 155 to 874 job-years per 1,000 — for the same reason as Africa and India+: a very large remaining build against a small incumbent fleet. Deprivation goes the other way at both levels and clears at 2°C, making it one of only two regions where High-RE significantly WIDENS the decent-living gap.</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is a genuine reversal at 2°C and should be reported as such.</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and access hold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140.3 → 328.3 · 101.3 → 219.5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10.26 → 7.62 · 7.19 → 8.06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 · 2.2×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+0.88,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(+188 and +118) on a 2.2–2.3× multiple. Deprivation now CLEARS at 1.5°C (−2.64 GJ/cap) where on the engineered axis it went mildly the other way — one of the cells the wider axis and the repaired sample changed. At 2°C it reverts to a small non-significant widening. Mortality goes mildly against High-RE at both levels and clears at neither.</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High-CDR globally by 10 job-years per 1,000 — a penalty concentrated in exactly this region. The deprivation reading needs care: at 37 GJ/cap North America has the highest decent-living threshold anywhere, so its residual gap measures how far a rich region sits from a demanding benchmark rather than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base is the smallest of any region at 6.8–8.9 million, so there is very little room for the power mix to move it — the non-significant difference is what one would expect rather than a puzzle.</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764.1 · 383.2 → 605.4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2.00 → 1.55 · 1.37 → 1.42</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 v 13.1 · 14.1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383</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High-CDR jobs base of any region (503 job-years per 1,000 at 1.5°C) — a reflection of its very large incumbent energy workforce — and High-RE still adds +261 on top of it. It is also one of only three regions with a significant mortality result favouring High-RE, and on the all-CDR axis it now clears at BOTH ambition levels (+0.88 and +0.89 million avoided),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High-CDR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(−0.45 and +0.06, neither significant), which is what one would expect of a region already close to its decent-living threshold.</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81.7 → 119.3 · 75.2 → 97.8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5.53 → 5.93 · 3.66 → 5.38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5.3 v 3.6 · 5.5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+37.6,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+22.6,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+1.73,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the gap is positive but the interval never clears.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Retained inside the World aggregate — dropping it there would change what 'World' means — and excluded from the nine regional rows. This is a display decision, not a data exclusion: nothing is discarded.</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Better than it was, and still the binding constraint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FAMILY DOMINATES ONE ARM, AND IT IS WORST WHERE THE HEADLINES ARE. REMIND is 73% of High-RE pooled — but 88% at 1.5°C and 69% at 2°C. At high ambition IMAGE (23/0) and WITCH (6/0) are pure High-CDR while REMIND is 59 of 67 High-RE, so the comparison there is close to 'REMIND against IMAGE, MESSAGEix, WITCH and GCAM'. Any pooled difference is partly a modelling-framework contrast, and quoting the pooled share hides where that bites.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WIDER AXIS COSTS SOMETHING HERE, AND IT SHOULD BE SAID. Moving from the engineered axis to all-CDR takes families holding both arms from eight to seven: COFFEE loses its High-CDR arm entirely and GEM drops out of the classification. MESSAGEix gains 55 High-CDR scenarios, which are the land-heavy pathways an engineered axis could not see. The composition changes; it does not obviously worsen.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EVIDENCE SPLITS BY AMBITION, AND IT IS WEAKER THAN THE POOLED RESULT. On jobs, 72% of family-cell comparisons point the pooled way and the median family agrees in 16 of 20 cells. But that average conceals the real structure: at 2°C FOUR families can be asked and jobs is solid (World 2°C: four of four agree, median δ +0.59), while at 1.5°C only ONE family — MESSAGEix — holds both arms at all, and it disagrees in the Middle East, Reforming economies and Rest of Asia.</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THE 1.5°C JOBS CELLS REST MORE HEAVILY ON POOLING THAN THE 2°C CELLS DO. Across families, MESSAGEix favours High-RE in 17 of 20 jobs cells (median δ +0.83), GCAM in 7 of 10 (+1.00) and AIM in 7 of 10 (+0.29), while POLES-JRC is a coin flip at 5 of 10 (−0.01). Three of four lean the same way; it is not unanimous, and the deck should not say it 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 DEPRIVATION THE WITHIN-MODEL MEDIAN OFTEN DISAGREES WITH THE POOLED DIRECTION — only 42% of comparisons agree, barely better than a coin flip, and the median family conflicts in 9 of 20 cells. Simpson's paradox runs in both directions: Europe, Latin America and Africa read FOR High-RE when pooled and AGAINST it inside the models at 2°C, while the Middle East and Rest of Asia do the reverse. The deprivation cells are substantially 'what does this model say about this region' rather than 'what does the pathway do'.</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HEALTH CANNOT BE ADJUDICATED AT ALL. Only two families ever hold both arms, agreement is 25%, and the median family conflicts in 9 of 10 cells. The mortality claims rest on the pooled comparison alone, which is why they are stated for specific regions rather than as a general finding.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W14_within_model_landprimary.R, built on the all-CDR axis and the repaired keys. It self-checks that it reproduces the pooled grid exactly before comparing against it, so the two are the same numbers. Effect size is Cliff's delta: inside one family the samples are tiny and the question is about rank overlap, not the size of the gap. W2_within_model.R is its predecessor and runs on the superseded design.</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2651760"/>
                <a:gridCol w="1737360"/>
                <a:gridCol w="2377440"/>
                <a:gridCol w="21031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Pooled result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Within-model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Without REMIND</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 of 20 favour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72% agree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19 of 20 KEEP DIRECTION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the association holds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14 of 20 favour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42% agree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A33A3A"/>
                          </a:solidFill>
                          <a:latin typeface="Calibri" pitchFamily="34" charset="0"/>
                          <a:ea typeface="Calibri" pitchFamily="34" charset="-122"/>
                          <a:cs typeface="Calibri" pitchFamily="34" charset="-120"/>
                        </a:rPr>
                        <a:t>8 of 20 REVERSE DIRECTION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A33A3A"/>
                          </a:solidFill>
                          <a:latin typeface="Calibri" pitchFamily="34" charset="0"/>
                          <a:ea typeface="Calibri" pitchFamily="34" charset="-122"/>
                          <a:cs typeface="Calibri" pitchFamily="34" charset="-120"/>
                        </a:rPr>
                        <a:t>the association does not hold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8 of 20 favour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25% agree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A33A3A"/>
                          </a:solidFill>
                          <a:latin typeface="Calibri" pitchFamily="34" charset="0"/>
                          <a:ea typeface="Calibri" pitchFamily="34" charset="-122"/>
                          <a:cs typeface="Calibri" pitchFamily="34" charset="-120"/>
                        </a:rPr>
                        <a:t>1.5°C untestable · 2 of 10 flip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A33A3A"/>
                          </a:solidFill>
                          <a:latin typeface="Calibri" pitchFamily="34" charset="0"/>
                          <a:ea typeface="Calibri" pitchFamily="34" charset="-122"/>
                          <a:cs typeface="Calibri" pitchFamily="34" charset="-120"/>
                        </a:rPr>
                        <a:t>direction cannot be separated from REMIND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EVERY COLUMN HERE IS A QUESTION ABOUT DIRECTION, NOT ABOUT SIGNIFICANCE. Does the pooled sign point to High-RE; does a single model family agree with that sign; and does the sign survive removing the model that dominates the High-RE arm. Read that way the three outcomes separate cleanly: the jobs association holds under all three, deprivation reverses under two, and mortality cannot be tested at high ambition at all. The axis choice carries none of it — on the engineered-only axis the favour counts are jobs 20/20, deprivation 15/20, health 9/20.</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CDR axis is narrowed to engineered removal only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AXIS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primary axis is all CDR. Narrowing it to engineered removal — novel CDR plus fossil and industrial CCS, excluding afforestation, reforestation and soil carbon — is the obvious alternative, and it is what an earlier version of this analysis used. The test re-runs the entire classification on the narrower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OF THE SCENARIOS BOTH AXES CLASSIFY, NOT ONE SWITCHES ARMS. 530 scenarios are classified under both definitions and 100% keep the same label. The two axes differ by WHICH scenarios they admit — the all-CDR axis adds 80 and drops 76 — not by how they label a shared one. The axes correlate 0.898.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NARROWER AXIS IS THE CONSERVATIVE ONE, WHICH IS THE POINT. It reports a SMALLER High-RE jobs advantage at World 1.5°C (+405 against +464) and smaller avoided mortality (8.7 million against 11.1), because land-heavy CDR scenarios carry fewer energy jobs. So the headline is not resting on the wider definition: the definition that flatters High-RE least still gives the same answer, significantly, in every jobs cell.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ALL-CDR IS NEVERTHELESS THE RIGHT PRIMARY. The paper asks whether renewables-led mitigation beats CDR-led mitigation. Land-based removal is CDR. An axis that excludes it names a subset of the comparison arm and, in Latin America, makes carbon management nearly invisible in a region whose removal is overwhelmingly land-based. The honest reading is that the choice of axis is a definitional question, both answers are reported, and they agree.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V5_land_primary.R, which builds both label sets from the deployment file with the published rule and reproduces the published classification exactly for the full database. The sample is held fixed across the two runs so that only the axis differs, never the set of scenarios entering the tercile.</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Dark point is the primary all-CDR result; the arrow head is the engineered-only sensitivity.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and mostly point the same way. No jobs cell changes sign, and where the engineered axis differs it generally reports a SMALLER advantage — which is why it is the conservative specification rather than a threat to the result.</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Some of the High-CDR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High-CDR. On the all-CDR axis, 14 of the 67 High-CDR scenarios at 1.5°C and 28 of 238 at 2°C sit at exactly zero renewables. There are NONE in the High-RE arm, by construction: a scenario cannot be top-tercile on renewables while reporting none.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was checked against the cumulative deployment file for a Renewable Capacity ROW. None has a row at all. Not one is a reported zero. They are concentrated in GCAM,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sits near zero, against roughly 300 job-years per 1,000 for the High-CDR scenarios that do report. They drag the High-CDR arm down on the outcome, on the strength of an axis value that the fill invented.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WOULD DO. Jobs weakens slightly and still clears easily. Deprivation strengthens. On the engineered axis this was the difference between a non-significant and a significant World deprivation result; on the all-CDR axis the World deprivation cell at 1.5°C ALREADY clears, so the decision no longer carries a headline. It remains a labelled sensitivity and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for the diagnosis, and the primary grid for the arm counts.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High-CDR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High-CDR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 and how sure we are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THE ASSOCIATION IS UNANIMOUS AND IT HOLDS. Renewables-led mitigation is associated with more energy employment in ALL 20 region × ambition cells — the only outcome in the study that points one way everywhere. At World, 228 against 692 job-years per 1,000 at 1.5°C and 187 against 471 at 2°C. It keeps that direction in 19 of 20 cells when REMIND is removed from the arm it dominates, which is the strongest thing that can be said about an association in this database.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DIRECTION IS THE CLAIM; THE MAGNITUDE IS NOT. Without REMIND the World gap falls to +84 at 1.5°C and +37 at 2°C, a median 18% of the pooled value retained. The sign is stable and the mechanism is clear, so 'renewables-led pathways are associated with more energy employment' is well supported. 'They employ two to three times more' is not — treat the pooled magnitude as an upper bound set largely by one model.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WHERE THE DIRECTION ITSELF IS UNSTABLE. Pooled, 14 of 20 cells point to High-RE and the World gap closes by 6.81 GJ per capita at 1.5°C. But this is a DIRECTION problem, not a precision problem: remove REMIND and EIGHT of twenty cells REVERSE, including World at both ambition levels. The within-model check says the same thing from the other side — only 42% of family comparisons agree with the pooled sign. A direction that flips when one model leaves is not an association the data can support.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THE LEAST SECURE OF THE THREE. Pooled, only 8 of 20 cells point to High-RE, and Africa points the other way at both ambition levels — mechanistically plausible, since African PM2.5 is dominated by household solid fuel and dust rather than the power mix. Worse, mortality is the MOST REMIND-concentrated outcome: the precursor-reporting gate culls the other families (GCAM 18% pass, TIAM and COFFEE 0%) while REMIND passes at 73%, leaving its High-RE arm 95% REMIND at 1.5°C.</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THE AIR-QUALITY DIRECTION CANNOT BE CHECKED WHERE IT MATTERS MOST. Dropping REMIND leaves two High-RE scenarios at 1.5°C, so every high-ambition mortality cell — including Europe, which the section leads with — is untestable. At 2°C two of the ten scoreable cells reverse. Report air quality as suggestive and regionally specific; it is the one outcome whose direction rests on a single model.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TAKEN TOGETHER, AS ASSOCIATIONS RATHER THAN CAUSAL CLAIMS: renewables-led mitigation is robustly associated with more energy employment — unanimous across regions and stable when its dominant model is removed. Its association with energy access and with air quality is directionally favourable on average but not stable, so those belong in the paper as observations about the ensemble rather than as findings about pathways. The graded answer is what this database supports.</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Stated plainly, because they are load-bearing</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IS THE BINDING CONSTRAINT, AND IT IS AN ASYMMETRY IN CONCENTRATION. The High-CDR arm is a real ensemble (effectively 3.6 models at 1.5°C, 4.7 at 2°C); the High-RE arm is effectively 1.3 and 2.0, because REMIND is 88% and 69% of it. Leave-one-out is the honest test: the jobs DIRECTION survives dropping REMIND in 19 of 20 cells and stays significant at World 2°C, but the magnitude falls to a median 18% of the pooled value, and every one of the thirteen significant deprivation cells disappears with eight flipping sign.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UPSTREAM DATA DEFECTS WERE FOUND AND FIXED, AND BOTH MATTERED. The World row was aggregated within deployment-variable groups, so it inherited the wrong regional coverage; and 71 classified scenarios never reached the outcome tables because the labels file stores degree signs as literal text that no join could match. Both are fixed here, both moved numbers, and neither reversed a finding — but they are a reminder that the published intermediate files should not be taken at face value.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RUNS ON A RESTRICTED SAMPLE, AND ON THIS AXIS THE RESTRICTION IS WORSE. Its target list was drawn against the ENGINEERED labels, so the 80 scenarios the all-CDR axis newly admits have no mortality run at all. That is target selection rather than a property of those scenarios, and it means the mortality arms here are smaller than the engineered axis's. Re-running the mortality targets against the all-CDR labels is the single most valuable outstanding job.</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TRUNCATES AT ZERO, so it responds only to sectors where a region falls short — not always the household sector. It is a regional aggregate and cannot speak to who inside a region is deprived.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 SET IS ENERGY-SYSTEM CENTRIC. Now that land-based removal is inside the CDR axis, this cuts harder: the analysis scores land-heavy pathways on jobs, energy access and air quality while saying nothing about land competition, food prices, tenure or biodiversity, which are the channels through which land-based removal most plausibly affects wellbeing. The comparison is fair on what it measures and silent on what it does not.</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RE-RUN THE MORTALITY TARGETS AGAINST THE ALL-CDR LABELS, AND CHECK WHAT IT DOES TO COMPOSITION. 80 newly classified scenarios carry no mortality output because the targets were drawn under the engineered axis. Worth doing on its own terms — but the more important question is whether a re-run recovers any non-REMIND breadth in the High-RE arm, because at present that arm is 95% one model at 1.5°C and no air-quality direction can be tested there.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PRESENT THE JOBS MAGNITUDE. The direction survives every test; the size does not. Options are to report the pooled figure with the leave-one-out value alongside it, to lead with the non-REMIND estimate as a conservative floor, or to report a range. This is a presentation decision that should be made deliberately rather than by default, because the pooled figure alone overstates what the ensemble supports.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CONSIDER WHETHER DEPRIVATION CAN BE CLAIMED AT ALL. It fails both composition tests — 42% within-model agreement, and none of its thirteen significant cells survives dropping REMIND, with eight flipping sign. Either it is reported as an association with the attribution explicitly unresolved, or it moves to the SI. Reporting it beside jobs as a co-equal finding is not defensible.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 THE LABELS FILE AT SOURCE. The mangled degree signs should be corrected where the file is written, not repaired downstream, and the published summary's inner_join() should be made to fail loudly on unmatched keys rather than dropping them silently.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Retained with the zero fill is the published behaviour. On the all-CDR axis dropping them no longer changes a headline, so this is now a presentational choice rather than a live risk.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2026-08-25T22:11:50Z</dcterms:created>
  <dcterms:modified xsi:type="dcterms:W3CDTF">2026-08-25T22:11:50Z</dcterms:modified>
</cp:coreProperties>
</file>