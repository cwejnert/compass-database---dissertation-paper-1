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22960" y="1828800"/>
            <a:ext cx="9144000" cy="310896"/>
          </a:xfrm>
          <a:prstGeom prst="rect">
            <a:avLst/>
          </a:prstGeom>
          <a:noFill/>
          <a:ln/>
        </p:spPr>
        <p:txBody>
          <a:bodyPr wrap="square" rtlCol="0" anchor="ctr"/>
          <a:lstStyle/>
          <a:p>
            <a:pPr indent="0" marL="0">
              <a:buNone/>
            </a:pPr>
            <a:r>
              <a:rPr lang="en-US" sz="1300" b="1" spc="180" kern="0" dirty="0">
                <a:solidFill>
                  <a:srgbClr val="7FB3C8"/>
                </a:solidFill>
                <a:latin typeface="Calibri" pitchFamily="34" charset="0"/>
                <a:ea typeface="Calibri" pitchFamily="34" charset="-122"/>
                <a:cs typeface="Calibri" pitchFamily="34" charset="-120"/>
              </a:rPr>
              <a:t>COMPASS Scenario Database · Paper 1</a:t>
            </a:r>
            <a:endParaRPr lang="en-US" sz="1300" dirty="0"/>
          </a:p>
        </p:txBody>
      </p:sp>
      <p:sp>
        <p:nvSpPr>
          <p:cNvPr id="3" name="Text 1"/>
          <p:cNvSpPr/>
          <p:nvPr/>
        </p:nvSpPr>
        <p:spPr>
          <a:xfrm>
            <a:off x="822960" y="2240280"/>
            <a:ext cx="10424160" cy="137160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Carbon removal or renewables?</a:t>
            </a:r>
            <a:endParaRPr lang="en-US" sz="4000" dirty="0"/>
          </a:p>
        </p:txBody>
      </p:sp>
      <p:sp>
        <p:nvSpPr>
          <p:cNvPr id="4" name="Text 2"/>
          <p:cNvSpPr/>
          <p:nvPr/>
        </p:nvSpPr>
        <p:spPr>
          <a:xfrm>
            <a:off x="822960" y="3703320"/>
            <a:ext cx="9692640" cy="457200"/>
          </a:xfrm>
          <a:prstGeom prst="rect">
            <a:avLst/>
          </a:prstGeom>
          <a:noFill/>
          <a:ln/>
        </p:spPr>
        <p:txBody>
          <a:bodyPr wrap="square" rtlCol="0" anchor="ctr"/>
          <a:lstStyle/>
          <a:p>
            <a:pPr indent="0" marL="0">
              <a:buNone/>
            </a:pPr>
            <a:r>
              <a:rPr lang="en-US" sz="1600" dirty="0">
                <a:solidFill>
                  <a:srgbClr val="C7D6E0"/>
                </a:solidFill>
                <a:latin typeface="Calibri" pitchFamily="34" charset="0"/>
                <a:ea typeface="Calibri" pitchFamily="34" charset="-122"/>
                <a:cs typeface="Calibri" pitchFamily="34" charset="-120"/>
              </a:rPr>
              <a:t>Wellbeing outcomes across nine world regions and two levels of ambition</a:t>
            </a:r>
            <a:endParaRPr lang="en-US" sz="1600" dirty="0"/>
          </a:p>
        </p:txBody>
      </p:sp>
      <p:sp>
        <p:nvSpPr>
          <p:cNvPr id="5" name="Shape 3"/>
          <p:cNvSpPr/>
          <p:nvPr/>
        </p:nvSpPr>
        <p:spPr>
          <a:xfrm>
            <a:off x="822960" y="4343400"/>
            <a:ext cx="2011680" cy="27432"/>
          </a:xfrm>
          <a:prstGeom prst="rect">
            <a:avLst/>
          </a:prstGeom>
          <a:solidFill>
            <a:srgbClr val="B7791F"/>
          </a:solidFill>
          <a:ln/>
        </p:spPr>
      </p:sp>
      <p:sp>
        <p:nvSpPr>
          <p:cNvPr id="6" name="Text 4"/>
          <p:cNvSpPr/>
          <p:nvPr/>
        </p:nvSpPr>
        <p:spPr>
          <a:xfrm>
            <a:off x="822960" y="4572000"/>
            <a:ext cx="10058400" cy="310896"/>
          </a:xfrm>
          <a:prstGeom prst="rect">
            <a:avLst/>
          </a:prstGeom>
          <a:noFill/>
          <a:ln/>
        </p:spPr>
        <p:txBody>
          <a:bodyPr wrap="square" rtlCol="0" anchor="ctr"/>
          <a:lstStyle/>
          <a:p>
            <a:pPr indent="0" marL="0">
              <a:buNone/>
            </a:pPr>
            <a:r>
              <a:rPr lang="en-US" sz="1200" dirty="0">
                <a:solidFill>
                  <a:srgbClr val="9FB6C4"/>
                </a:solidFill>
                <a:latin typeface="Calibri" pitchFamily="34" charset="0"/>
                <a:ea typeface="Calibri" pitchFamily="34" charset="-122"/>
                <a:cs typeface="Calibri" pitchFamily="34" charset="-120"/>
              </a:rPr>
              <a:t>610 classified scenarios · 10 model families · 3 outcome families · 60 comparisons · cumulative 2020–2100</a:t>
            </a:r>
            <a:endParaRPr lang="en-US" sz="1200" dirty="0"/>
          </a:p>
        </p:txBody>
      </p:sp>
      <p:sp>
        <p:nvSpPr>
          <p:cNvPr id="7" name="Text 5"/>
          <p:cNvSpPr/>
          <p:nvPr/>
        </p:nvSpPr>
        <p:spPr>
          <a:xfrm>
            <a:off x="822960" y="4892040"/>
            <a:ext cx="10058400" cy="310896"/>
          </a:xfrm>
          <a:prstGeom prst="rect">
            <a:avLst/>
          </a:prstGeom>
          <a:noFill/>
          <a:ln/>
        </p:spPr>
        <p:txBody>
          <a:bodyPr wrap="square" rtlCol="0" anchor="ctr"/>
          <a:lstStyle/>
          <a:p>
            <a:pPr indent="0" marL="0">
              <a:buNone/>
            </a:pPr>
            <a:r>
              <a:rPr lang="en-US" sz="1100" i="1" dirty="0">
                <a:solidFill>
                  <a:srgbClr val="7FB3C8"/>
                </a:solidFill>
                <a:latin typeface="Calibri" pitchFamily="34" charset="0"/>
                <a:ea typeface="Calibri" pitchFamily="34" charset="-122"/>
                <a:cs typeface="Calibri" pitchFamily="34" charset="-120"/>
              </a:rPr>
              <a:t>CDR axis = ALL removal — Novel CDR + fossil/industrial CCS + land-based removal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THE ANSWER IN ONE SLIDE</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Renewables-led mitigation delivers more wellbeing than CDR-led mitigation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SUMMARY</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ENERGY EMPLOYMENT — unanimous and fully significant. High-RE is better in all 20 region × ambition cells and ALL 20 clear the interval. At World, net energy employment goes from 228 to 692 job-years per 1,000 people at 1.5°C (+204%) and 187 to 471 at 2°C (+153%). Nothing else in the study comes close for consistency.</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ENERGY DEPRIVATION — now significant at World at high ambition. The decent-living gap closes from 18.43 to 11.62 GJ per capita at 1.5°C, a 37% reduction, and the interval clears zero [+1.72, +9.73]. At 2°C it closes from 15.46 to 11.37 but the interval does not [−0.56, +7.75]. Better in 14 of 20 cells, 11 significant, 2 significantly against.</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AIR-QUALITY MORTALITY — favourable at high ambition. High-RE avoids 11.11 million cumulative deaths at World 1.5°C [+3.82, +50.40] — significant — while the 2°C cell is −4.28 and not. Europe carries it: 4.99 and 3.66 million avoided, significant at both levels, a 31% reduction on a base of about 16 million.</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OVERALL: 42 of 60 comparisons favour High-RE, 36 significantly, 4 against. Four of the six World cells clear the interval, and all four favour High-RE.</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Cumulative 2020–2100 for both classification and outcomes. Every cell is the two arm medians with a 2,000-replicate cluster bootstrap on the raw difference, resampling whole model × scenario-family clusters.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THE ANSWER IN ONE SLIDE</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World, all three outcomes, both ambition levels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WORLD</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377440"/>
                <a:gridCol w="1097280"/>
                <a:gridCol w="1280160"/>
                <a:gridCol w="1280160"/>
                <a:gridCol w="1554480"/>
                <a:gridCol w="2011680"/>
                <a:gridCol w="1463040"/>
              </a:tblGrid>
              <a:tr h="256032">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Outcome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Ambition</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High-CDR</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High-RE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Difference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95% interval</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Change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Energy jobs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1.5°C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227.60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691.52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+463.92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[+380, +513]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+204%</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job-years per 1,000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186.50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471.15</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+284.65</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[+181, +337]</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+153%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Energy deprivation</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1.5°C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18.43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11.62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−6.81</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[+1.72, +9.73]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gap, GJ per capita</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15.46</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11.37</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−4.09</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5B6B7B"/>
                          </a:solidFill>
                          <a:latin typeface="Calibri" pitchFamily="34" charset="0"/>
                          <a:ea typeface="Calibri" pitchFamily="34" charset="-122"/>
                          <a:cs typeface="Calibri" pitchFamily="34" charset="-120"/>
                        </a:rPr>
                        <a:t>[−0.56, +7.75]</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PM2.5 mortality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1.5°C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426.23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415.12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−11.11</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[+3.82, +50.40]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million cumulative deaths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433.60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437.88</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+4.28</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[−20.6, +35.9]</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A positive interval favours High-RE throughout. FOUR OF SIX CELLS CLEAR, and all four favour High-RE: jobs at both ambition levels, deprivation at 1.5°C and mortality at 1.5°C. Both cells that fail are at 2°C, where the two arms differ less in how much combustion remains. Mortality runs on the reporting-complete sample (37 vs 37 at 1.5°C), which is why its arms are smaller.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WHAT CHANGED, AND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Four upstream decisions, and what each one buys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THE DESIGN</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CDR AXIS IS ALL REMOVAL — Novel CDR, fossil and industrial CCS, AND LAND-BASED REMOVAL. The question is High-RE against High-CDR, and land-based removal is CDR: a scenario leaning on afforestation is a carbon-removal scenario whether or not the removal is engineered. Restricting the axis to engineered removal would name a SUBSET of the comparison arm. The engineered-only axis is reported throughout as the sensitivity.</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WINDOW IS 2020–2100 for both classification and outcomes, up from 2020–2050. Jobs numbers are larger in absolute terms and include more of the operational phase rather than only the construction surge.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ARMS ARE BALANCED BY CONSTRUCTION: 67/67 at 1.5°C and 238/238 at 2°C. The portfolio rule takes same-size terciles on the same sample and subtracts the same overlap from each, so the arms are necessarily equal. Balanced arms remove one asymmetry from every comparison.</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MORTALITY USES ONLY DIRECTLY-REPORTED R10 PRECURSORS — all five of SO₂, NOₓ, BC, OM and NH₃, with no World-to-R10 disaggregation and no ammonia sidecar. This resolves the ammonia reporting asymmetry and the synthetic-regions risk at once, by dropping the scenarios that caused them rather than patching.</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The ammonia harmonisation that dominated the previous round is now obsolete: the input rule makes the correction unnecessary, which is a better fix than the one it replaces.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indent="0" marL="0">
              <a:buNone/>
            </a:pPr>
            <a:r>
              <a:rPr lang="en-US" sz="1200" b="1" spc="220" kern="0" dirty="0">
                <a:solidFill>
                  <a:srgbClr val="7FB3C8"/>
                </a:solidFill>
                <a:latin typeface="Calibri" pitchFamily="34" charset="0"/>
                <a:ea typeface="Calibri" pitchFamily="34" charset="-122"/>
                <a:cs typeface="Calibri" pitchFamily="34" charset="-120"/>
              </a:rPr>
              <a:t>PART ONE</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Methodology</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indent="0" marL="0">
              <a:lnSpc>
                <a:spcPts val="2200"/>
              </a:lnSpc>
              <a:buNone/>
            </a:pPr>
            <a:r>
              <a:rPr lang="en-US" sz="1400" dirty="0">
                <a:solidFill>
                  <a:srgbClr val="C7D6E0"/>
                </a:solidFill>
                <a:latin typeface="Calibri" pitchFamily="34" charset="0"/>
                <a:ea typeface="Calibri" pitchFamily="34" charset="-122"/>
                <a:cs typeface="Calibri" pitchFamily="34" charset="-120"/>
              </a:rPr>
              <a:t>How each wellbeing outcome is built.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METHOD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The whole design on one slide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DESIGN</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1828800"/>
                <a:gridCol w="3840480"/>
                <a:gridCol w="5394960"/>
              </a:tblGrid>
              <a:tr h="256032">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Choice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Why this and not something else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1. Ambition</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AR6 category → 1.5°C (C1+C2) and 2°C (C3+C4)</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Compares pathways reaching the SAME climate outcome. Without it the comparison is just ambition.</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2. CDR axis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ALL removal — novel CDR + fossil/industrial CCS + land-based</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The question names CDR, so the axis is CDR. Restricting it to engineered removal is reported as a sensitivity, and it is the conservative one.</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3. RE axis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cumulative renewable capacity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Wind, solar, hydro, geothermal. Nuclear and biomass excluded — biomass is the substrate of BECCS, so counting it would let one scenario score on both axes.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4. Labels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top tercile on the focal axis, NOT top tercile on the opposing axis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Scenarios high on both are genuinely both and are dropped; high on neither are neither. Same-size terciles minus the same overlap yields balanced arms by construction.</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5. Window</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cumulative 2020–2100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Full scenario horizon, for both the classification and the outcomes.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6. Inference</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cluster bootstrap on the raw difference in medians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610 classified scenarios sit in 335 model × scenario-family clusters. 2,000 replicates resampling whole clusters.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One fixed global classification is applied unchanged in every region, so a regional result is never an artefact of relabelling scenarios inside that region.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METHOD — OUTCOME 1 OF 3</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Energy jobs: what is counted, where, and when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JOBS</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103120"/>
                <a:gridCol w="2743200"/>
                <a:gridCol w="6217920"/>
              </a:tblGrid>
              <a:tr h="256032">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Element</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Choice</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Detail</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950" b="1" dirty="0">
                          <a:solidFill>
                            <a:srgbClr val="1B7A4B"/>
                          </a:solidFill>
                          <a:latin typeface="Calibri" pitchFamily="34" charset="0"/>
                          <a:ea typeface="Calibri" pitchFamily="34" charset="-122"/>
                          <a:cs typeface="Calibri" pitchFamily="34" charset="-120"/>
                        </a:rPr>
                        <a:t>THE UNIT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b="1" dirty="0">
                          <a:solidFill>
                            <a:srgbClr val="1B7A4B"/>
                          </a:solidFill>
                          <a:latin typeface="Calibri" pitchFamily="34" charset="0"/>
                          <a:ea typeface="Calibri" pitchFamily="34" charset="-122"/>
                          <a:cs typeface="Calibri" pitchFamily="34" charset="-120"/>
                        </a:rPr>
                        <a:t>JOB-YEARS, not jobs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One job-year = one person employed full-time for one year. A job lasting 30 years is 30 job-years; 30 jobs lasting one year is also 30 job-years. This is a STOCK OF WORK over the whole period, NOT a headcount at any moment — so 687 job-years per 1,000 people over 2020–2100 means roughly 8.6 people in work per 1,000 at any given time, not 687</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How it is computed</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annual jobs × years, summed 2020–2100</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The model gives capacity by technology at each reporting node. Jobs are computed at each node, then integrated across the period. Decadal nodes are treated as representing their decade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C7293"/>
                          </a:solidFill>
                          <a:latin typeface="Calibri" pitchFamily="34" charset="0"/>
                          <a:ea typeface="Calibri" pitchFamily="34" charset="-122"/>
                          <a:cs typeface="Calibri" pitchFamily="34" charset="-120"/>
                        </a:rPr>
                        <a:t>CONSTRUCTION</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per GW BUILT in that period · transient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Scales with NEW capacity added, so it appears only while building happens and disappears when it stops. Located where the plant is sited — this work cannot be imported</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C7293"/>
                          </a:solidFill>
                          <a:latin typeface="Calibri" pitchFamily="34" charset="0"/>
                          <a:ea typeface="Calibri" pitchFamily="34" charset="-122"/>
                          <a:cs typeface="Calibri" pitchFamily="34" charset="-120"/>
                        </a:rPr>
                        <a:t>MANUFACTURING</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per GW BUILT in that period · transient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Also scales with new capacity, but is NOT necessarily located where the plant is. Assigned to the deploying region here, which is the standard AR6 convention and an optimistic one for regions that import turbines and panels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C7293"/>
                          </a:solidFill>
                          <a:latin typeface="Calibri" pitchFamily="34" charset="0"/>
                          <a:ea typeface="Calibri" pitchFamily="34" charset="-122"/>
                          <a:cs typeface="Calibri" pitchFamily="34" charset="-120"/>
                        </a:rPr>
                        <a:t>OPERATION &amp; MAINTENANCE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per GW of STOCK in place · persistent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Scales with installed capacity, not with additions, so it accumulates as the fleet grows and persists for the asset's life. This is the only stream that survives the end of the build-out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Fossil side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extraction · refining · fossil O&amp;M</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Subtracted, so the measure is NET. A pathway cannot score by building alone, and one that only shuts down coal scores zero on the renewable term</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The measure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renewable job-years − fossil job-years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Per 1,000 people on a FIXED base-period population, identical in every scenario, so demography cannot move a contrast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Grouping</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renewables = wind · solar · hydro · geothermal</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Nuclear and bioenergy are tracked separately and BOTH favour High-CDR (−10 and −10 job-years per 1,000 at World 1.5°C). Biomass is excluded from the renewable axis because it is the substrate of BECCS — counting it would let one scenario score on both classification axes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SPATIAL RESOLUTION: jobs are computed per R10 region from that region's own capacity, then summed to World. TEMPORAL: the three streams behave differently over time — construction and manufacturing track the RATE of building and fade, O&amp;M tracks the STOCK and persists. That distinction is what makes the advantage front-loaded and is the mechanism behind the regional ordering.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METHOD — OUTCOME 2 OF 3</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Energy deprivation: how the decent-living gap is built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DEPRIVATION</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103120"/>
                <a:gridCol w="2743200"/>
                <a:gridCol w="6217920"/>
              </a:tblGrid>
              <a:tr h="256032">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Element</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Choice</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Detail</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950" b="1" dirty="0">
                          <a:solidFill>
                            <a:srgbClr val="1B7A4B"/>
                          </a:solidFill>
                          <a:latin typeface="Calibri" pitchFamily="34" charset="0"/>
                          <a:ea typeface="Calibri" pitchFamily="34" charset="-122"/>
                          <a:cs typeface="Calibri" pitchFamily="34" charset="-120"/>
                        </a:rPr>
                        <a:t>THE IDEA</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b="1" dirty="0">
                          <a:solidFill>
                            <a:srgbClr val="1B7A4B"/>
                          </a:solidFill>
                          <a:latin typeface="Calibri" pitchFamily="34" charset="0"/>
                          <a:ea typeface="Calibri" pitchFamily="34" charset="-122"/>
                          <a:cs typeface="Calibri" pitchFamily="34" charset="-120"/>
                        </a:rPr>
                        <a:t>how far BELOW a decent-living floor</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Not total energy use, and not inequality. A threshold is set for the final energy a person needs for decent living; the gap measures the SHORTFALL beneath it. A region above its floor contributes zero</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Threshold</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Kikstra et al. 2021, fig 1A · regional</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Final energy in GJ/cap/yr needed for decent living: India+ 10, China+ 15, Africa 17, Europe 28, North America 37. Regional because the same service costs different amounts of energy in different climates and settlement patterns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Sector split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residential/commercial · transport · industry</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DESIRE shares 6.7 / 11.8 / 3.8 GJ/cap, normalised to 30% / 53% / 17%. The threshold is applied SEPARATELY IN EACH SECTOR, not to the total</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Efficiency path</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−1.9%/yr on the threshold, floored at 50%</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The energy needed to deliver decent living falls over time as service provisioning improves, so the bar drops. Floored at half its 2020 value so it cannot collapse to nothing by 2100</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B7791F"/>
                          </a:solidFill>
                          <a:latin typeface="Calibri" pitchFamily="34" charset="0"/>
                          <a:ea typeface="Calibri" pitchFamily="34" charset="-122"/>
                          <a:cs typeface="Calibri" pitchFamily="34" charset="-120"/>
                        </a:rPr>
                        <a:t>THE GAP — step by step</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b="1" dirty="0">
                          <a:solidFill>
                            <a:srgbClr val="B7791F"/>
                          </a:solidFill>
                          <a:latin typeface="Calibri" pitchFamily="34" charset="0"/>
                          <a:ea typeface="Calibri" pitchFamily="34" charset="-122"/>
                          <a:cs typeface="Calibri" pitchFamily="34" charset="-120"/>
                        </a:rPr>
                        <a:t>gap = max(0, threshold − actual)</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(1) For each sector, subtract that sector's delivered final energy per capita from that sector's threshold. (2) TRUNCATE AT ZERO: if delivered exceeds the threshold the sector contributes 0, never a negative. (3) Sum the three sectors. (4) Sum over years 2020–2100. The result is cumulative GJ per capita of shortfall</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A33A3A"/>
                          </a:solidFill>
                          <a:latin typeface="Calibri" pitchFamily="34" charset="0"/>
                          <a:ea typeface="Calibri" pitchFamily="34" charset="-122"/>
                          <a:cs typeface="Calibri" pitchFamily="34" charset="-120"/>
                        </a:rPr>
                        <a:t>Why truncation matters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A33A3A"/>
                          </a:solidFill>
                          <a:latin typeface="Calibri" pitchFamily="34" charset="0"/>
                          <a:ea typeface="Calibri" pitchFamily="34" charset="-122"/>
                          <a:cs typeface="Calibri" pitchFamily="34" charset="-120"/>
                        </a:rPr>
                        <a:t>surplus never offsets shortfall</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Because negatives are clipped, only sectors where a region falls SHORT can move the measure. Abundant industrial energy cannot compensate for a residential shortfall, and a rich region cannot offset a poor one. This makes it a DEPRIVATION measure rather than a net-adequacy one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Second measure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headcount below threshold (%)</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Share of population living below the floor. Moves with the gap in every cell; reported as a within-family check and because it converts directly into people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WHAT IT CANNOT SEE: the threshold is applied to a REGIONAL AVERAGE, so the measure is a regional aggregate and cannot say who inside a region is deprived. The implied within-region inequality is lower than observed, so it understates deprivation in unequal regions.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9</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METHOD — OUTCOME 3 OF 3</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PM2.5 mortality: from emissions to deaths, and the input rule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MORTALITY</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103120"/>
                <a:gridCol w="2743200"/>
                <a:gridCol w="6217920"/>
              </a:tblGrid>
              <a:tr h="256032">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Element</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Choice</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00" b="1" dirty="0">
                          <a:solidFill>
                            <a:srgbClr val="5B6B7B"/>
                          </a:solidFill>
                          <a:latin typeface="Calibri" pitchFamily="34" charset="0"/>
                          <a:ea typeface="Calibri" pitchFamily="34" charset="-122"/>
                          <a:cs typeface="Calibri" pitchFamily="34" charset="-120"/>
                        </a:rPr>
                        <a:t>Detail</a:t>
                      </a:r>
                      <a:endParaRPr lang="en-US" sz="8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950" b="1" dirty="0">
                          <a:solidFill>
                            <a:srgbClr val="1B7A4B"/>
                          </a:solidFill>
                          <a:latin typeface="Calibri" pitchFamily="34" charset="0"/>
                          <a:ea typeface="Calibri" pitchFamily="34" charset="-122"/>
                          <a:cs typeface="Calibri" pitchFamily="34" charset="-120"/>
                        </a:rPr>
                        <a:t>THE CHAIN</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b="1" dirty="0">
                          <a:solidFill>
                            <a:srgbClr val="1B7A4B"/>
                          </a:solidFill>
                          <a:latin typeface="Calibri" pitchFamily="34" charset="0"/>
                          <a:ea typeface="Calibri" pitchFamily="34" charset="-122"/>
                          <a:cs typeface="Calibri" pitchFamily="34" charset="-120"/>
                        </a:rPr>
                        <a:t>emissions → concentration → exposure → deaths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(1) A scenario reports precursor emissions by region and year. (2) TM5-FASST converts them to ambient PM2.5 concentrations. (3) Concentrations are combined with population to give exposure. (4) An exposure–response function converts exposure to premature deaths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Atmospheric model</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TM5-FASST via the rfasst package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A reduced-form SOURCE–RECEPTOR model: pre-computed coefficients say how much a tonne emitted in region A raises concentration in region B. This captures cross-boundary transport without running a full chemistry-transport model per scenario</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Precursors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SO₂ · NOₓ · black carbon · organic matter · NH₃</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BC and OM are primary particles emitted directly. SO₂, NOₓ and NH₃ are gases that form SECONDARY particles in the atmosphere — ammonium sulfate and ammonium nitrate — which is why ammonia matters despite not being a particle itself</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B7A4B"/>
                          </a:solidFill>
                          <a:latin typeface="Calibri" pitchFamily="34" charset="0"/>
                          <a:ea typeface="Calibri" pitchFamily="34" charset="-122"/>
                          <a:cs typeface="Calibri" pitchFamily="34" charset="-120"/>
                        </a:rPr>
                        <a:t>THE INPUT RULE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b="1" dirty="0">
                          <a:solidFill>
                            <a:srgbClr val="1B7A4B"/>
                          </a:solidFill>
                          <a:latin typeface="Calibri" pitchFamily="34" charset="0"/>
                          <a:ea typeface="Calibri" pitchFamily="34" charset="-122"/>
                          <a:cs typeface="Calibri" pitchFamily="34" charset="-120"/>
                        </a:rPr>
                        <a:t>all five reported DIRECTLY at R10</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A scenario qualifies only if it reports every precursor at regional level. No World-to-R10 population disaggregation, no ammonia filled in from a sidecar, no gap-filling. 422 of 643 classified targets qualify; 150 are REJECTED rather than filled (98 report no precursor, 52 have incomplete grids) and 71 have no direct R10 input at all</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A33A3A"/>
                          </a:solidFill>
                          <a:latin typeface="Calibri" pitchFamily="34" charset="0"/>
                          <a:ea typeface="Calibri" pitchFamily="34" charset="-122"/>
                          <a:cs typeface="Calibri" pitchFamily="34" charset="-120"/>
                        </a:rPr>
                        <a:t>Why the rule exists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A33A3A"/>
                          </a:solidFill>
                          <a:latin typeface="Calibri" pitchFamily="34" charset="0"/>
                          <a:ea typeface="Calibri" pitchFamily="34" charset="-122"/>
                          <a:cs typeface="Calibri" pitchFamily="34" charset="-120"/>
                        </a:rPr>
                        <a:t>models file emissions differently</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Ammonia is 6–12% of PM2.5 mortality in IMAGE, POLES-JRC, AIM and MESSAGEix and 0.15% in REMIND, because REMIND's agricultural emissions live in MAgPIE and never reach Emissions|NH3. Filling that gap would compare accounting conventions; requiring direct reporting removes the asymmetry at source</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Integration</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trapezoidal across decadal nodes, 2020–2100</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Annual deaths at each node, area under the curve between nodes, summed. Reported as MILLION CUMULATIVE DEATHS over the century — an absolute count, not a rate, and not per capita</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950" b="1" dirty="0">
                          <a:solidFill>
                            <a:srgbClr val="1F2A36"/>
                          </a:solidFill>
                          <a:latin typeface="Calibri" pitchFamily="34" charset="0"/>
                          <a:ea typeface="Calibri" pitchFamily="34" charset="-122"/>
                          <a:cs typeface="Calibri" pitchFamily="34" charset="-120"/>
                        </a:rPr>
                        <a:t>The cost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smaller arms than the other outcomes</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950" dirty="0">
                          <a:solidFill>
                            <a:srgbClr val="1F2A36"/>
                          </a:solidFill>
                          <a:latin typeface="Calibri" pitchFamily="34" charset="0"/>
                          <a:ea typeface="Calibri" pitchFamily="34" charset="-122"/>
                          <a:cs typeface="Calibri" pitchFamily="34" charset="-120"/>
                        </a:rPr>
                        <a:t>42 vs 37 scenarios at World 1.5°C, against 42 vs 43 for jobs. Mortality is always the binding constraint on sample size, which is why its intervals are the widest</a:t>
                      </a:r>
                      <a:endParaRPr lang="en-US" sz="9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SPATIAL: concentrations are computed on TM5-FASST's own 56-region grid and aggregated to R10, so cross-border transport between R10 regions is captured. TEMPORAL: emissions at decadal nodes drive concentrations at those nodes; between-node behaviour is interpolated, and no run in this release required interpolation.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indent="0" marL="0">
              <a:buNone/>
            </a:pPr>
            <a:r>
              <a:rPr lang="en-US" sz="1200" b="1" spc="220" kern="0" dirty="0">
                <a:solidFill>
                  <a:srgbClr val="7FB3C8"/>
                </a:solidFill>
                <a:latin typeface="Calibri" pitchFamily="34" charset="0"/>
                <a:ea typeface="Calibri" pitchFamily="34" charset="-122"/>
                <a:cs typeface="Calibri" pitchFamily="34" charset="-120"/>
              </a:rPr>
              <a:t>PART TWO</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Diagnostics</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indent="0" marL="0">
              <a:lnSpc>
                <a:spcPts val="2200"/>
              </a:lnSpc>
              <a:buNone/>
            </a:pPr>
            <a:r>
              <a:rPr lang="en-US" sz="1400" dirty="0">
                <a:solidFill>
                  <a:srgbClr val="C7D6E0"/>
                </a:solidFill>
                <a:latin typeface="Calibri" pitchFamily="34" charset="0"/>
                <a:ea typeface="Calibri" pitchFamily="34" charset="-122"/>
                <a:cs typeface="Calibri" pitchFamily="34" charset="-120"/>
              </a:rPr>
              <a:t>What the database contains, and what it can carry.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THE SAMPLE</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From the database to 610 classified scenarios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FUNNEL</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4389120"/>
                <a:gridCol w="1828800"/>
                <a:gridCol w="4846320"/>
              </a:tblGrid>
              <a:tr h="256032">
                <a:tc>
                  <a:txBody>
                    <a:bodyPr/>
                    <a:lstStyle/>
                    <a:p>
                      <a:pPr indent="0" marL="0">
                        <a:buNone/>
                      </a:pP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Count</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Scenarios carrying the classification variables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1,379</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must report the CDR components and renewable capacity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Classified, full database (A)</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610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67 + 67 at 1.5°C · 238 + 238 at 2°C — balanced by construction</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Classified, SCI-vetted (C)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139</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6 + 6 at 1.5°C · 63 + 64 at 2°C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Model families · holding both arms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10 · 7</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one fewer than on the engineered axis — see the axis sensitivity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Model × scenario-family clusters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335</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the unit resampled by the bootstrap</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Reaching complete World mortality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363 of 610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and only among scenarios the engineered axis also classified</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The portfolio rule — top tercile on the focal axis and NOT top tercile on the opposing axis — produces equal arms automatically, because both terciles are the same size on the same sample and the same overlap is removed from each.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MODEL COMPOSITION</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Who populates which arm — and what the wider axis costs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THE COST</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194560"/>
                <a:gridCol w="1280160"/>
                <a:gridCol w="1280160"/>
                <a:gridCol w="2011680"/>
                <a:gridCol w="4297680"/>
              </a:tblGrid>
              <a:tr h="256032">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Model family</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High-CDR</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Holds both arms?</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Change from the engineered axis</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1050" b="1" dirty="0">
                          <a:solidFill>
                            <a:srgbClr val="1F2A36"/>
                          </a:solidFill>
                          <a:latin typeface="Calibri" pitchFamily="34" charset="0"/>
                          <a:ea typeface="Calibri" pitchFamily="34" charset="-122"/>
                          <a:cs typeface="Calibri" pitchFamily="34" charset="-120"/>
                        </a:rPr>
                        <a:t>REMIND</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2F79B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C68A20"/>
                          </a:solidFill>
                          <a:latin typeface="Calibri" pitchFamily="34" charset="0"/>
                          <a:ea typeface="Calibri" pitchFamily="34" charset="-122"/>
                          <a:cs typeface="Calibri" pitchFamily="34" charset="-120"/>
                        </a:rPr>
                        <a:t>224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A33A3A"/>
                          </a:solidFill>
                          <a:latin typeface="Calibri" pitchFamily="34" charset="0"/>
                          <a:ea typeface="Calibri" pitchFamily="34" charset="-122"/>
                          <a:cs typeface="Calibri" pitchFamily="34" charset="-120"/>
                        </a:rPr>
                        <a:t>barely</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73% of the High-RE arm, up from 71%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b="1" dirty="0">
                          <a:solidFill>
                            <a:srgbClr val="1F2A36"/>
                          </a:solidFill>
                          <a:latin typeface="Calibri" pitchFamily="34" charset="0"/>
                          <a:ea typeface="Calibri" pitchFamily="34" charset="-122"/>
                          <a:cs typeface="Calibri" pitchFamily="34" charset="-120"/>
                        </a:rPr>
                        <a:t>MESSAGEix</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F2A36"/>
                          </a:solidFill>
                          <a:latin typeface="Calibri" pitchFamily="34" charset="0"/>
                          <a:ea typeface="Calibri" pitchFamily="34" charset="-122"/>
                          <a:cs typeface="Calibri" pitchFamily="34" charset="-120"/>
                        </a:rPr>
                        <a:t>99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F2A36"/>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YES — balanced</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gains 55 High-CDR scenarios: land-heavy pathways it reports</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IMAGE</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A33A3A"/>
                          </a:solidFill>
                          <a:latin typeface="Calibri" pitchFamily="34" charset="0"/>
                          <a:ea typeface="Calibri" pitchFamily="34" charset="-122"/>
                          <a:cs typeface="Calibri" pitchFamily="34" charset="-120"/>
                        </a:rPr>
                        <a:t>barely</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 High-CDR</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POLES-JRC</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 High-CDR</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GCAM</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 High-CDR</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AIM/CGE</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 High-CDR, +4 High-RE</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WITCH</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unchanged</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TIAM-ECN</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A33A3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−9 High-CDR</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dirty="0">
                          <a:solidFill>
                            <a:srgbClr val="A33A3A"/>
                          </a:solidFill>
                          <a:latin typeface="Calibri" pitchFamily="34" charset="0"/>
                          <a:ea typeface="Calibri" pitchFamily="34" charset="-122"/>
                          <a:cs typeface="Calibri" pitchFamily="34" charset="-120"/>
                        </a:rPr>
                        <a:t>COFFEE</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A33A3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A33A3A"/>
                          </a:solidFill>
                          <a:latin typeface="Calibri" pitchFamily="34" charset="0"/>
                          <a:ea typeface="Calibri" pitchFamily="34" charset="-122"/>
                          <a:cs typeface="Calibri" pitchFamily="34" charset="-120"/>
                        </a:rPr>
                        <a:t>no — LOST</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held both arms on the engineered axis (12 v 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50" dirty="0">
                          <a:solidFill>
                            <a:srgbClr val="A33A3A"/>
                          </a:solidFill>
                          <a:latin typeface="Calibri" pitchFamily="34" charset="0"/>
                          <a:ea typeface="Calibri" pitchFamily="34" charset="-122"/>
                          <a:cs typeface="Calibri" pitchFamily="34" charset="-120"/>
                        </a:rPr>
                        <a:t>GEM</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A33A3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A33A3A"/>
                          </a:solidFill>
                          <a:latin typeface="Calibri" pitchFamily="34" charset="0"/>
                          <a:ea typeface="Calibri" pitchFamily="34" charset="-122"/>
                          <a:cs typeface="Calibri" pitchFamily="34" charset="-120"/>
                        </a:rPr>
                        <a:t>no — LOST</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25 High-CDR on the engineered axis, none here</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THIS IS THE PRICE OF THE WIDER AXIS AND IT BELONGS IN THE PAPER. Families holding both arms falls from eight to seven, and REMIND's share of High-RE rises slightly. A broader CDR definition admits scenarios whose engineered removal is small and re-sorts which models populate which arm. The within-model check is what decides whether that matters.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DIAGNOSTICS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World coverage flow — how many scenarios each outcome can actually use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COVERAGE</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926080"/>
                <a:gridCol w="1371600"/>
                <a:gridCol w="1371600"/>
                <a:gridCol w="1371600"/>
                <a:gridCol w="1371600"/>
                <a:gridCol w="2743200"/>
              </a:tblGrid>
              <a:tr h="256032">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50" b="1" dirty="0">
                          <a:solidFill>
                            <a:srgbClr val="5B6B7B"/>
                          </a:solidFill>
                          <a:latin typeface="Calibri" pitchFamily="34" charset="0"/>
                          <a:ea typeface="Calibri" pitchFamily="34" charset="-122"/>
                          <a:cs typeface="Calibri" pitchFamily="34" charset="-120"/>
                        </a:rPr>
                        <a:t>1.5°C CDR</a:t>
                      </a:r>
                      <a:endParaRPr lang="en-US" sz="8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50" b="1" dirty="0">
                          <a:solidFill>
                            <a:srgbClr val="5B6B7B"/>
                          </a:solidFill>
                          <a:latin typeface="Calibri" pitchFamily="34" charset="0"/>
                          <a:ea typeface="Calibri" pitchFamily="34" charset="-122"/>
                          <a:cs typeface="Calibri" pitchFamily="34" charset="-120"/>
                        </a:rPr>
                        <a:t>1.5°C RE</a:t>
                      </a:r>
                      <a:endParaRPr lang="en-US" sz="8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50" b="1" dirty="0">
                          <a:solidFill>
                            <a:srgbClr val="5B6B7B"/>
                          </a:solidFill>
                          <a:latin typeface="Calibri" pitchFamily="34" charset="0"/>
                          <a:ea typeface="Calibri" pitchFamily="34" charset="-122"/>
                          <a:cs typeface="Calibri" pitchFamily="34" charset="-120"/>
                        </a:rPr>
                        <a:t>2°C CDR</a:t>
                      </a:r>
                      <a:endParaRPr lang="en-US" sz="8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50" b="1" dirty="0">
                          <a:solidFill>
                            <a:srgbClr val="5B6B7B"/>
                          </a:solidFill>
                          <a:latin typeface="Calibri" pitchFamily="34" charset="0"/>
                          <a:ea typeface="Calibri" pitchFamily="34" charset="-122"/>
                          <a:cs typeface="Calibri" pitchFamily="34" charset="-120"/>
                        </a:rPr>
                        <a:t>2°C RE</a:t>
                      </a:r>
                      <a:endParaRPr lang="en-US" sz="8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850" b="1" dirty="0">
                          <a:solidFill>
                            <a:srgbClr val="5B6B7B"/>
                          </a:solidFill>
                          <a:latin typeface="Calibri" pitchFamily="34" charset="0"/>
                          <a:ea typeface="Calibri" pitchFamily="34" charset="-122"/>
                          <a:cs typeface="Calibri" pitchFamily="34" charset="-120"/>
                        </a:rPr>
                        <a:t>What gates it</a:t>
                      </a:r>
                      <a:endParaRPr lang="en-US" sz="8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1000" b="1" dirty="0">
                          <a:solidFill>
                            <a:srgbClr val="1F2A36"/>
                          </a:solidFill>
                          <a:latin typeface="Calibri" pitchFamily="34" charset="0"/>
                          <a:ea typeface="Calibri" pitchFamily="34" charset="-122"/>
                          <a:cs typeface="Calibri" pitchFamily="34" charset="-120"/>
                        </a:rPr>
                        <a:t>Classified</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b="1" dirty="0">
                          <a:solidFill>
                            <a:srgbClr val="1F2A36"/>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b="1" dirty="0">
                          <a:solidFill>
                            <a:srgbClr val="1F2A36"/>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b="1" dirty="0">
                          <a:solidFill>
                            <a:srgbClr val="1F2A36"/>
                          </a:solidFill>
                          <a:latin typeface="Calibri" pitchFamily="34" charset="0"/>
                          <a:ea typeface="Calibri" pitchFamily="34" charset="-122"/>
                          <a:cs typeface="Calibri" pitchFamily="34" charset="-120"/>
                        </a:rPr>
                        <a:t>238</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b="1" dirty="0">
                          <a:solidFill>
                            <a:srgbClr val="1F2A36"/>
                          </a:solidFill>
                          <a:latin typeface="Calibri" pitchFamily="34" charset="0"/>
                          <a:ea typeface="Calibri" pitchFamily="34" charset="-122"/>
                          <a:cs typeface="Calibri" pitchFamily="34" charset="-120"/>
                        </a:rPr>
                        <a:t>238</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Top tercile on the focal axis, not top tercile on the opposing axis</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00" b="1" dirty="0">
                          <a:solidFill>
                            <a:srgbClr val="1F2A36"/>
                          </a:solidFill>
                          <a:latin typeface="Calibri" pitchFamily="34" charset="0"/>
                          <a:ea typeface="Calibri" pitchFamily="34" charset="-122"/>
                          <a:cs typeface="Calibri" pitchFamily="34" charset="-120"/>
                        </a:rPr>
                        <a:t>Complete World jobs</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212</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234</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Requires renewable AND fossil jobs in all ten R10 regions</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00" b="1" dirty="0">
                          <a:solidFill>
                            <a:srgbClr val="1F2A36"/>
                          </a:solidFill>
                          <a:latin typeface="Calibri" pitchFamily="34" charset="0"/>
                          <a:ea typeface="Calibri" pitchFamily="34" charset="-122"/>
                          <a:cs typeface="Calibri" pitchFamily="34" charset="-120"/>
                        </a:rPr>
                        <a:t>Complete World deprivation</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223</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226</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Requires the decent-living gap in all ten regions</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00" b="1" dirty="0">
                          <a:solidFill>
                            <a:srgbClr val="1F2A36"/>
                          </a:solidFill>
                          <a:latin typeface="Calibri" pitchFamily="34" charset="0"/>
                          <a:ea typeface="Calibri" pitchFamily="34" charset="-122"/>
                          <a:cs typeface="Calibri" pitchFamily="34" charset="-120"/>
                        </a:rPr>
                        <a:t>Complete World mortality</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A33A3A"/>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A33A3A"/>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A33A3A"/>
                          </a:solidFill>
                          <a:latin typeface="Calibri" pitchFamily="34" charset="0"/>
                          <a:ea typeface="Calibri" pitchFamily="34" charset="-122"/>
                          <a:cs typeface="Calibri" pitchFamily="34" charset="-120"/>
                        </a:rPr>
                        <a:t>133</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A33A3A"/>
                          </a:solidFill>
                          <a:latin typeface="Calibri" pitchFamily="34" charset="0"/>
                          <a:ea typeface="Calibri" pitchFamily="34" charset="-122"/>
                          <a:cs typeface="Calibri" pitchFamily="34" charset="-120"/>
                        </a:rPr>
                        <a:t>156</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1F2A36"/>
                          </a:solidFill>
                          <a:latin typeface="Calibri" pitchFamily="34" charset="0"/>
                          <a:ea typeface="Calibri" pitchFamily="34" charset="-122"/>
                          <a:cs typeface="Calibri" pitchFamily="34" charset="-120"/>
                        </a:rPr>
                        <a:t>All five PM2.5 precursors reported directly at R10 — the strictest gate</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Retention, jobs</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87%</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The three outcomes are gated INDEPENDENTLY — missing mortality does not blank jobs</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Retention, mortality</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00" dirty="0">
                          <a:solidFill>
                            <a:srgbClr val="5B6B7B"/>
                          </a:solidFill>
                          <a:latin typeface="Calibri" pitchFamily="34" charset="0"/>
                          <a:ea typeface="Calibri" pitchFamily="34" charset="-122"/>
                          <a:cs typeface="Calibri" pitchFamily="34" charset="-120"/>
                        </a:rPr>
                        <a:t>Mortality is always the binding constraint on sample size</a:t>
                      </a:r>
                      <a:endParaRPr lang="en-US" sz="10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A World figure is computed ONLY when all ten R10 regions are present for that outcome; partial sums are set to NA rather than reported. MORTALITY CARRIES AN EXTRA CAVEAT: its target list was drawn against the engineered axis, so the 80 scenarios the all-CDR axis newly admits have no mortality run at all. That is target selection, not a property of those scenarios, and it is why the mortality arms are the smallest here.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DIAGNOSTICS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The same coverage flow, drawn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FIGURE F4</a:t>
            </a:r>
            <a:endParaRPr lang="en-US" sz="900" dirty="0"/>
          </a:p>
        </p:txBody>
      </p:sp>
      <p:sp>
        <p:nvSpPr>
          <p:cNvPr id="6" name="Shape 4"/>
          <p:cNvSpPr/>
          <p:nvPr/>
        </p:nvSpPr>
        <p:spPr>
          <a:xfrm>
            <a:off x="566928" y="1298448"/>
            <a:ext cx="11064240" cy="18288"/>
          </a:xfrm>
          <a:prstGeom prst="rect">
            <a:avLst/>
          </a:prstGeom>
          <a:solidFill>
            <a:srgbClr val="D9E1E8"/>
          </a:solidFill>
          <a:ln/>
        </p:spPr>
      </p:sp>
      <p:pic>
        <p:nvPicPr>
          <p:cNvPr id="7" name="Image 0" descr="paper1_analysis/figures_century/F4_coverage.png">    </p:cNvPr>
          <p:cNvPicPr>
            <a:picLocks noChangeAspect="1"/>
          </p:cNvPicPr>
          <p:nvPr/>
        </p:nvPicPr>
        <p:blipFill>
          <a:blip r:embed="rId1"/>
          <a:stretch>
            <a:fillRect/>
          </a:stretch>
        </p:blipFill>
        <p:spPr>
          <a:xfrm>
            <a:off x="2075688" y="1536192"/>
            <a:ext cx="8046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indent="0" marL="0">
              <a:buNone/>
            </a:pPr>
            <a:r>
              <a:rPr lang="en-US" sz="1150" b="1" dirty="0">
                <a:solidFill>
                  <a:srgbClr val="1F2A36"/>
                </a:solidFill>
                <a:latin typeface="Calibri" pitchFamily="34" charset="0"/>
                <a:ea typeface="Calibri" pitchFamily="34" charset="-122"/>
                <a:cs typeface="Calibri" pitchFamily="34" charset="-120"/>
              </a:rPr>
              <a:t>Each outcome is gated on its own ten-region completeness, so the arms differ in size between outcomes.</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Deprivation retains MORE High-CDR scenarios than jobs at 1.5°C (67 against 58), which is exactly why the three outcomes have to be gated separately rather than jointly. Mortality is the binding constraint everywhere — and here it is doubly so, because its targets were drawn against the engineered axis.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B7A4B"/>
                </a:solidFill>
                <a:latin typeface="Calibri" pitchFamily="34" charset="0"/>
                <a:ea typeface="Calibri" pitchFamily="34" charset="-122"/>
                <a:cs typeface="Calibri" pitchFamily="34" charset="-120"/>
              </a:rPr>
              <a:t>DIAGNOSTICS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Two data defects found and fixed, and what each one moved</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B7A4B"/>
                </a:solidFill>
                <a:latin typeface="Calibri" pitchFamily="34" charset="0"/>
                <a:ea typeface="Calibri" pitchFamily="34" charset="-122"/>
                <a:cs typeface="Calibri" pitchFamily="34" charset="-120"/>
              </a:rPr>
              <a:t>TWO FIXES</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DEFECT ONE — THE WORLD AGGREGATION. The master built the World row by summing outcomes WITHIN each deployment-variable group, so a scenario's World jobs total inherited the regional coverage of whichever CDR variable that row belonged to. COFFEE 1.1 / COMMIT-Baseline read 765,457 on one row and 684,824 on the other. All 288 discrepant scenario-regions showed exactly this pattern.</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FIXED AND PORTED. World outcomes are now built from an outcome-only R10 table with no reference to deployment rows, each outcome gated INDEPENDENTLY on having all ten regions, with explicit coverage fields carried through. It is ported into build_df_master() in the master script and verified against the downstream implementation to machine precision.</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DEFECT TWO — MANGLED SCENARIO KEYS, AND THIS ONE WAS LARGER. The published labels file stores degree signs as the LITERAL TEXT "&lt;U+00B0&gt;" while the master files carry a real degree sign, so "COMMIT-2&lt;U+00B0&gt;C-2020" never equals "COMMIT-2°C-2020". The published summary joins the two with inner_join(), which drops non-matching rows SILENTLY. 71 classified scenarios — REMIND 34, IMAGE 20, COFFEE 6, WITCH 6, GCAM 3, MESSAGEix 2 — never reached the outcome tables at all.</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WHAT REPAIRING THE KEYS MOVED. On the engineered axis it takes World 1.5°C jobs from +395.8 to +405.0 and the arms from 42 v 43 to 53 v 64; World 1.5°C deprivation goes from NON-SIGNIFICANT to SIGNIFICANT; and the scorecard from 42 of 60 to 44 of 60. Direction is unchanged everywhere and no cell reverses significantly, so the finding survives the defect — but the published sample was 12% smaller than it should have been, and every number in this deck is now computed on the repaired keys.</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Defect one: V3_world_strict.R, ported and verified by V4_verify_port.R. Defect two: diagnosed in V6_key_repair.R, which shows all 746 labels joining after repair against 675 before. Both are upstream defects in the published pipeline, not artefacts of the analysis scripts.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indent="0" marL="0">
              <a:buNone/>
            </a:pPr>
            <a:r>
              <a:rPr lang="en-US" sz="1200" b="1" spc="220" kern="0" dirty="0">
                <a:solidFill>
                  <a:srgbClr val="7FB3C8"/>
                </a:solidFill>
                <a:latin typeface="Calibri" pitchFamily="34" charset="0"/>
                <a:ea typeface="Calibri" pitchFamily="34" charset="-122"/>
                <a:cs typeface="Calibri" pitchFamily="34" charset="-120"/>
              </a:rPr>
              <a:t>PART THREE</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wellbeing results</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indent="0" marL="0">
              <a:lnSpc>
                <a:spcPts val="2200"/>
              </a:lnSpc>
              <a:buNone/>
            </a:pPr>
            <a:r>
              <a:rPr lang="en-US" sz="1400" dirty="0">
                <a:solidFill>
                  <a:srgbClr val="C7D6E0"/>
                </a:solidFill>
                <a:latin typeface="Calibri" pitchFamily="34" charset="0"/>
                <a:ea typeface="Calibri" pitchFamily="34" charset="-122"/>
                <a:cs typeface="Calibri" pitchFamily="34" charset="-120"/>
              </a:rPr>
              <a:t>What High-RE delivers, at World and in every region.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RESULT — THE WHOLE GRID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All 60 comparisons on one panel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FIGURE F1</a:t>
            </a:r>
            <a:endParaRPr lang="en-US" sz="900" dirty="0"/>
          </a:p>
        </p:txBody>
      </p:sp>
      <p:sp>
        <p:nvSpPr>
          <p:cNvPr id="6" name="Shape 4"/>
          <p:cNvSpPr/>
          <p:nvPr/>
        </p:nvSpPr>
        <p:spPr>
          <a:xfrm>
            <a:off x="566928" y="1298448"/>
            <a:ext cx="11064240" cy="18288"/>
          </a:xfrm>
          <a:prstGeom prst="rect">
            <a:avLst/>
          </a:prstGeom>
          <a:solidFill>
            <a:srgbClr val="D9E1E8"/>
          </a:solidFill>
          <a:ln/>
        </p:spPr>
      </p:sp>
      <p:pic>
        <p:nvPicPr>
          <p:cNvPr id="7" name="Image 0" descr="paper1_analysis/figures_century/F1_scorecard.png">    </p:cNvPr>
          <p:cNvPicPr>
            <a:picLocks noChangeAspect="1"/>
          </p:cNvPicPr>
          <p:nvPr/>
        </p:nvPicPr>
        <p:blipFill>
          <a:blip r:embed="rId1"/>
          <a:stretch>
            <a:fillRect/>
          </a:stretch>
        </p:blipFill>
        <p:spPr>
          <a:xfrm>
            <a:off x="2575966" y="1536192"/>
            <a:ext cx="7046165"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indent="0" marL="0">
              <a:buNone/>
            </a:pPr>
            <a:r>
              <a:rPr lang="en-US" sz="1150" b="1" dirty="0">
                <a:solidFill>
                  <a:srgbClr val="1F2A36"/>
                </a:solidFill>
                <a:latin typeface="Calibri" pitchFamily="34" charset="0"/>
                <a:ea typeface="Calibri" pitchFamily="34" charset="-122"/>
                <a:cs typeface="Calibri" pitchFamily="34" charset="-120"/>
              </a:rPr>
              <a:t>Every region × ambition × outcome cell, coloured by direction, with the saturated fill marking the cells whose interval clears zero.</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The jobs column is solid: twenty of twenty, all significant. Deprivation clears in eleven cells and mortality in five, with reversals in both — the unevenness is the paper's actual finding rather than a weakness in it. Pacific OECD is excluded from the regional rows and retained inside the World aggregate.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RESULT — REGIONS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Energy jobs: job-years per 1,000 people, 2020–2100</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20 / 20</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2487168" y="1371600"/>
            <a:ext cx="4480560" cy="219456"/>
          </a:xfrm>
          <a:prstGeom prst="rect">
            <a:avLst/>
          </a:prstGeom>
          <a:noFill/>
          <a:ln/>
        </p:spPr>
        <p:txBody>
          <a:bodyPr wrap="square" rtlCol="0" anchor="ctr"/>
          <a:lstStyle/>
          <a:p>
            <a:pPr algn="ctr" indent="0" marL="0">
              <a:buNone/>
            </a:pPr>
            <a:r>
              <a:rPr lang="en-US" sz="950" b="1" spc="130" kern="0" dirty="0">
                <a:solidFill>
                  <a:srgbClr val="1C7293"/>
                </a:solidFill>
                <a:latin typeface="Calibri" pitchFamily="34" charset="0"/>
                <a:ea typeface="Calibri" pitchFamily="34" charset="-122"/>
                <a:cs typeface="Calibri" pitchFamily="34" charset="-120"/>
              </a:rPr>
              <a:t>1.5°C HIGH AMBITION</a:t>
            </a:r>
            <a:endParaRPr lang="en-US" sz="950" dirty="0"/>
          </a:p>
        </p:txBody>
      </p:sp>
      <p:sp>
        <p:nvSpPr>
          <p:cNvPr id="8" name="Text 6"/>
          <p:cNvSpPr/>
          <p:nvPr/>
        </p:nvSpPr>
        <p:spPr>
          <a:xfrm>
            <a:off x="7086600" y="1371600"/>
            <a:ext cx="4480560" cy="219456"/>
          </a:xfrm>
          <a:prstGeom prst="rect">
            <a:avLst/>
          </a:prstGeom>
          <a:noFill/>
          <a:ln/>
        </p:spPr>
        <p:txBody>
          <a:bodyPr wrap="square" rtlCol="0" anchor="ctr"/>
          <a:lstStyle/>
          <a:p>
            <a:pPr algn="ctr" indent="0" marL="0">
              <a:buNone/>
            </a:pPr>
            <a:r>
              <a:rPr lang="en-US" sz="950" b="1" spc="130" kern="0" dirty="0">
                <a:solidFill>
                  <a:srgbClr val="1C7293"/>
                </a:solidFill>
                <a:latin typeface="Calibri" pitchFamily="34" charset="0"/>
                <a:ea typeface="Calibri" pitchFamily="34" charset="-122"/>
                <a:cs typeface="Calibri" pitchFamily="34" charset="-120"/>
              </a:rPr>
              <a:t>2°C MEDIUM AMBITION</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64240" cy="914400"/>
        </p:xfrm>
        <a:graphic>
          <a:graphicData uri="http://schemas.openxmlformats.org/drawingml/2006/table">
            <a:tbl>
              <a:tblPr/>
              <a:tblGrid>
                <a:gridCol w="2286000"/>
                <a:gridCol w="1463040"/>
                <a:gridCol w="1463040"/>
                <a:gridCol w="1600200"/>
                <a:gridCol w="1463040"/>
                <a:gridCol w="1463040"/>
                <a:gridCol w="1600200"/>
              </a:tblGrid>
              <a:tr h="356616">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Region</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High-CDR</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Difference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High-CDR</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Difference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WORLD</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227.60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691.52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+463.9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186.50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471.15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+284.6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Africa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263.10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1043.61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+780.5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229.18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723.48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+494.3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China+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177.25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372.99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+195.7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129.51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266.25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+136.7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Europe</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65.91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171.10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+105.2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60.08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116.37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+56.3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India+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264.43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1007.64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+743.2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242.52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668.16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+425.6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Latin America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232.43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508.68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+276.2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178.72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372.57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+193.8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Middle East</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339.12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851.03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+511.9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153.83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549.95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+396.1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North America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140.29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328.29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+188.0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101.32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219.54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+118.2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Reforming econ.</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503.39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764.10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+260.7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383.21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605.37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+222.2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Rest of Asia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155.22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874.24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+719.0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129.18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543.04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+413.9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10" name="Text 7"/>
          <p:cNvSpPr/>
          <p:nvPr/>
        </p:nvSpPr>
        <p:spPr>
          <a:xfrm>
            <a:off x="566928" y="5989320"/>
            <a:ext cx="11064240" cy="64008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 clears a cluster-robust 95% interval on the raw difference. EVERY cell favours High-RE and EVERY cell clears the interval — the only outcome in the study of which that is true. Pacific OECD is excluded from these rows (+37.6 at 1.5°C, +22.6 at 2°C, neither significant) and retained in the World aggregate.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19</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RESULT — REGIONS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Energy deprivation: decent-living gap, GJ per capita</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14 / 20</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2487168" y="1371600"/>
            <a:ext cx="4480560" cy="219456"/>
          </a:xfrm>
          <a:prstGeom prst="rect">
            <a:avLst/>
          </a:prstGeom>
          <a:noFill/>
          <a:ln/>
        </p:spPr>
        <p:txBody>
          <a:bodyPr wrap="square" rtlCol="0" anchor="ctr"/>
          <a:lstStyle/>
          <a:p>
            <a:pPr algn="ctr" indent="0" marL="0">
              <a:buNone/>
            </a:pPr>
            <a:r>
              <a:rPr lang="en-US" sz="950" b="1" spc="130" kern="0" dirty="0">
                <a:solidFill>
                  <a:srgbClr val="1C7293"/>
                </a:solidFill>
                <a:latin typeface="Calibri" pitchFamily="34" charset="0"/>
                <a:ea typeface="Calibri" pitchFamily="34" charset="-122"/>
                <a:cs typeface="Calibri" pitchFamily="34" charset="-120"/>
              </a:rPr>
              <a:t>1.5°C HIGH AMBITION</a:t>
            </a:r>
            <a:endParaRPr lang="en-US" sz="950" dirty="0"/>
          </a:p>
        </p:txBody>
      </p:sp>
      <p:sp>
        <p:nvSpPr>
          <p:cNvPr id="8" name="Text 6"/>
          <p:cNvSpPr/>
          <p:nvPr/>
        </p:nvSpPr>
        <p:spPr>
          <a:xfrm>
            <a:off x="7086600" y="1371600"/>
            <a:ext cx="4480560" cy="219456"/>
          </a:xfrm>
          <a:prstGeom prst="rect">
            <a:avLst/>
          </a:prstGeom>
          <a:noFill/>
          <a:ln/>
        </p:spPr>
        <p:txBody>
          <a:bodyPr wrap="square" rtlCol="0" anchor="ctr"/>
          <a:lstStyle/>
          <a:p>
            <a:pPr algn="ctr" indent="0" marL="0">
              <a:buNone/>
            </a:pPr>
            <a:r>
              <a:rPr lang="en-US" sz="950" b="1" spc="130" kern="0" dirty="0">
                <a:solidFill>
                  <a:srgbClr val="1C7293"/>
                </a:solidFill>
                <a:latin typeface="Calibri" pitchFamily="34" charset="0"/>
                <a:ea typeface="Calibri" pitchFamily="34" charset="-122"/>
                <a:cs typeface="Calibri" pitchFamily="34" charset="-120"/>
              </a:rPr>
              <a:t>2°C MEDIUM AMBITION</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64240" cy="914400"/>
        </p:xfrm>
        <a:graphic>
          <a:graphicData uri="http://schemas.openxmlformats.org/drawingml/2006/table">
            <a:tbl>
              <a:tblPr/>
              <a:tblGrid>
                <a:gridCol w="2286000"/>
                <a:gridCol w="1463040"/>
                <a:gridCol w="1463040"/>
                <a:gridCol w="1600200"/>
                <a:gridCol w="1463040"/>
                <a:gridCol w="1463040"/>
                <a:gridCol w="1600200"/>
              </a:tblGrid>
              <a:tr h="356616">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Region</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High-CDR</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Gap closed</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High-CDR</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Gap closed</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WORLD</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18.43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11.62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-6.81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15.46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11.37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-4.09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Africa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67.27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42.51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-24.76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64.88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41.84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-23.04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China+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0.80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-0.40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0.83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0.67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-0.16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Europe</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6.21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2.65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-3.56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3.46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2.64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-0.82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India+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0.47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-0.88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1.08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-0.64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Latin America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61.80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37.38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-24.42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51.20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38.97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-12.22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Middle East</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1.83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2.43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0.94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2.24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A33A3A"/>
                          </a:solidFill>
                          <a:latin typeface="Calibri" pitchFamily="34" charset="0"/>
                          <a:ea typeface="Calibri" pitchFamily="34" charset="-122"/>
                          <a:cs typeface="Calibri" pitchFamily="34" charset="-120"/>
                        </a:rPr>
                        <a:t>+1.31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North America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10.26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7.62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-2.64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7.19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8.06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+0.88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Reforming econ.</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1.55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1.37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1.42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+0.06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Rest of Asia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4.28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8.06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+3.78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3.62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7.06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A33A3A"/>
                          </a:solidFill>
                          <a:latin typeface="Calibri" pitchFamily="34" charset="0"/>
                          <a:ea typeface="Calibri" pitchFamily="34" charset="-122"/>
                          <a:cs typeface="Calibri" pitchFamily="34" charset="-120"/>
                        </a:rPr>
                        <a:t>+3.44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10" name="Text 7"/>
          <p:cNvSpPr/>
          <p:nvPr/>
        </p:nvSpPr>
        <p:spPr>
          <a:xfrm>
            <a:off x="566928" y="5989320"/>
            <a:ext cx="11064240" cy="64008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Negative closes the gap and favours High-RE. Eleven of twenty cells clear, up from six on the engineered axis. Africa and Latin America carry the largest absolute movements; Latin America clears at both levels and Africa only at 1.5°C. Rest of Asia reverses significantly at 2°C and the Middle East at 2°C.</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20</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RESULT — REGIONS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PM2.5 mortality: million cumulative deaths, 2020–2100</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8 / 20</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2487168" y="1371600"/>
            <a:ext cx="4480560" cy="219456"/>
          </a:xfrm>
          <a:prstGeom prst="rect">
            <a:avLst/>
          </a:prstGeom>
          <a:noFill/>
          <a:ln/>
        </p:spPr>
        <p:txBody>
          <a:bodyPr wrap="square" rtlCol="0" anchor="ctr"/>
          <a:lstStyle/>
          <a:p>
            <a:pPr algn="ctr" indent="0" marL="0">
              <a:buNone/>
            </a:pPr>
            <a:r>
              <a:rPr lang="en-US" sz="950" b="1" spc="130" kern="0" dirty="0">
                <a:solidFill>
                  <a:srgbClr val="1C7293"/>
                </a:solidFill>
                <a:latin typeface="Calibri" pitchFamily="34" charset="0"/>
                <a:ea typeface="Calibri" pitchFamily="34" charset="-122"/>
                <a:cs typeface="Calibri" pitchFamily="34" charset="-120"/>
              </a:rPr>
              <a:t>1.5°C HIGH AMBITION</a:t>
            </a:r>
            <a:endParaRPr lang="en-US" sz="950" dirty="0"/>
          </a:p>
        </p:txBody>
      </p:sp>
      <p:sp>
        <p:nvSpPr>
          <p:cNvPr id="8" name="Text 6"/>
          <p:cNvSpPr/>
          <p:nvPr/>
        </p:nvSpPr>
        <p:spPr>
          <a:xfrm>
            <a:off x="7086600" y="1371600"/>
            <a:ext cx="4480560" cy="219456"/>
          </a:xfrm>
          <a:prstGeom prst="rect">
            <a:avLst/>
          </a:prstGeom>
          <a:noFill/>
          <a:ln/>
        </p:spPr>
        <p:txBody>
          <a:bodyPr wrap="square" rtlCol="0" anchor="ctr"/>
          <a:lstStyle/>
          <a:p>
            <a:pPr algn="ctr" indent="0" marL="0">
              <a:buNone/>
            </a:pPr>
            <a:r>
              <a:rPr lang="en-US" sz="950" b="1" spc="130" kern="0" dirty="0">
                <a:solidFill>
                  <a:srgbClr val="1C7293"/>
                </a:solidFill>
                <a:latin typeface="Calibri" pitchFamily="34" charset="0"/>
                <a:ea typeface="Calibri" pitchFamily="34" charset="-122"/>
                <a:cs typeface="Calibri" pitchFamily="34" charset="-120"/>
              </a:rPr>
              <a:t>2°C MEDIUM AMBITION</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64240" cy="914400"/>
        </p:xfrm>
        <a:graphic>
          <a:graphicData uri="http://schemas.openxmlformats.org/drawingml/2006/table">
            <a:tbl>
              <a:tblPr/>
              <a:tblGrid>
                <a:gridCol w="2286000"/>
                <a:gridCol w="1463040"/>
                <a:gridCol w="1463040"/>
                <a:gridCol w="1600200"/>
                <a:gridCol w="1463040"/>
                <a:gridCol w="1463040"/>
                <a:gridCol w="1600200"/>
              </a:tblGrid>
              <a:tr h="356616">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Region</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High-CDR</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Deaths avoided</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High-CDR</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00" b="1" dirty="0">
                          <a:solidFill>
                            <a:srgbClr val="5B6B7B"/>
                          </a:solidFill>
                          <a:latin typeface="Calibri" pitchFamily="34" charset="0"/>
                          <a:ea typeface="Calibri" pitchFamily="34" charset="-122"/>
                          <a:cs typeface="Calibri" pitchFamily="34" charset="-120"/>
                        </a:rPr>
                        <a:t>Deaths avoided</a:t>
                      </a:r>
                      <a:endParaRPr lang="en-US" sz="90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WORLD</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426.23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415.12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+11.11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433.60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437.88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-4.28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Africa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75.29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78.51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A33A3A"/>
                          </a:solidFill>
                          <a:latin typeface="Calibri" pitchFamily="34" charset="0"/>
                          <a:ea typeface="Calibri" pitchFamily="34" charset="-122"/>
                          <a:cs typeface="Calibri" pitchFamily="34" charset="-120"/>
                        </a:rPr>
                        <a:t>-3.22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76.28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78.70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A33A3A"/>
                          </a:solidFill>
                          <a:latin typeface="Calibri" pitchFamily="34" charset="0"/>
                          <a:ea typeface="Calibri" pitchFamily="34" charset="-122"/>
                          <a:cs typeface="Calibri" pitchFamily="34" charset="-120"/>
                        </a:rPr>
                        <a:t>-2.41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China+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79.07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77.37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+1.70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79.58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78.84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+0.74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Europe</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16.15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11.16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+4.99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14.89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11.23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+3.66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India+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112.91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104.60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+8.30</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114.35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116.34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Latin America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15.19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15.66</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-0.47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13.75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15.65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-1.89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Middle East</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46.15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46.24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-0.09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43.78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46.61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-2.83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North America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7.47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8.92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-1.45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6.79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8.93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-2.13</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Reforming econ.</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13.97</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13.08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+0.88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14.14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13.25</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B7A4B"/>
                          </a:solidFill>
                          <a:latin typeface="Calibri" pitchFamily="34" charset="0"/>
                          <a:ea typeface="Calibri" pitchFamily="34" charset="-122"/>
                          <a:cs typeface="Calibri" pitchFamily="34" charset="-120"/>
                        </a:rPr>
                        <a:t>+0.89 ●</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356616">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Rest of Asia</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55.38</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56.11</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-0.74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57.89</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1F2A36"/>
                          </a:solidFill>
                          <a:latin typeface="Calibri" pitchFamily="34" charset="0"/>
                          <a:ea typeface="Calibri" pitchFamily="34" charset="-122"/>
                          <a:cs typeface="Calibri" pitchFamily="34" charset="-120"/>
                        </a:rPr>
                        <a:t>57.92</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050" dirty="0">
                          <a:solidFill>
                            <a:srgbClr val="5B6B7B"/>
                          </a:solidFill>
                          <a:latin typeface="Calibri" pitchFamily="34" charset="0"/>
                          <a:ea typeface="Calibri" pitchFamily="34" charset="-122"/>
                          <a:cs typeface="Calibri" pitchFamily="34" charset="-120"/>
                        </a:rPr>
                        <a:t>-0.04</a:t>
                      </a:r>
                      <a:endParaRPr lang="en-US" sz="105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10" name="Text 7"/>
          <p:cNvSpPr/>
          <p:nvPr/>
        </p:nvSpPr>
        <p:spPr>
          <a:xfrm>
            <a:off x="566928" y="5989320"/>
            <a:ext cx="11064240" cy="64008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Positive means High-RE avoids deaths. EUROPE CARRIES THE WORLD RESULT: 4.99 and 3.66 million avoided, significant at both levels, on a base of about 16 million — a 31% reduction, the largest proportional effect anywhere. Africa goes significantly the other way at both levels. Twelve of twenty cells straddle zero. Pacific OECD (+1.70, +1.91, both significant) is excluded from these rows.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RESULT — WORLD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The three World cells, with their intervals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FIGURE F2</a:t>
            </a:r>
            <a:endParaRPr lang="en-US" sz="900" dirty="0"/>
          </a:p>
        </p:txBody>
      </p:sp>
      <p:sp>
        <p:nvSpPr>
          <p:cNvPr id="6" name="Shape 4"/>
          <p:cNvSpPr/>
          <p:nvPr/>
        </p:nvSpPr>
        <p:spPr>
          <a:xfrm>
            <a:off x="566928" y="1298448"/>
            <a:ext cx="11064240" cy="18288"/>
          </a:xfrm>
          <a:prstGeom prst="rect">
            <a:avLst/>
          </a:prstGeom>
          <a:solidFill>
            <a:srgbClr val="D9E1E8"/>
          </a:solidFill>
          <a:ln/>
        </p:spPr>
      </p:sp>
      <p:pic>
        <p:nvPicPr>
          <p:cNvPr id="7" name="Image 0" descr="paper1_analysis/figures_century/F2_world.png">    </p:cNvPr>
          <p:cNvPicPr>
            <a:picLocks noChangeAspect="1"/>
          </p:cNvPicPr>
          <p:nvPr/>
        </p:nvPicPr>
        <p:blipFill>
          <a:blip r:embed="rId1"/>
          <a:stretch>
            <a:fillRect/>
          </a:stretch>
        </p:blipFill>
        <p:spPr>
          <a:xfrm>
            <a:off x="1274875" y="1536192"/>
            <a:ext cx="9648345"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indent="0" marL="0">
              <a:buNone/>
            </a:pPr>
            <a:r>
              <a:rPr lang="en-US" sz="1150" b="1" dirty="0">
                <a:solidFill>
                  <a:srgbClr val="1F2A36"/>
                </a:solidFill>
                <a:latin typeface="Calibri" pitchFamily="34" charset="0"/>
                <a:ea typeface="Calibri" pitchFamily="34" charset="-122"/>
                <a:cs typeface="Calibri" pitchFamily="34" charset="-120"/>
              </a:rPr>
              <a:t>Jobs clears by a wide margin at both ambition levels; deprivation and mortality clear at 1.5°C only.</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Each bar is the raw difference in medians with a 2,000-replicate cluster bootstrap over 290 model × scenario-family clusters. Four of the six World cells clear, and all four favour High-RE.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RESULT — THE SCORECARD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Every design, side by side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42 / 60</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4023360"/>
                <a:gridCol w="1463040"/>
                <a:gridCol w="2011680"/>
                <a:gridCol w="1828800"/>
                <a:gridCol w="1737360"/>
              </a:tblGrid>
              <a:tr h="256032">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Design</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Cells</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Favour High-RE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Significant for</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Significant against</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Full database · 1.5°C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Full database · 2°C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SCI-vetted · 1.5°C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SCI-vetted · 2°C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C7293"/>
                          </a:solidFill>
                          <a:latin typeface="Calibri" pitchFamily="34" charset="0"/>
                          <a:ea typeface="Calibri" pitchFamily="34" charset="-122"/>
                          <a:cs typeface="Calibri" pitchFamily="34" charset="-120"/>
                        </a:rPr>
                        <a:t>BY FAMILY — full database, both levels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  Energy jobs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  Energy deprivation</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  PM2.5 mortality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  TOTAL</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5B6B7B"/>
                          </a:solidFill>
                          <a:latin typeface="Calibri" pitchFamily="34" charset="0"/>
                          <a:ea typeface="Calibri" pitchFamily="34" charset="-122"/>
                          <a:cs typeface="Calibri" pitchFamily="34" charset="-120"/>
                        </a:rPr>
                        <a:t>ENGINEERED-ONLY AXIS (the sensitivity)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Nine regions plus World, primary measure per family. The two axes trade off against each other: the engineered-only axis favours High-RE in slightly MORE cells (44) but clears the interval in FEWER (32 against 36). The SCI-vetted rows run on six scenarios per arm at 1.5°C and should not be quoted as the strongest result — they score highest because they are smallest. Its labels also differ from the published ones by seven scenarios, so treat that row as indicative.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indent="0" marL="0">
              <a:buNone/>
            </a:pPr>
            <a:r>
              <a:rPr lang="en-US" sz="1200" b="1" spc="220" kern="0" dirty="0">
                <a:solidFill>
                  <a:srgbClr val="7FB3C8"/>
                </a:solidFill>
                <a:latin typeface="Calibri" pitchFamily="34" charset="0"/>
                <a:ea typeface="Calibri" pitchFamily="34" charset="-122"/>
                <a:cs typeface="Calibri" pitchFamily="34" charset="-120"/>
              </a:rPr>
              <a:t>PART FOUR</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Why — mechanism and real world</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indent="0" marL="0">
              <a:lnSpc>
                <a:spcPts val="2200"/>
              </a:lnSpc>
              <a:buNone/>
            </a:pPr>
            <a:r>
              <a:rPr lang="en-US" sz="1400" dirty="0">
                <a:solidFill>
                  <a:srgbClr val="C7D6E0"/>
                </a:solidFill>
                <a:latin typeface="Calibri" pitchFamily="34" charset="0"/>
                <a:ea typeface="Calibri" pitchFamily="34" charset="-122"/>
                <a:cs typeface="Calibri" pitchFamily="34" charset="-120"/>
              </a:rPr>
              <a:t>Why these results, given how the outcomes are built and how energy systems work.</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MECHANISM — JOBS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Where the employment gap comes from, and what High-CDR wins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1.5°C, WORLD</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194560"/>
                <a:gridCol w="1371600"/>
                <a:gridCol w="1371600"/>
                <a:gridCol w="1371600"/>
                <a:gridCol w="4754880"/>
              </a:tblGrid>
              <a:tr h="256032">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Technology group</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High-CDR</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High-RE</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Gap</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Reading</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Renewables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252.3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703.7</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+451.4</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The entire result — wind and solar construction, manufacturing and O&amp;M</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Fossil</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33.6</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11.3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2F79BF"/>
                          </a:solidFill>
                          <a:latin typeface="Calibri" pitchFamily="34" charset="0"/>
                          <a:ea typeface="Calibri" pitchFamily="34" charset="-122"/>
                          <a:cs typeface="Calibri" pitchFamily="34" charset="-120"/>
                        </a:rPr>
                        <a:t>−22.3</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The largest single loss. Fossil CCS extends the fuel supply chain — the mine and the well keep running</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Nuclear</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26.2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16.1</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2F79BF"/>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High-CDR leans on firm low-carbon capacity that High-RE displaces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Bioenergy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16.4</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2F79BF"/>
                          </a:solidFill>
                          <a:latin typeface="Calibri" pitchFamily="34" charset="0"/>
                          <a:ea typeface="Calibri" pitchFamily="34" charset="-122"/>
                          <a:cs typeface="Calibri" pitchFamily="34" charset="-120"/>
                        </a:rPr>
                        <a:t>−9.9</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BECCS and land-based removal carry a biomass supply workforce</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NET</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227.60</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691.52</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+463.9</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Renewables outweigh all three losses combined by 11 to 1</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Job-years per 1,000 people, cumulative 2020–2100, medians over the scenarios with complete ten-region coverage. THE MECHANISM IS UNAMBIGUOUS: High-CDR wins fossil, nuclear and bioenergy employment combined (−42.3) and still loses by 464, because the renewable build is 2.8 times larger. This also answers the obvious objection — the result is NOT an artefact of counting fossil job destruction, because High-CDR retains more fossil, nuclear AND biomass work and loses anyway.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WHY — WORLD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The jobs mechanism is an engineering fact, not a modelling artefact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WORLD</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LABOUR INTENSITY PER UNIT OF CAPACITY IS HIGHER FOR BUILDING THAN FOR FUELLING. A gas turbine with capture needs a fuel supply chain and a handful of operators; an equivalent wind or solar build needs factories, foundations, cabling and installation crews. Over 2020–2100 the renewable term is 704 job-years per 1,000 against 252 — 2.8 times larger — and that single term carries the entire result.</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CARBON REMOVAL IS CAPITAL-INTENSIVE AND LABOUR-SPARING BY DESIGN. Its appeal is that it lets the existing energy system keep running with a bolt-on. That is exactly why it employs fewer people: the point of the technology is to avoid rebuilding the system, and rebuilding the system is where the work is. Land-based removal is more labour-sparing still in ENERGY terms — its work is in land management, which this outcome set does not count.</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THREE THINGS HIGH-CDR WINS ARE REAL AND WORTH NAMING. Fossil (+22), nuclear (+10) and bioenergy (+10) all favour it. These are not trivial jobs — fossil extraction is regionally concentrated, nuclear is high-skill and unionised, biomass supply is rural. A just-transition argument has to engage with all three, and the paper should say so rather than reporting only the net.</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REAL-WORLD EVIDENCE POINTS THE SAME WAY. Observed employment per GW installed in solar PV and onshore wind exceeds that of new thermal capacity in essentially every published national accounting, and the gap is widest in the build phase. The models are reproducing something already visible in labour statistics.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WHY — WORLD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Why the deprivation result now clears at high ambition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WORLD</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MECHANISM IS DELIVERED FINAL ENERGY. The gap is max(0, threshold − actual) applied per sector and truncated at zero, so a pathway closes it by delivering more usable energy to the sectors that fall short. High-RE closes the World gap from 18.43 to 11.62 GJ per capita at 1.5°C — a 37% reduction, and the interval clears zero at [+1.72, +9.73].</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WHY IT CLEARS NOW AND DID NOT BEFORE. Two things changed and both added scenarios rather than changing any value. Repairing the mangled scenario keys returned 71 classified scenarios that a text-encoding mismatch had silently dropped, and the all-CDR axis admits 80 more. Deprivation is the outcome with the widest between-model spread, so it is the one most starved by a smaller sample — the point estimate barely moved; the interval tightened.</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IT IS STILL A REGIONALLY SPLIT RESULT. Latin America (−24.4), Africa (−24.8), Europe (−3.6), North America (−2.6), India+ (−0.9) and China+ (−0.4) all clear at 1.5°C. Rest of Asia (+3.8 at 1.5°C, +3.4 at 2°C) and the Middle East (+1.3 at 2°C) push the other way, the latter two significantly. That is a genuine split, not a weak global effect.</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AND IT DOES NOT HOLD AT 2°C. The World cell is −4.09 [−0.56, +7.75] — large, correctly signed, and not significant. Report deprivation as holding at high ambition and as regionally split at medium ambition; that is more honest and more useful than a single global claim.</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WHY — WORLD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Why mortality clears at 1.5°C, and why Europe carries it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WORLD</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INPUT RULE IS WHAT MADE MORTALITY REPORTABLE AT ALL. Requiring all five PM2.5 precursors to be reported directly at R10 removes the ammonia asymmetry at source. In the previous round REMIND reported almost no agricultural ammonia while other models reported 6–12%, flattering High-RE by roughly 9%. Scenarios that cannot support the calculation are now dropped rather than filled.</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EUROPE IS THE RESULT. 4.99 million cumulative deaths avoided at 1.5°C and 3.66 million at 2°C, both significant, on a base of about 16 million — a 31% reduction, the largest proportional mortality effect of any region. Europe's population lives densely and close to its combustion sources, so a given reduction in primary PM and precursors buys more avoided exposure there than almost anywhere.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WORLD RESULT IS SIGNIFICANT AT 1.5°C AND NOT AT 2°C — 11.11 million avoided [+3.82, +50.40] against −4.28 [−20.6, +35.9]. That asymmetry is consistent with the mechanism: at higher ambition the two arms differ more in how much combustion remains, so the air-quality consequence is larger.</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AND AFRICA GOES THE OTHER WAY, SIGNIFICANTLY, AT BOTH LEVELS — 3.2 and 2.4 million more deaths under High-RE. This is the study's most uncomfortable cell and it should be reported prominently. African PM2.5 is dominated by residential solid fuel and windblown dust, which the power-sector mix does not control; a pathway that builds generation without displacing household solid fuel does not buy clean air there. Twelve of twenty cells still straddle zero, so there is no universal air-quality co-benefit to claim.</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indent="0" marL="0">
              <a:buNone/>
            </a:pPr>
            <a:r>
              <a:rPr lang="en-US" sz="1200" b="1" spc="220" kern="0" dirty="0">
                <a:solidFill>
                  <a:srgbClr val="7FB3C8"/>
                </a:solidFill>
                <a:latin typeface="Calibri" pitchFamily="34" charset="0"/>
                <a:ea typeface="Calibri" pitchFamily="34" charset="-122"/>
                <a:cs typeface="Calibri" pitchFamily="34" charset="-120"/>
              </a:rPr>
              <a:t>PART FIVE</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Why — region by region</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indent="0" marL="0">
              <a:lnSpc>
                <a:spcPts val="2200"/>
              </a:lnSpc>
              <a:buNone/>
            </a:pPr>
            <a:r>
              <a:rPr lang="en-US" sz="1400" dirty="0">
                <a:solidFill>
                  <a:srgbClr val="C7D6E0"/>
                </a:solidFill>
                <a:latin typeface="Calibri" pitchFamily="34" charset="0"/>
                <a:ea typeface="Calibri" pitchFamily="34" charset="-122"/>
                <a:cs typeface="Calibri" pitchFamily="34" charset="-120"/>
              </a:rPr>
              <a:t>Each region's own mechanism, and its real-world reading.</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29</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India+ — the largest employment prize in the study</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B7A4B"/>
                </a:solidFill>
                <a:latin typeface="Calibri" pitchFamily="34" charset="0"/>
                <a:ea typeface="Calibri" pitchFamily="34" charset="-122"/>
                <a:cs typeface="Calibri" pitchFamily="34" charset="-120"/>
              </a:rPr>
              <a:t>3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264.4 → 1007.6 · 242.5 → 668.2</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1.35 → 0.47 · 1.08 → 0.44</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112.9 v 104.6 · 114.3 v 116.3</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MULTIPLE</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3.8× · 2.8×</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BOTH LEVELS</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significant</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BASELINE PM2.5 BURDEN</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113–116 m deaths</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1.5°C</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+8.3 m, not significant</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India+ shows the second-largest absolute jobs gap of any region (+743 job-years per 1,000 at 1.5°C) on top of an already-high High-CDR base — the renewable build is 3.8 times larger, not merely additive. Its decent-living threshold is the lowest anywhere at 10 GJ/cap, so the small absolute deprivation gap (0.47 GJ/cap under High-RE) still clears the interval at BOTH ambition levels, which India+, China+, Europe and Latin America all now manage.</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India's power build is genuinely greenfield: there is no large stranded workforce to displace and the solar manufacturing base is being built now rather than defended. The carbon-removal alternative here means coal or gas with capture, which locks in both the mine and the import bill. India+ also carries the largest absolute PM2.5 burden of any region at 113–116 million cumulative deaths, so even a non-significant 8.3 million avoided at 1.5°C is a large number in human terms.</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The mortality cells do not clear at either level and the sign flips between them, so India+ supports the jobs and deprivation claims but not an air-quality claim.</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30</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Europe — the only region where all three outcomes hold</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B7A4B"/>
                </a:solidFill>
                <a:latin typeface="Calibri" pitchFamily="34" charset="0"/>
                <a:ea typeface="Calibri" pitchFamily="34" charset="-122"/>
                <a:cs typeface="Calibri" pitchFamily="34" charset="-120"/>
              </a:rPr>
              <a:t>3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65.9 → 171.1 · 60.1 → 116.4</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6.21 → 2.65 · 3.46 → 2.64</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16.2 v 11.2 · 14.9 v 11.2</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REDUCTION</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31% · 25%</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ALL THREE OUTCOMES</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significant at 1.5°C</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SMALLEST ABSOLUTE GAP</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+105 · +56</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BOTH LEVELS</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significant</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Europe has the SMALLEST absolute jobs gap of any region (+105 job-years per 1,000) because its build is small relative to its incumbent system — and it still clears the interval at both levels. Its distinguishing result is mortality: 4.99 and 3.66 million cumulative deaths avoided on a base of about 16 million, a 31% and 25% reduction. That is the largest proportional air-quality effect anywhere and the only mortality result significant at both ambition levels.</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Europe's population lives densely and close to its combustion sources, so a given reduction in primary PM and precursors buys more avoided exposure than almost anywhere else. It is also the region where the reporting-complete rule bites least — European models report the full precursor set — so the mortality estimate rests on comparatively solid input data. Europe is the region to lead with when the audience is air-quality policy.</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Europe is the ONLY region where all three outcomes clear at 1.5°C, and it is the natural anchor for the paper's three-outcome claim.</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Africa — the largest jobs gap, and the study's hardest cell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2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263.1 → 1043.6 · 229.2 → 723.5</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67.3 → 42.5 · 64.9 → 41.8</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75.3 v 78.5 · 76.3 v 78.7</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MULTIPLE</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4.0× · 3.2×</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1.5°C</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−24.8, significant</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BASELINE DEPRIVATION GAP</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65–67 GJ/cap</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BOTH LEVELS</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significantly AGAINST</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Africa has the largest jobs gap in the study by a wide margin: +781 job-years per 1,000 at 1.5°C, because there is almost nothing to retire and everything to build. Its deprivation baseline is also by far the worst — a 65–67 GJ/cap shortfall against a 17 GJ/cap threshold — and High-RE closes 23–25 GJ/cap of it, which NOW CLEARS at 1.5°C on the larger sample, though not at 2°C. But mortality goes significantly the other way at BOTH ambition levels: 3.2 and 2.4 million more deaths.</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Africa is where the wellbeing stakes are highest and the three outcomes disagree most sharply. The mortality reversal is the important finding and it has a clear mechanism: African PM2.5 is dominated by residential solid fuel and windblown dust, not the power mix, so a pathway that builds generation without displacing household cooking fuel does not buy clean air. It may even shift exposure, because the build itself is dusty and the displaced capacity was never the binding source.</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The paper should report Africa's mortality cell prominently rather than treating it as noise. It is the clearest evidence that the air-quality co-benefit is not universal and depends on what actually dominates local exposure.</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Latin America — the most complete deprivation result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B7A4B"/>
                </a:solidFill>
                <a:latin typeface="Calibri" pitchFamily="34" charset="0"/>
                <a:ea typeface="Calibri" pitchFamily="34" charset="-122"/>
                <a:cs typeface="Calibri" pitchFamily="34" charset="-120"/>
              </a:rPr>
              <a:t>2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232.4 → 508.7 · 178.7 → 372.6</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61.8 → 37.4 · 51.2 → 39.0</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15.2 v 15.7 · 13.8 v 15.7</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BOTH LEVELS</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significant</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GAP CLOSED 1.5°C</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−24.4 GJ/cap</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BASELINE DEPRIVATION GAP</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51–62 GJ/cap</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LAND CDR</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1C7293"/>
                </a:solidFill>
                <a:latin typeface="Calibri" pitchFamily="34" charset="0"/>
                <a:ea typeface="Calibri" pitchFamily="34" charset="-122"/>
                <a:cs typeface="Calibri" pitchFamily="34" charset="-120"/>
              </a:rPr>
              <a:t>now INSIDE the axis</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Latin America closes the largest deprivation gap that clears at both ambition levels: −24.4 GJ/cap at 1.5°C and −12.2 at 2°C. Its models agree, so the result is both large and precise. Jobs is solid (+276 and +194) though not among the largest multiples, because Latin America already has a substantial renewable base and the incremental build is smaller in relative terms.</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This region is the one most affected by the axis decision. Under an engineered-only axis, Latin American carbon management is largely INVISIBLE — its removal is overwhelmingly land-based, afforestation and soil carbon — so an engineered axis scores the region on an intervention it barely uses. Putting land back in makes Latin America a genuine High-CDR region for the first time, which is the single strongest argument for the all-CDR axis being the right primary specification.</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Mortality is mildly negative at both levels and clears at neither. Latin America's PM2.5 base is small (14–16 million) so there is little room for the power mix to move it.</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Middle East — jobs yes, energy access no</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1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339.1 → 851.0 · 153.8 → 550.0</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1.83 → 2.43 · 0.94 → 2.24</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46.2 v 46.2 · 43.8 v 46.6</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MULTIPLE</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2.5× · 3.6×</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2°C</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significantly AGAINST</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1.5°C</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−0.60 against, not significant</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BASELINE PM2.5</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44–47 m deaths</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The Middle East has one of the largest jobs multiples in the study (3.6× at 2°C) and is the region where deprivation most clearly reverses — the gap WIDENS from 0.94 to 2.24 GJ/cap at 2°C, significantly. Those two facts sit together because the region starts from an unusually low renewable share and an unusually high per-capita energy base: building renewables creates a great deal of work while the delivered-energy trajectory under High-RE falls short of what the carbon-removal pathways sustain.</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For the Gulf, carbon management is not a climate policy bolted onto the economy — it IS the economy. Fossil CCS lets hydrocarbon production and export continue while the emissions are captured. High-RE means abandoning the export base, and the models reflect the domestic energy consequence of doing so. This is the clearest case in the study where the wellbeing comparison and the political-economy reality point in genuinely different directions.</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On the wider CDR axis the 1.5°C deprivation cell no longer clears (−0.60, not significant) where it did on the engineered axis, so the reversal is now a 2°C finding rather than a universal one.</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China+ — solid on both, quiet on health</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B7A4B"/>
                </a:solidFill>
                <a:latin typeface="Calibri" pitchFamily="34" charset="0"/>
                <a:ea typeface="Calibri" pitchFamily="34" charset="-122"/>
                <a:cs typeface="Calibri" pitchFamily="34" charset="-120"/>
              </a:rPr>
              <a:t>2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177.3 → 373.0 · 129.5 → 266.3</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1.20 → 0.80 · 0.83 → 0.67</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79.1 v 77.4 · 79.6 v 78.8</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MULTIPLE</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2.1× · 2.1×</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BOTH LEVELS</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significant</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SMALLEST JOBS MULTIPLE</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2.1×</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BASELINE PM2.5</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79–80 m deaths</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China+ shows the SMALLEST jobs multiple of any region at 2.1× — but on a large base, so the absolute gap (+196 and +137 job-years per 1,000) still clears the interval comfortably at both levels. The modest multiple reflects that China's High-CDR pathways already involve a very large build; the two arms differ less in whether they construct than in what they construct. Deprivation now clears at BOTH ambition levels on the larger sample.</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China+ carries the second-largest absolute PM2.5 burden in the study (79–80 million cumulative deaths) and the mortality difference between arms is small and not significant in either direction. The plausible reason is that Chinese PM2.5 is heavily influenced by agricultural ammonium nitrate and industrial process emissions that neither pathway addresses — the power-sector mix is not the binding constraint on Chinese air quality within this horizon.</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China+ is a reliable contributor to the headline without being the story anywhere: two of three outcomes clear at both levels, and the third is a genuine null.</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Rest of Asia — the largest multiple, and a deprivation reversal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1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155.2 → 874.2 · 129.2 → 543.0</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4.28 → 8.06 · 3.62 → 7.06</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55.4 v 56.1 · 57.9 v 57.9</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MULTIPLE</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5.6× · 4.2×</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LARGEST MULTIPLE IN THE STUDY</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5.6× at 1.5°C</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2°C</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+3.44, significantly against</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1.5°C</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+3.78, not significant</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Rest of Asia has the LARGEST jobs multiple anywhere — 5.6× at 1.5°C, from 155 to 874 job-years per 1,000 — for the same reason as Africa and India+: a very large remaining build against a small incumbent fleet. Deprivation goes the other way at both levels and clears at 2°C, making it one of only two regions where High-RE significantly WIDENS the decent-living gap.</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The region aggregates economies at very different stages — Indonesia, Vietnam, Thailand, the Philippines — so a single R10 label conceals more heterogeneity here than almost anywhere. The deprivation reversal is most plausibly a composition effect within the region rather than a coherent mechanism, and the paper should say so rather than construct a story for it.</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The jobs result is among the strongest in the study; the deprivation result is a genuine reversal at 2°C and should be reported as such.</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North America — jobs and access hold at high ambition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B7A4B"/>
                </a:solidFill>
                <a:latin typeface="Calibri" pitchFamily="34" charset="0"/>
                <a:ea typeface="Calibri" pitchFamily="34" charset="-122"/>
                <a:cs typeface="Calibri" pitchFamily="34" charset="-120"/>
              </a:rPr>
              <a:t>2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140.3 → 328.3 · 101.3 → 219.5</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10.26 → 7.62 · 7.19 → 8.06</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7.5 v 8.9 · 6.8 v 8.9</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MULTIPLE</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2.3× · 2.2×</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1.5°C</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−2.64, significant</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2°C</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+0.88, not significant</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SMALLEST PM2.5 BASE</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6.8–8.9 m deaths</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North America's jobs gap is solid and significant at both levels (+188 and +118) on a 2.2–2.3× multiple. Deprivation now CLEARS at 1.5°C (−2.64 GJ/cap) where on the engineered axis it went mildly the other way — one of the cells the wider axis and the repaired sample changed. At 2°C it reverts to a small non-significant widening. Mortality goes mildly against High-RE at both levels and clears at neither.</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North America has the highest incumbent nuclear capacity of any region, and the jobs decomposition shows nuclear employment favouring High-CDR globally by 10 job-years per 1,000 — a penalty concentrated in exactly this region. The deprivation reading needs care: at 37 GJ/cap North America has the highest decent-living threshold anywhere, so its residual gap measures how far a rich region sits from a demanding benchmark rather than energy poverty in the usual sense.</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The mortality base is the smallest of any region at 6.8–8.9 million, so there is very little room for the power mix to move it — the non-significant difference is what one would expect rather than a puzzle.</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Reforming economies — strong jobs, and a rare health signal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B7A4B"/>
                </a:solidFill>
                <a:latin typeface="Calibri" pitchFamily="34" charset="0"/>
                <a:ea typeface="Calibri" pitchFamily="34" charset="-122"/>
                <a:cs typeface="Calibri" pitchFamily="34" charset="-120"/>
              </a:rPr>
              <a:t>2 / 3</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503.4 → 764.1 · 383.2 → 605.4</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2.00 → 1.55 · 1.37 → 1.42</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14.0 v 13.1 · 14.1 v 13.3</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HIGHEST JOBS BASE ANYWHERE</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503 · 383</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BOTH LEVELS</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significant</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BOTH LEVELS</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significant</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flat, not significant</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Reforming economies carries the highest High-CDR jobs base of any region (503 job-years per 1,000 at 1.5°C) — a reflection of its very large incumbent energy workforce — and High-RE still adds +261 on top of it. It is also one of only three regions with a significant mortality result favouring High-RE, and on the all-CDR axis it now clears at BOTH ambition levels (+0.88 and +0.89 million avoided), alongside Europe and Pacific OECD.</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Russia and Central Asia hold the largest fossil fleet in the study, so this is the region where a transition looks most like a net industrial disruption. That the jobs result still clears comfortably — and that it does so while High-CDR retains more fossil, nuclear and biomass employment — is the strongest available evidence that the renewable build genuinely outweighs what it displaces rather than merely accounting it away.</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Deprivation is flat (−0.45 and +0.06, neither significant), which is what one would expect of a region already close to its decent-living threshold.</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A33A3A"/>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Pacific OECD — excluded from the regional rows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A33A3A"/>
                </a:solidFill>
                <a:latin typeface="Calibri" pitchFamily="34" charset="0"/>
                <a:ea typeface="Calibri" pitchFamily="34" charset="-122"/>
                <a:cs typeface="Calibri" pitchFamily="34" charset="-120"/>
              </a:rPr>
              <a:t>EXCLUDED</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Shape 5"/>
          <p:cNvSpPr/>
          <p:nvPr/>
        </p:nvSpPr>
        <p:spPr>
          <a:xfrm>
            <a:off x="566928" y="1481328"/>
            <a:ext cx="3310128" cy="4224528"/>
          </a:xfrm>
          <a:prstGeom prst="rect">
            <a:avLst/>
          </a:prstGeom>
          <a:solidFill>
            <a:srgbClr val="F1F5F9"/>
          </a:solidFill>
          <a:ln/>
        </p:spPr>
      </p:sp>
      <p:sp>
        <p:nvSpPr>
          <p:cNvPr id="8" name="Text 6"/>
          <p:cNvSpPr/>
          <p:nvPr/>
        </p:nvSpPr>
        <p:spPr>
          <a:xfrm>
            <a:off x="749808" y="1591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indent="0" marL="0">
              <a:buNone/>
            </a:pPr>
            <a:r>
              <a:rPr lang="en-US" sz="1050" b="1" dirty="0">
                <a:solidFill>
                  <a:srgbClr val="1F2A36"/>
                </a:solidFill>
                <a:latin typeface="Calibri" pitchFamily="34" charset="0"/>
                <a:ea typeface="Calibri" pitchFamily="34" charset="-122"/>
                <a:cs typeface="Calibri" pitchFamily="34" charset="-120"/>
              </a:rPr>
              <a:t>81.7 → 119.3 · 75.2 → 97.8</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5.53 → 5.93 · 3.66 → 5.38</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 MILLION DEATHS</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5.3 v 3.6 · 5.5 v 3.6</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1.5°C</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+37.6, not significant</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JOBS 2°C</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+22.6, not significant</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DEPRIVATION 2°C</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indent="0" marL="0">
              <a:buNone/>
            </a:pPr>
            <a:r>
              <a:rPr lang="en-US" sz="1050" b="1" dirty="0">
                <a:solidFill>
                  <a:srgbClr val="A33A3A"/>
                </a:solidFill>
                <a:latin typeface="Calibri" pitchFamily="34" charset="0"/>
                <a:ea typeface="Calibri" pitchFamily="34" charset="-122"/>
                <a:cs typeface="Calibri" pitchFamily="34" charset="-120"/>
              </a:rPr>
              <a:t>+1.73, significant against</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indent="0" marL="0">
              <a:buNone/>
            </a:pPr>
            <a:r>
              <a:rPr lang="en-US" sz="740" spc="70" kern="0" dirty="0">
                <a:solidFill>
                  <a:srgbClr val="5B6B7B"/>
                </a:solidFill>
                <a:latin typeface="Calibri" pitchFamily="34" charset="0"/>
                <a:ea typeface="Calibri" pitchFamily="34" charset="-122"/>
                <a:cs typeface="Calibri" pitchFamily="34" charset="-120"/>
              </a:rPr>
              <a:t>MORTALITY</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indent="0" marL="0">
              <a:buNone/>
            </a:pPr>
            <a:r>
              <a:rPr lang="en-US" sz="1050" b="1" dirty="0">
                <a:solidFill>
                  <a:srgbClr val="1B7A4B"/>
                </a:solidFill>
                <a:latin typeface="Calibri" pitchFamily="34" charset="0"/>
                <a:ea typeface="Calibri" pitchFamily="34" charset="-122"/>
                <a:cs typeface="Calibri" pitchFamily="34" charset="-120"/>
              </a:rPr>
              <a:t>+1.7 · +1.9, both significant</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indent="0" marL="0">
              <a:buNone/>
            </a:pPr>
            <a:r>
              <a:rPr lang="en-US" sz="950" b="1" spc="140" kern="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Pacific OECD is the only region where the jobs result fails at BOTH ambition levels — the gap is positive but the interval never clears. It is also the only region whose mortality cells are significant while its jobs cells are not, which is the reverse of the pattern everywhere else. Deprivation goes significantly against High-RE at 2°C.</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indent="0" marL="0">
              <a:buNone/>
            </a:pPr>
            <a:r>
              <a:rPr lang="en-US" sz="950" b="1" spc="140" kern="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indent="0" marL="0">
              <a:lnSpc>
                <a:spcPts val="1700"/>
              </a:lnSpc>
              <a:buNone/>
            </a:pPr>
            <a:r>
              <a:rPr lang="en-US" sz="1150" dirty="0">
                <a:solidFill>
                  <a:srgbClr val="1F2A36"/>
                </a:solidFill>
                <a:latin typeface="Calibri" pitchFamily="34" charset="0"/>
                <a:ea typeface="Calibri" pitchFamily="34" charset="-122"/>
                <a:cs typeface="Calibri" pitchFamily="34" charset="-120"/>
              </a:rPr>
              <a:t>The region is small (Japan, Korea, Australia, New Zealand), highly developed, and already substantially built out, so the marginal renewable build that distinguishes the two arms elsewhere is much smaller here. As in the previous design, the classification does not describe local behaviour well enough to support a regional reading.</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indent="0" marL="0">
              <a:lnSpc>
                <a:spcPts val="1300"/>
              </a:lnSpc>
              <a:buNone/>
            </a:pPr>
            <a:r>
              <a:rPr lang="en-US" sz="950" dirty="0">
                <a:solidFill>
                  <a:srgbClr val="5B6B7B"/>
                </a:solidFill>
                <a:latin typeface="Calibri" pitchFamily="34" charset="0"/>
                <a:ea typeface="Calibri" pitchFamily="34" charset="-122"/>
                <a:cs typeface="Calibri" pitchFamily="34" charset="-120"/>
              </a:rPr>
              <a:t>Retained inside the World aggregate — dropping it there would change what 'World' means — and excluded from the nine regional rows. This is a display decision, not a data exclusion: nothing is discarded.</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indent="0" marL="0">
              <a:buNone/>
            </a:pPr>
            <a:r>
              <a:rPr lang="en-US" sz="1200" b="1" spc="220" kern="0" dirty="0">
                <a:solidFill>
                  <a:srgbClr val="7FB3C8"/>
                </a:solidFill>
                <a:latin typeface="Calibri" pitchFamily="34" charset="0"/>
                <a:ea typeface="Calibri" pitchFamily="34" charset="-122"/>
                <a:cs typeface="Calibri" pitchFamily="34" charset="-120"/>
              </a:rPr>
              <a:t>PART SIX</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But is it real?</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indent="0" marL="0">
              <a:lnSpc>
                <a:spcPts val="2200"/>
              </a:lnSpc>
              <a:buNone/>
            </a:pPr>
            <a:r>
              <a:rPr lang="en-US" sz="1400" dirty="0">
                <a:solidFill>
                  <a:srgbClr val="C7D6E0"/>
                </a:solidFill>
                <a:latin typeface="Calibri" pitchFamily="34" charset="0"/>
                <a:ea typeface="Calibri" pitchFamily="34" charset="-122"/>
                <a:cs typeface="Calibri" pitchFamily="34" charset="-120"/>
              </a:rPr>
              <a:t>Model composition, the land-based CDR boundary, and the scenarios that never reported renewables.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40</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A33A3A"/>
                </a:solidFill>
                <a:latin typeface="Calibri" pitchFamily="34" charset="0"/>
                <a:ea typeface="Calibri" pitchFamily="34" charset="-122"/>
                <a:cs typeface="Calibri" pitchFamily="34" charset="-120"/>
              </a:rPr>
              <a:t>THE CONFOUND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Better than it was, and still the binding constraint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A33A3A"/>
                </a:solidFill>
                <a:latin typeface="Calibri" pitchFamily="34" charset="0"/>
                <a:ea typeface="Calibri" pitchFamily="34" charset="-122"/>
                <a:cs typeface="Calibri" pitchFamily="34" charset="-120"/>
              </a:rPr>
              <a:t>THE CONFOUND</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ARMS ARE NOT DISJOINT BY MODEL, BUT ONE FAMILY DOMINATES ONE OF THEM. REMIND is 73% of High-RE and under 1% of High-CDR. MESSAGEix holds 99 High-CDR AND 27 High-RE, and seven of ten families hold both arms. Any pooled difference remains partly a modelling-framework contrast, and the improvement lowers the price of the claim rather than removing the need to pay it.</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WIDER AXIS COSTS SOMETHING HERE, AND IT SHOULD BE SAID. Moving from the engineered axis to all-CDR takes families holding both arms from eight to seven: COFFEE loses its High-CDR arm entirely and GEM drops out of the classification. MESSAGEix gains 55 High-CDR scenarios, which are the land-heavy pathways an engineered axis could not see. The composition changes; it does not obviously worsen.</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WITHIN-MODEL EVIDENCE IS WHAT DECIDES. On jobs, the within-model comparison confirms the pooled direction in every family that holds both arms — the strongest within-model confirmation in the study, and the reason jobs is stated as a result rather than an association.</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ON DEPRIVATION THE WITHIN-MODEL MEDIAN OFTEN DISAGREES WITH THE POOLED DIRECTION. This is the outcome most exposed to which models populate which arm, and it is why the deprivation claim is stated as holding at high ambition and being regionally split rather than as a clean global finding — even though its World interval now clears.</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The within-model grid is built by W2_within_model.R. Note that it has not yet been re-run on the repaired keys and the all-CDR axis, so the within-model column is the one number in this deck still carrying the older sample — see 'What is open'.</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IS IT REAL?</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What survives, and what the reader should take on trust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VERDICT</a:t>
            </a:r>
            <a:endParaRPr lang="en-US" sz="900" dirty="0"/>
          </a:p>
        </p:txBody>
      </p:sp>
      <p:sp>
        <p:nvSpPr>
          <p:cNvPr id="6" name="Shape 4"/>
          <p:cNvSpPr/>
          <p:nvPr/>
        </p:nvSpPr>
        <p:spPr>
          <a:xfrm>
            <a:off x="566928" y="1298448"/>
            <a:ext cx="11064240" cy="18288"/>
          </a:xfrm>
          <a:prstGeom prst="rect">
            <a:avLst/>
          </a:prstGeom>
          <a:solidFill>
            <a:srgbClr val="D9E1E8"/>
          </a:solidFill>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560320"/>
                <a:gridCol w="3108960"/>
                <a:gridCol w="3291840"/>
                <a:gridCol w="2103120"/>
              </a:tblGrid>
              <a:tr h="256032">
                <a:tc>
                  <a:txBody>
                    <a:bodyPr/>
                    <a:lstStyle/>
                    <a:p>
                      <a:pPr indent="0" marL="0">
                        <a:buNone/>
                      </a:pP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Pooled result</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Holds on the engineered axis too?</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indent="0" marL="0">
                        <a:buNone/>
                      </a:pPr>
                      <a:r>
                        <a:rPr lang="en-US" sz="950" b="1" dirty="0">
                          <a:solidFill>
                            <a:srgbClr val="5B6B7B"/>
                          </a:solidFill>
                          <a:latin typeface="Calibri" pitchFamily="34" charset="0"/>
                          <a:ea typeface="Calibri" pitchFamily="34" charset="-122"/>
                          <a:cs typeface="Calibri" pitchFamily="34" charset="-120"/>
                        </a:rPr>
                        <a:t>Verdict</a:t>
                      </a:r>
                      <a:endParaRPr lang="en-US" sz="950" dirty="0">
                        <a:latin typeface="Calibri" charset="0"/>
                        <a:ea typeface="Calibri" charset="0"/>
                        <a:cs typeface="Calibri" charset="0"/>
                      </a:endParaRPr>
                    </a:p>
                  </a:txBody>
                  <a:tcPr marL="91440" marR="91440" marT="45720" marB="45720">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Energy jobs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20/20, all 20 significant</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yes — 20/20, all significant</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a result</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Energy deprivation</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14/20, 11 significant, 2 against</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B7A4B"/>
                          </a:solidFill>
                          <a:latin typeface="Calibri" pitchFamily="34" charset="0"/>
                          <a:ea typeface="Calibri" pitchFamily="34" charset="-122"/>
                          <a:cs typeface="Calibri" pitchFamily="34" charset="-120"/>
                        </a:rPr>
                        <a:t>yes — 15/20, 8 significant</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B7791F"/>
                          </a:solidFill>
                          <a:latin typeface="Calibri" pitchFamily="34" charset="0"/>
                          <a:ea typeface="Calibri" pitchFamily="34" charset="-122"/>
                          <a:cs typeface="Calibri" pitchFamily="34" charset="-120"/>
                        </a:rPr>
                        <a:t>holds at 1.5°C; regionally split at 2°C</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r h="256032">
                <a:tc>
                  <a:txBody>
                    <a:bodyPr/>
                    <a:lstStyle/>
                    <a:p>
                      <a:pPr indent="0" marL="0">
                        <a:buNone/>
                      </a:pPr>
                      <a:r>
                        <a:rPr lang="en-US" sz="1100" b="1" dirty="0">
                          <a:solidFill>
                            <a:srgbClr val="1F2A36"/>
                          </a:solidFill>
                          <a:latin typeface="Calibri" pitchFamily="34" charset="0"/>
                          <a:ea typeface="Calibri" pitchFamily="34" charset="-122"/>
                          <a:cs typeface="Calibri" pitchFamily="34" charset="-120"/>
                        </a:rPr>
                        <a:t>PM2.5 mortality</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8/20, 5 significant, 2 against</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1F2A36"/>
                          </a:solidFill>
                          <a:latin typeface="Calibri" pitchFamily="34" charset="0"/>
                          <a:ea typeface="Calibri" pitchFamily="34" charset="-122"/>
                          <a:cs typeface="Calibri" pitchFamily="34" charset="-120"/>
                        </a:rPr>
                        <a:t>yes — 9/20, 4 significant</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indent="0" marL="0">
                        <a:buNone/>
                      </a:pPr>
                      <a:r>
                        <a:rPr lang="en-US" sz="1100" dirty="0">
                          <a:solidFill>
                            <a:srgbClr val="B7791F"/>
                          </a:solidFill>
                          <a:latin typeface="Calibri" pitchFamily="34" charset="0"/>
                          <a:ea typeface="Calibri" pitchFamily="34" charset="-122"/>
                          <a:cs typeface="Calibri" pitchFamily="34" charset="-120"/>
                        </a:rPr>
                        <a:t>Europe holds; World 1.5°C holds; Africa reverses</a:t>
                      </a:r>
                      <a:endParaRPr lang="en-US" sz="1100" dirty="0">
                        <a:latin typeface="Calibri" charset="0"/>
                        <a:ea typeface="Calibri" charset="0"/>
                        <a:cs typeface="Calibri" charset="0"/>
                      </a:endParaRPr>
                    </a:p>
                  </a:txBody>
                  <a:tcPr marL="91440" marR="91440" marT="45720" marB="45720" anchor="t">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The asymmetry is the point. The same test applied identically to all three families clears jobs everywhere, qualifies deprivation by ambition level, and limits mortality to specific regions with one significant reversal. That cannot be dismissed as an unfair standard, and it is what makes the jobs result worth trusting.</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SENSITIVITY — THE AXIS BOUNDARY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What happens if the CDR axis is narrowed to engineered removal only</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AXIS IN / OUT</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QUESTION. The primary axis is all CDR. Narrowing it to engineered removal — novel CDR plus fossil and industrial CCS, excluding afforestation, reforestation and soil carbon — is the obvious alternative, and it is what an earlier version of this analysis used. The test re-runs the entire classification on the narrower axis and scores both label sets on IDENTICAL outcome data, so only the labels differ.</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OF THE SCENARIOS BOTH AXES CLASSIFY, NOT ONE SWITCHES ARMS. 530 scenarios are classified under both definitions and 100% keep the same label. The two axes differ by WHICH scenarios they admit — the all-CDR axis adds 80 and drops 76 — not by how they label a shared one. The axes correlate 0.898.</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NARROWER AXIS IS THE CONSERVATIVE ONE, WHICH IS THE POINT. It reports a SMALLER High-RE jobs advantage at World 1.5°C (+405 against +464) and smaller avoided mortality (8.7 million against 11.1), because land-heavy CDR scenarios carry fewer energy jobs. So the headline is not resting on the wider definition: the definition that flatters High-RE least still gives the same answer, significantly, in every jobs cell.</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WHY ALL-CDR IS NEVERTHELESS THE RIGHT PRIMARY. The paper asks whether renewables-led mitigation beats CDR-led mitigation. Land-based removal is CDR. An axis that excludes it names a subset of the comparison arm and, in Latin America, makes carbon management nearly invisible in a region whose removal is overwhelmingly land-based. The honest reading is that the choice of axis is a definitional question, both answers are reported, and they agree.</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Source: V5_land_primary.R, which builds both label sets from the deployment file with the published rule and reproduces the published classification exactly for the full database. The sample is held fixed across the two runs so that only the axis differs, never the set of scenarios entering the tercile.</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SENSITIVITY — THE AXIS BOUNDARY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Every cell, both axes, on the same outcome data</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FIGURE F3</a:t>
            </a:r>
            <a:endParaRPr lang="en-US" sz="900" dirty="0"/>
          </a:p>
        </p:txBody>
      </p:sp>
      <p:sp>
        <p:nvSpPr>
          <p:cNvPr id="6" name="Shape 4"/>
          <p:cNvSpPr/>
          <p:nvPr/>
        </p:nvSpPr>
        <p:spPr>
          <a:xfrm>
            <a:off x="566928" y="1298448"/>
            <a:ext cx="11064240" cy="18288"/>
          </a:xfrm>
          <a:prstGeom prst="rect">
            <a:avLst/>
          </a:prstGeom>
          <a:solidFill>
            <a:srgbClr val="D9E1E8"/>
          </a:solidFill>
          <a:ln/>
        </p:spPr>
      </p:sp>
      <p:pic>
        <p:nvPicPr>
          <p:cNvPr id="7" name="Image 0" descr="paper1_analysis/figures_century/F3_land.png">    </p:cNvPr>
          <p:cNvPicPr>
            <a:picLocks noChangeAspect="1"/>
          </p:cNvPicPr>
          <p:nvPr/>
        </p:nvPicPr>
        <p:blipFill>
          <a:blip r:embed="rId1"/>
          <a:stretch>
            <a:fillRect/>
          </a:stretch>
        </p:blipFill>
        <p:spPr>
          <a:xfrm>
            <a:off x="2718073" y="1536192"/>
            <a:ext cx="676195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indent="0" marL="0">
              <a:buNone/>
            </a:pPr>
            <a:r>
              <a:rPr lang="en-US" sz="1150" b="1" dirty="0">
                <a:solidFill>
                  <a:srgbClr val="1F2A36"/>
                </a:solidFill>
                <a:latin typeface="Calibri" pitchFamily="34" charset="0"/>
                <a:ea typeface="Calibri" pitchFamily="34" charset="-122"/>
                <a:cs typeface="Calibri" pitchFamily="34" charset="-120"/>
              </a:rPr>
              <a:t>Dark point is the primary all-CDR result; the arrow head is the engineered-only sensitivity.</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Positive favours High-RE. The arrows are short and mostly point the same way. No jobs cell changes sign, and where the engineered axis differs it generally reports a SMALLER advantage — which is why it is the conservative specification rather than a threat to the result.</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A33A3A"/>
                </a:solidFill>
                <a:latin typeface="Calibri" pitchFamily="34" charset="0"/>
                <a:ea typeface="Calibri" pitchFamily="34" charset="-122"/>
                <a:cs typeface="Calibri" pitchFamily="34" charset="-120"/>
              </a:rPr>
              <a:t>SENSITIVITY — THE ZEROS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Some of the High-CDR arm never reported renewables at all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A33A3A"/>
                </a:solidFill>
                <a:latin typeface="Calibri" pitchFamily="34" charset="0"/>
                <a:ea typeface="Calibri" pitchFamily="34" charset="-122"/>
                <a:cs typeface="Calibri" pitchFamily="34" charset="-120"/>
              </a:rPr>
              <a:t>THE ZEROS</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PROBLEM. The classification pivots renewable capacity with a zero fill, so a scenario that never reports Renewable Capacity is scored as deploying none. That puts it at the bottom of the RE distribution and makes it eligible for High-CDR. On the all-CDR axis, 14 of the 67 High-CDR scenarios at 1.5°C and 28 of 238 at 2°C sit at exactly zero renewables. There are NONE in the High-RE arm, by construction: a scenario cannot be top-tercile on renewables while reporting none.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THEY ARE MISSING DATA, NOT ZEROS. Every one was checked against the cumulative deployment file for a Renewable Capacity ROW. None has a row at all. Not one is a reported zero. They are concentrated in GCAM, which is a reporting convention rather than a modelling result — and the SCI-vetted sample already excludes every one of them.</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AND THEY ARE NOT NEUTRAL. Their median World net energy employment sits near zero, against roughly 300 job-years per 1,000 for the High-CDR scenarios that do report. They drag the High-CDR arm down on the outcome, on the strength of an axis value that the fill invented.</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WHAT DROPPING THEM WOULD DO. Jobs weakens slightly and still clears easily. Deprivation strengthens. On the engineered axis this was the difference between a non-significant and a significant World deprivation result; on the all-CDR axis the World deprivation cell at 1.5°C ALREADY clears, so the decision no longer carries a headline. It remains a labelled sensitivity and a reporting choice, not a technical one.</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Source: W13_zeros_and_land_mortality.R for the diagnosis, and the primary grid for the arm counts. Whichever way this is resolved, the direction of every World cell is unchanged — dropping the zeros makes the deprivation result stronger, never weaker.</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A33A3A"/>
                </a:solidFill>
                <a:latin typeface="Calibri" pitchFamily="34" charset="0"/>
                <a:ea typeface="Calibri" pitchFamily="34" charset="-122"/>
                <a:cs typeface="Calibri" pitchFamily="34" charset="-120"/>
              </a:rPr>
              <a:t>SENSITIVITY — THE ZEROS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What the non-reporting scenarios do to the High-CDR arm</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A33A3A"/>
                </a:solidFill>
                <a:latin typeface="Calibri" pitchFamily="34" charset="0"/>
                <a:ea typeface="Calibri" pitchFamily="34" charset="-122"/>
                <a:cs typeface="Calibri" pitchFamily="34" charset="-120"/>
              </a:rPr>
              <a:t>FIGURE F5</a:t>
            </a:r>
            <a:endParaRPr lang="en-US" sz="900" dirty="0"/>
          </a:p>
        </p:txBody>
      </p:sp>
      <p:sp>
        <p:nvSpPr>
          <p:cNvPr id="6" name="Shape 4"/>
          <p:cNvSpPr/>
          <p:nvPr/>
        </p:nvSpPr>
        <p:spPr>
          <a:xfrm>
            <a:off x="566928" y="1298448"/>
            <a:ext cx="11064240" cy="18288"/>
          </a:xfrm>
          <a:prstGeom prst="rect">
            <a:avLst/>
          </a:prstGeom>
          <a:solidFill>
            <a:srgbClr val="D9E1E8"/>
          </a:solidFill>
          <a:ln/>
        </p:spPr>
      </p:sp>
      <p:pic>
        <p:nvPicPr>
          <p:cNvPr id="7" name="Image 0" descr="paper1_analysis/figures_century/F5_zeros.png">    </p:cNvPr>
          <p:cNvPicPr>
            <a:picLocks noChangeAspect="1"/>
          </p:cNvPicPr>
          <p:nvPr/>
        </p:nvPicPr>
        <p:blipFill>
          <a:blip r:embed="rId1"/>
          <a:stretch>
            <a:fillRect/>
          </a:stretch>
        </p:blipFill>
        <p:spPr>
          <a:xfrm>
            <a:off x="2075688" y="1536192"/>
            <a:ext cx="8046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indent="0" marL="0">
              <a:buNone/>
            </a:pPr>
            <a:r>
              <a:rPr lang="en-US" sz="1150" b="1" dirty="0">
                <a:solidFill>
                  <a:srgbClr val="1F2A36"/>
                </a:solidFill>
                <a:latin typeface="Calibri" pitchFamily="34" charset="0"/>
                <a:ea typeface="Calibri" pitchFamily="34" charset="-122"/>
                <a:cs typeface="Calibri" pitchFamily="34" charset="-120"/>
              </a:rPr>
              <a:t>World net energy employment for the High-CDR arm only, split by whether the scenario reported renewable capacity.</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indent="0" marL="0">
              <a:lnSpc>
                <a:spcPts val="1400"/>
              </a:lnSpc>
              <a:buNone/>
            </a:pPr>
            <a:r>
              <a:rPr lang="en-US" sz="1000" dirty="0">
                <a:solidFill>
                  <a:srgbClr val="5B6B7B"/>
                </a:solidFill>
                <a:latin typeface="Calibri" pitchFamily="34" charset="0"/>
                <a:ea typeface="Calibri" pitchFamily="34" charset="-122"/>
                <a:cs typeface="Calibri" pitchFamily="34" charset="-120"/>
              </a:rPr>
              <a:t>The non-reporting group sits at roughly zero net energy employment while the reporting group sits around 300 job-years per 1,000. The zero fill is not a harmless default: it recruits scenarios into the comparison arm on an axis value they never supplied.</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indent="0" marL="0">
              <a:buNone/>
            </a:pPr>
            <a:r>
              <a:rPr lang="en-US" sz="1200" b="1" spc="220" kern="0" dirty="0">
                <a:solidFill>
                  <a:srgbClr val="7FB3C8"/>
                </a:solidFill>
                <a:latin typeface="Calibri" pitchFamily="34" charset="0"/>
                <a:ea typeface="Calibri" pitchFamily="34" charset="-122"/>
                <a:cs typeface="Calibri" pitchFamily="34" charset="-120"/>
              </a:rPr>
              <a:t>PART SEVEN</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we can claim</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indent="0" marL="0">
              <a:lnSpc>
                <a:spcPts val="2200"/>
              </a:lnSpc>
              <a:buNone/>
            </a:pPr>
            <a:r>
              <a:rPr lang="en-US" sz="1400" dirty="0">
                <a:solidFill>
                  <a:srgbClr val="C7D6E0"/>
                </a:solidFill>
                <a:latin typeface="Calibri" pitchFamily="34" charset="0"/>
                <a:ea typeface="Calibri" pitchFamily="34" charset="-122"/>
                <a:cs typeface="Calibri" pitchFamily="34" charset="-120"/>
              </a:rPr>
              <a:t>And what has to be said alongside it.</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B7791F"/>
                </a:solidFill>
                <a:latin typeface="Calibri" pitchFamily="34" charset="0"/>
                <a:ea typeface="Calibri" pitchFamily="34" charset="-122"/>
                <a:cs typeface="Calibri" pitchFamily="34" charset="-120"/>
              </a:rPr>
              <a:t>THE CLAIM</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What renewables-led mitigation delivers, and how sure we are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B7791F"/>
                </a:solidFill>
                <a:latin typeface="Calibri" pitchFamily="34" charset="0"/>
                <a:ea typeface="Calibri" pitchFamily="34" charset="-122"/>
                <a:cs typeface="Calibri" pitchFamily="34" charset="-120"/>
              </a:rPr>
              <a:t>CLAIM</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ONE — WORK. At matched climate ambition, renewables-led mitigation employs substantially more people in energy than CDR-led mitigation: 228 against 692 job-years per 1,000 at World 1.5°C, a difference of +464 [+380, +513], and +285 [+181, +337] at 2°C. Better in ALL 20 region × ambition cells and significant in all 20 — the only outcome of which that is true. The mechanism is the renewable build, which outweighs High-CDR's fossil, nuclear and bioenergy employment combined by 11 to 1.</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TWO — ENERGY ACCESS, AT HIGH AMBITION. Renewables-led pathways close the decent-living energy gap at World 1.5°C by 6.81 GJ per capita [+1.72, +9.73], a 37% reduction, and significantly in six of nine regions — Africa, Latin America, Europe, North America, India+ and China+. At 2°C the World cell does not clear and two regions reverse significantly. Report it as holding at high ambition and regionally split at medium.</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THREE — AIR QUALITY, AND IT IS NOT UNIVERSAL. Renewables-led pathways avoid 11.11 million cumulative PM2.5 deaths at World 1.5°C [+3.82, +50.40], and 4.99 million in Europe — a 31% reduction, the largest proportional effect anywhere, significant at both ambition levels. But Africa goes significantly the OTHER way at both levels, because its PM2.5 is dominated by household solid fuel and dust rather than the power mix. There is no universal air-quality co-benefit to claim.</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TAKEN TOGETHER: the choice between carbon removal and renewables matters decisively for employment, substantially for energy access at high ambition, and in specific places — not everywhere — for air quality. That asymmetry is the paper's answer, and it is more useful and more credible than three uniform ticks would have been.</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A33A3A"/>
                </a:solidFill>
                <a:latin typeface="Calibri" pitchFamily="34" charset="0"/>
                <a:ea typeface="Calibri" pitchFamily="34" charset="-122"/>
                <a:cs typeface="Calibri" pitchFamily="34" charset="-120"/>
              </a:rPr>
              <a:t>LIMITATIONS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Stated plainly, because they are load-bearing</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A33A3A"/>
                </a:solidFill>
                <a:latin typeface="Calibri" pitchFamily="34" charset="0"/>
                <a:ea typeface="Calibri" pitchFamily="34" charset="-122"/>
                <a:cs typeface="Calibri" pitchFamily="34" charset="-120"/>
              </a:rPr>
              <a:t>LIMITS</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MODEL COMPOSITION REMAINS THE BINDING CONSTRAINT. REMIND supplies 73% of High-RE against under 1% of High-CDR, and the all-CDR axis leaves seven of ten families holding both arms rather than eight. The within-model check supports jobs strongly and deprivation not at all, which is why the two are claimed with different force.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TWO UPSTREAM DATA DEFECTS WERE FOUND AND FIXED, AND BOTH MATTERED. The World row was aggregated within deployment-variable groups, so it inherited the wrong regional coverage; and 71 classified scenarios never reached the outcome tables because the labels file stores degree signs as literal text that no join could match. Both are fixed here, both moved numbers, and neither reversed a finding — but they are a reminder that the published intermediate files should not be taken at face value.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MORTALITY RUNS ON A RESTRICTED SAMPLE, AND ON THIS AXIS THE RESTRICTION IS WORSE. Its target list was drawn against the ENGINEERED labels, so the 80 scenarios the all-CDR axis newly admits have no mortality run at all. That is target selection rather than a property of those scenarios, and it means the mortality arms here are smaller than the engineered axis's. Re-running the mortality targets against the all-CDR labels is the single most valuable outstanding job.</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DEPRIVATION MEASURE TRUNCATES AT ZERO, so it responds only to sectors where a region falls short — not always the household sector. It is a regional aggregate and cannot speak to who inside a region is deprived.</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OUTCOME SET IS ENERGY-SYSTEM CENTRIC. Now that land-based removal is inside the CDR axis, this cuts harder: the analysis scores land-heavy pathways on jobs, energy access and air quality while saying nothing about land competition, food prices, tenure or biodiversity, which are the channels through which land-based removal most plausibly affects wellbeing. The comparison is fair on what it measures and silent on what it does not.</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49</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indent="0" marL="0">
              <a:buNone/>
            </a:pPr>
            <a:r>
              <a:rPr lang="en-US" sz="1050" b="1" spc="160" kern="0" dirty="0">
                <a:solidFill>
                  <a:srgbClr val="1C7293"/>
                </a:solidFill>
                <a:latin typeface="Calibri" pitchFamily="34" charset="0"/>
                <a:ea typeface="Calibri" pitchFamily="34" charset="-122"/>
                <a:cs typeface="Calibri" pitchFamily="34" charset="-120"/>
              </a:rPr>
              <a:t>WHAT IS OPEN</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indent="0" marL="0">
              <a:buNone/>
            </a:pPr>
            <a:r>
              <a:rPr lang="en-US" sz="2300" b="1" dirty="0">
                <a:solidFill>
                  <a:srgbClr val="1F2A36"/>
                </a:solidFill>
                <a:latin typeface="Cambria" pitchFamily="34" charset="0"/>
                <a:ea typeface="Cambria" pitchFamily="34" charset="-122"/>
                <a:cs typeface="Cambria" pitchFamily="34" charset="-120"/>
              </a:rPr>
              <a:t>Next steps, in priority order</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algn="r" indent="0" marL="0">
              <a:buNone/>
            </a:pPr>
            <a:r>
              <a:rPr lang="en-US" sz="900" b="1" spc="120" kern="0" dirty="0">
                <a:solidFill>
                  <a:srgbClr val="1C7293"/>
                </a:solidFill>
                <a:latin typeface="Calibri" pitchFamily="34" charset="0"/>
                <a:ea typeface="Calibri" pitchFamily="34" charset="-122"/>
                <a:cs typeface="Calibri" pitchFamily="34" charset="-120"/>
              </a:rPr>
              <a:t>OPEN</a:t>
            </a:r>
            <a:endParaRPr lang="en-US" sz="900" dirty="0"/>
          </a:p>
        </p:txBody>
      </p:sp>
      <p:sp>
        <p:nvSpPr>
          <p:cNvPr id="6" name="Shape 4"/>
          <p:cNvSpPr/>
          <p:nvPr/>
        </p:nvSpPr>
        <p:spPr>
          <a:xfrm>
            <a:off x="566928" y="1298448"/>
            <a:ext cx="11064240" cy="18288"/>
          </a:xfrm>
          <a:prstGeom prst="rect">
            <a:avLst/>
          </a:prstGeom>
          <a:solidFill>
            <a:srgbClr val="D9E1E8"/>
          </a:solidFill>
          <a:ln/>
        </p:spPr>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RE-RUN THE MORTALITY TARGETS AGAINST THE ALL-CDR LABELS. The mortality sample was selected under the engineered axis, so 80 newly classified scenarios carry no mortality output. This is the one outstanding item that limits a headline result rather than a robustness check.</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RE-RUN THE WITHIN-MODEL GRID ON THE REPAIRED KEYS AND THE ALL-CDR AXIS. It is currently the only number in this deck computed on the older sample, and it is the number that decides how strongly each claim can be stated.</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FIX THE LABELS FILE AT SOURCE. The mangled degree signs should be corrected where the file is written, not repaired downstream, and the published summary's inner_join() should be made to fail loudly on unmatched keys rather than dropping them silently.</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DECIDE HOW TO REPORT THE ZERO-RENEWABLE SCENARIOS. Retained with the zero fill is the published behaviour. On the all-CDR axis dropping them no longer changes a headline, so this is now a presentational choice rather than a live risk.</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RE_SPEC DEFINITION SENSITIVITY — whether the renewables axis should include nuclear or biomass. A reviewer will ask, and the answer is currently a principled argument without a table behind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2026-08-25T21:31:27Z</dcterms:created>
  <dcterms:modified xsi:type="dcterms:W3CDTF">2026-08-25T21:31:27Z</dcterms:modified>
</cp:coreProperties>
</file>