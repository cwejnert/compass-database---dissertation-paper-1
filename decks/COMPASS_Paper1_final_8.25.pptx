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1828800"/>
            <a:ext cx="9144000" cy="310896"/>
          </a:xfrm>
          <a:prstGeom prst="rect">
            <a:avLst/>
          </a:prstGeom>
          <a:noFill/>
          <a:ln/>
        </p:spPr>
        <p:txBody>
          <a:bodyPr wrap="square" rtlCol="0" anchor="ctr"/>
          <a:lstStyle/>
          <a:p>
            <a:pPr indent="0" marL="0">
              <a:buNone/>
            </a:pPr>
            <a:r>
              <a:rPr lang="en-US" sz="1300" b="1" spc="180" kern="0" dirty="0">
                <a:solidFill>
                  <a:srgbClr val="7FB3C8"/>
                </a:solidFill>
                <a:latin typeface="Calibri" pitchFamily="34" charset="0"/>
                <a:ea typeface="Calibri" pitchFamily="34" charset="-122"/>
                <a:cs typeface="Calibri" pitchFamily="34" charset="-120"/>
              </a:rPr>
              <a:t>COMPASS Scenario Database · Paper 1</a:t>
            </a:r>
            <a:endParaRPr lang="en-US" sz="1300" dirty="0"/>
          </a:p>
        </p:txBody>
      </p:sp>
      <p:sp>
        <p:nvSpPr>
          <p:cNvPr id="3" name="Text 1"/>
          <p:cNvSpPr/>
          <p:nvPr/>
        </p:nvSpPr>
        <p:spPr>
          <a:xfrm>
            <a:off x="822960" y="2240280"/>
            <a:ext cx="10424160" cy="137160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Carbon removal or renewables?</a:t>
            </a:r>
            <a:endParaRPr lang="en-US" sz="4000" dirty="0"/>
          </a:p>
        </p:txBody>
      </p:sp>
      <p:sp>
        <p:nvSpPr>
          <p:cNvPr id="4" name="Text 2"/>
          <p:cNvSpPr/>
          <p:nvPr/>
        </p:nvSpPr>
        <p:spPr>
          <a:xfrm>
            <a:off x="822960" y="3703320"/>
            <a:ext cx="9692640" cy="457200"/>
          </a:xfrm>
          <a:prstGeom prst="rect">
            <a:avLst/>
          </a:prstGeom>
          <a:noFill/>
          <a:ln/>
        </p:spPr>
        <p:txBody>
          <a:bodyPr wrap="square" rtlCol="0" anchor="ctr"/>
          <a:lstStyle/>
          <a:p>
            <a:pPr indent="0" marL="0">
              <a:buNone/>
            </a:pPr>
            <a:r>
              <a:rPr lang="en-US" sz="1600" dirty="0">
                <a:solidFill>
                  <a:srgbClr val="C7D6E0"/>
                </a:solidFill>
                <a:latin typeface="Calibri" pitchFamily="34" charset="0"/>
                <a:ea typeface="Calibri" pitchFamily="34" charset="-122"/>
                <a:cs typeface="Calibri" pitchFamily="34" charset="-120"/>
              </a:rPr>
              <a:t>Wellbeing outcomes across nine world regions and two levels of ambition</a:t>
            </a:r>
            <a:endParaRPr lang="en-US" sz="1600" dirty="0"/>
          </a:p>
        </p:txBody>
      </p:sp>
      <p:sp>
        <p:nvSpPr>
          <p:cNvPr id="5" name="Shape 3"/>
          <p:cNvSpPr/>
          <p:nvPr/>
        </p:nvSpPr>
        <p:spPr>
          <a:xfrm>
            <a:off x="822960" y="4343400"/>
            <a:ext cx="2011680" cy="27432"/>
          </a:xfrm>
          <a:prstGeom prst="rect">
            <a:avLst/>
          </a:prstGeom>
          <a:solidFill>
            <a:srgbClr val="B7791F"/>
          </a:solidFill>
          <a:ln/>
        </p:spPr>
      </p:sp>
      <p:sp>
        <p:nvSpPr>
          <p:cNvPr id="6" name="Text 4"/>
          <p:cNvSpPr/>
          <p:nvPr/>
        </p:nvSpPr>
        <p:spPr>
          <a:xfrm>
            <a:off x="822960" y="4572000"/>
            <a:ext cx="10058400" cy="310896"/>
          </a:xfrm>
          <a:prstGeom prst="rect">
            <a:avLst/>
          </a:prstGeom>
          <a:noFill/>
          <a:ln/>
        </p:spPr>
        <p:txBody>
          <a:bodyPr wrap="square" rtlCol="0" anchor="ctr"/>
          <a:lstStyle/>
          <a:p>
            <a:pPr indent="0" marL="0">
              <a:buNone/>
            </a:pPr>
            <a:r>
              <a:rPr lang="en-US" sz="1200" dirty="0">
                <a:solidFill>
                  <a:srgbClr val="9FB6C4"/>
                </a:solidFill>
                <a:latin typeface="Calibri" pitchFamily="34" charset="0"/>
                <a:ea typeface="Calibri" pitchFamily="34" charset="-122"/>
                <a:cs typeface="Calibri" pitchFamily="34" charset="-120"/>
              </a:rPr>
              <a:t>610 classified scenarios · 10 model families · 3 outcome families · 60 comparisons · cumulative 2020–2100</a:t>
            </a:r>
            <a:endParaRPr lang="en-US" sz="1200" dirty="0"/>
          </a:p>
        </p:txBody>
      </p:sp>
      <p:sp>
        <p:nvSpPr>
          <p:cNvPr id="7" name="Text 5"/>
          <p:cNvSpPr/>
          <p:nvPr/>
        </p:nvSpPr>
        <p:spPr>
          <a:xfrm>
            <a:off x="822960" y="4892040"/>
            <a:ext cx="10058400" cy="310896"/>
          </a:xfrm>
          <a:prstGeom prst="rect">
            <a:avLst/>
          </a:prstGeom>
          <a:noFill/>
          <a:ln/>
        </p:spPr>
        <p:txBody>
          <a:bodyPr wrap="square" rtlCol="0" anchor="ctr"/>
          <a:lstStyle/>
          <a:p>
            <a:pPr indent="0" marL="0">
              <a:buNone/>
            </a:pPr>
            <a:r>
              <a:rPr lang="en-US" sz="1100" i="1" dirty="0">
                <a:solidFill>
                  <a:srgbClr val="7FB3C8"/>
                </a:solidFill>
                <a:latin typeface="Calibri" pitchFamily="34" charset="0"/>
                <a:ea typeface="Calibri" pitchFamily="34" charset="-122"/>
                <a:cs typeface="Calibri" pitchFamily="34" charset="-120"/>
              </a:rPr>
              <a:t>CDR axis = ALL removal — Novel CDR + fossil/industrial CCS + land-based removal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Renewables-led mitigation delivers more wellbeing than CDR-led mitigation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SUMMARY</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AT WORLD, SEVEN OF EIGHT CELLS POINT TO HIGH-RE — energy employment, the decent-living gap and the deprived headcount at both ambition levels, and PM2.5 mortality at 1.5°C. The one exception is mortality at 2°C, 4.3 million deaths higher under High-RE. Across regions, 42 of 60 comparisons point to High-RE and 18 to High-CDR.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EMPLOYMENT — unanimous. High-RE leads in ALL 20 region × ambition cells, and all 20 clear the interval; no other outcome does either. World net energy employment goes from 228 to 692 job-years per 1,000 at 1.5°C (+204%) and 187 to 471 at 2°C (+153%).</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DEPRIVATION — leads in 14 of 20 cells. The World decent-living gap closes from 18.43 to 11.62 GJ per capita at 1.5°C (−37%, interval clears) and 15.46 to 11.37 at 2°C (interval does not). The deprived headcount moves the same way. Reverses in Rest of Asia and the Middle East.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AIR-QUALITY MORTALITY — the uneven one, leading in 8 of 20 cells. High-RE avoids 11.11 million deaths at World 1.5°C, and Europe carries it: 4.99 and 3.66 million avoided, a 31% reduction. Africa points the other way at both levels, where PM2.5 is household solid fuel and dust rather than the power mix.</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for both classification and outcomes. Direction is the claim; intervals are reported as context. Every cell is the two arm medians with a 2,000-replicate cluster bootstrap on the raw difference.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all three outcomes, both ambition levels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377440"/>
                <a:gridCol w="1097280"/>
                <a:gridCol w="1280160"/>
                <a:gridCol w="1280160"/>
                <a:gridCol w="1554480"/>
                <a:gridCol w="2011680"/>
                <a:gridCol w="14630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Outcome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Ambition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Difference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95%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Change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[+380, +513]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job-years per 1,000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186.50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471.15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+284.65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[+181, +337]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+153%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−6.81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[+1.72, +9.73]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gap, GJ per capita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15.46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[−0.56, +7.75]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426.23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415.12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−11.11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[+3.82, +50.40]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million cumulative deaths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433.60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437.88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[−20.6, +35.9]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positive interval favours High-RE throughout. FOUR OF SIX CELLS CLEAR, and all four favour High-RE: jobs at both ambition levels, deprivation at 1.5°C and mortality at 1.5°C. Both cells that fail are at 2°C, where the two arms differ less in how much combustion remains. Mortality runs on the reporting-complete sample (37 vs 37 at 1.5°C), which is why its arms are smaller.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CHANGED, AND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Four upstream decisions, and what each one buys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THE DESIGN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CDR AXIS IS ALL REMOVAL — Novel CDR, fossil and industrial CCS, AND LAND-BASED REMOVAL. The question is High-RE against High-CDR, and land-based removal is CDR: a scenario leaning on afforestation is a carbon-removal scenario whether or not the removal is engineered. Restricting the axis to engineered removal would name a SUBSET of the comparison arm. The engineered-only axis is reported throughout as the sensitivity.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WINDOW IS 2020–2100 for both classification and outcomes, up from 2020–2050. Jobs numbers are larger in absolute terms and include more of the operational phase rather than only the construction surge.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BALANCED BY CONSTRUCTION: 67/67 at 1.5°C and 238/238 at 2°C. The portfolio rule takes same-size terciles on the same sample and subtracts the same overlap from each, so the arms are necessarily equal. Balanced arms remove one asymmetry from every comparison.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USES ONLY DIRECTLY-REPORTED R10 PRECURSORS — all five of SO₂, NOₓ, BC, OM and NH₃, with no World-to-R10 disaggregation and no ammonia sidecar. This resolves the ammonia reporting asymmetry and the synthetic-regions risk at once, by dropping the scenarios that caused them rather than patching.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ammonia harmonisation that dominated the previous round is now obsolete: the input rule makes the correction unnecessary, which is a better fix than the one it replaces.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HOW TO READ THIS DECK</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Direction first — these are associations, not causal estimates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FRAMING</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IS DIRECTIONAL. Does renewables-led mitigation deliver more wellbeing than CDR-led mitigation, at matched climate ambition, at World and R10 level? The primary evidence is WHICH WAY each cell points and how consistently — 42 of 60 to High-RE, and 7 of 8 at World.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SIGNIFICANCE IS REPORTED THROUGHOUT, AS CONTEXT. Every cell carries a 2,000-replicate cluster bootstrap interval on the raw difference in medians, and a ● marks the cells that clear zero. It says how firmly a cell points, which is worth knowing. It is not the claim, and nothing here is presented as a causal effect of choosing one pathway over another.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OUTCOMES ARE THREE FAMILIES, NOT FIVE MEASURES. Energy employment, energy deprivation (a gap and a headcount that move together) and PM2.5 mortality. Counting the gap and the headcount separately would report one deprivation finding twice.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 DATABASE ITSELF IMPOSES LIMITS, REPORTED AS SENSITIVITIES IN PART SIX. The two arms are not drawn from the same mix of models, mortality runs on a restricted sample, and some scenarios enter on a renewables value they never reported. None of that changes a headline direction; all of it bounds how firmly each can be stated.</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throughout. Positive ALWAYS favours High-RE, so the two lower-is-better outcomes (deprivation gap, mortality) are sign-flipped.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ONE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How each wellbeing outcome is built.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whole design on one slide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DESIGN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828800"/>
                <a:gridCol w="3840480"/>
                <a:gridCol w="53949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Choice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Why this and not something else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AR6 category → 1.5°C (C1+C2) and 2°C (C3+C4)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Compares pathways reaching the SAME climate outcome. Without it the comparison is just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 CDR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ALL removal — novel CDR + fossil/industrial CCS + land-based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question names CDR, so the axis is CDR. Restricting it to engineered removal is reported as a sensitivity, and it is the conservative one.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 RE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Wind, solar, hydro, geothermal. Nuclear and biomass excluded — biomass is the substrate of BECCS, so counting it would let one scenario score on both axes.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 Labels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high on both are genuinely both and are dropped; high on neither are neither. Same-size terciles minus the same overlap yields balanced arms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 Window</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2020–2100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Full scenario horizon, for both the classification and the outcomes.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 Inference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cluster bootstrap on the raw difference in medians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610 classified scenarios sit in 335 model × scenario-family clusters. 2,000 replicates resampling whole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One fixed global classification is applied unchanged in every region, so a regional result is never an artefact of relabelling scenarios inside that region.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1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what is counted, where, and when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JOBS</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UNIT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JOB-YEARS, not jobs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One job-year = one person employed full-time for one year. A job lasting 30 years is 30 job-years; 30 jobs lasting one year is also 30 job-years. This is a STOCK OF WORK over the whole period, NOT a headcount at any moment — so 687 job-years per 1,000 people over 2020–2100 means roughly 8.6 people in work per 1,000 at any given time, not 687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How it is computed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jobs × years, summed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model gives capacity by technology at each reporting node. Jobs are computed at each node, then integrated across the period. Decadal nodes are treated as representing their decade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CONSTRUCTION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NEW capacity added, so it appears only while building happens and disappears when it stops. Located where the plant is sited — this work cannot be imported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MANUFACTURING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Also scales with new capacity, but is NOT necessarily located where the plant is. Assigned to the deploying region here, which is the standard AR6 convention and an optimistic one for regions that import turbines and panels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OPERATION &amp; MAINTENANCE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of STOCK in place · persistent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installed capacity, not with additions, so it accumulates as the fleet grows and persists for the asset's life. This is the only stream that survives the end of the build-out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Fossil side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extraction · refining · fossil O&amp;M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Subtracted, so the measure is NET. A pathway cannot score by building alone, and one that only shuts down coal scores zero on the renewable term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renewable job-years − fossil job-years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1,000 people on a FIXED base-period population, identical in every scenario, so demography cannot move a contrast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Grouping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renewables = wind · solar · hydro · geothermal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Nuclear and bioenergy are tracked separately and BOTH favour High-CDR (−10 and −10 job-years per 1,000 at World 1.5°C). Biomass is excluded from the renewable axis because it is the substrate of BECCS — counting it would let one scenario score on both classification axes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RESOLUTION: jobs are computed per R10 region from that region's own capacity, then summed to World. TEMPORAL: the three streams behave differently over time — construction and manufacturing track the RATE of building and fade, O&amp;M tracks the STOCK and persists. That distinction is what makes the advantage front-loaded and is the mechanism behind the regional ordering.</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2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how the gap and the headcount are built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DEPRIVATION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IDEA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how many people fall below a decent-living floor, and by how much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Not total energy use, and not inequality for its own sake. A threshold is set for the final energy a person needs for decent living; the two measures are the SHARE of people beneath it (headcount) and the ENERGY needed to lift them all to it (gap)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official DESIRE country-level mapping, population-weighted to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Three sectors — residential/commercial, transport, industry — summed to a region total. This replaced pixel-read Kikstra 2021 regional totals and a global sector split, so older quoted thresholds no longer apply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Efficiency path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−1.9%/yr on the threshold, floored at 50%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energy needed to deliver decent living falls as service provisioning improves, so the bar drops — calibrated to DESIRE's −30% to −46% by 2040 (−1.9%/yr lands at ≈−38%), then held at a floor</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THE KEY STEP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a WITHIN-REGION distribution, not a regional average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region's people are not all at the mean. A LOGNORMAL is fitted across people using DESIRE's final-energy GINI for that region: σ = √2·Φ⁻¹((G+1)/2), and μ = ln(E) − σ²/2 where E is mean per-capita final energy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Headcount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Φ(d₁),  d₁ = (ln T − μ) / 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share of people below the threshold — the distribution's CDF evaluated at the floor. Multiplied by population to give people, then reported as a percentage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gap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T·Φ(d₁) − E·Φ(d₂),  d₂ = d₁ − 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partial expectation of (threshold − energy) over the BELOW-THRESHOLD TAIL: the energy required to lift everyone under the floor up to it. Per capita, then × population for EJ, then summed over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THEY ALWAYS AGREE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both are functionals of the SAME fitted lognormal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headcount is its CDF at the threshold; the gap is its shortfall integral below the threshold. They move together by construction, so reporting both is ONE deprivation finding measured two ways — not two independent confirmations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WHAT CHANGED AND WHY IT MATTERS. An earlier version took (threshold − mean) per sector and truncated at zero. That read exactly ZERO whenever a region's mean cleared the threshold — ignoring the poor tail entirely — and was inconsistent with the headcount, which always saw that tail. The distributional gap fixes both. WHAT IT STILL CANNOT DO: absolute levels depend on the lognormal approximation and on the Gini, so threshold and Gini sensitivity remain required; and it speaks to a modelled within-region distribution, not to identified households.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3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from emissions to deaths, and the input rule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CHAIN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emissions → concentration → exposure →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A scenario reports precursor emissions by region and year. (2) TM5-FASST converts them to ambient PM2.5 concentrations. (3) Concentrations are combined with population to give exposure. (4) An exposure–response function converts exposure to premature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Atmospheric model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TM5-FASST via the rfasst package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reduced-form SOURCE–RECEPTOR model: pre-computed coefficients say how much a tonne emitted in region A raises concentration in region B. This captures cross-boundary transport without running a full chemistry-transport model per scenario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Precursors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SO₂ · NOₓ · black carbon · organic matter · NH₃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BC and OM are primary particles emitted directly. SO₂, NOₓ and NH₃ are gases that form SECONDARY particles in the atmosphere — ammonium sulfate and ammonium nitrate — which is why ammonia matters despite not being a particle itself</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INPUT RULE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all five reported DIRECTLY at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scenario qualifies only if it reports every precursor at regional level. No World-to-R10 population disaggregation, no ammonia filled in from a sidecar, no gap-filling. 422 of 643 classified targets qualify; 150 are REJECTED rather than filled (98 report no precursor, 52 have incomplete grids) and 71 have no direct R10 input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 rule exists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models file emissions differently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Ammonia is 6–12% of PM2.5 mortality in IMAGE, POLES-JRC, AIM and MESSAGEix and 0.15% in REMIND, because REMIND's agricultural emissions live in MAgPIE and never reach Emissions|NH3. Filling that gap would compare accounting conventions; requiring direct reporting removes the asymmetry at source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trapezoidal across decadal nodes,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deaths at each node, area under the curve between nodes, summed. Reported as MILLION CUMULATIVE DEATHS over the century — an absolute count, not a rate, and not per capita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cost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smaller arms than the other outcomes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42 vs 37 scenarios at World 1.5°C, against 42 vs 43 for jobs. Mortality is always the binding constraint on sample size, which is why its intervals are the widest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concentrations are computed on TM5-FASST's own 56-region grid and aggregated to R10, so cross-border transport between R10 regions is captured. TEMPORAL: emissions at decadal nodes drive concentrations at those nodes; between-node behaviour is interpolated, and no run in this release required interpolation.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the database contains, and what it can carry.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THE SAMPLE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From the database to 610 classified scenarios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FUNNEL</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389120"/>
                <a:gridCol w="1828800"/>
                <a:gridCol w="48463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Count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carrying the classification variables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1,379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must report the CDR components and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Classified, full database (A)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67 + 67 at 1.5°C · 238 + 238 at 2°C — balanced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Classified, SCI-vetted (C)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 + 6 at 1.5°C · 63 + 64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families ·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10 · 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one fewer than on the engineered axis — see the axis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 scenario-family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unit resampled by the bootstrap</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Reaching complete World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363 of 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and only among scenarios the engineered axis also classified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portfolio rule — top tercile on the focal axis and NOT top tercile on the opposing axis — produces equal arms automatically, because both terciles are the same size on the same sample and the same overlap is removed from each.</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Who populates which arm — and what the wider axis costs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THE COST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280160"/>
                <a:gridCol w="1280160"/>
                <a:gridCol w="2011680"/>
                <a:gridCol w="4297680"/>
              </a:tblGrid>
              <a:tr h="256032">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Model family</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Holds both arms?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Change from the engineered axis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REMIND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2F79B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C68A20"/>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73% of the High-RE arm, up from 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MESSAGEix</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YES — balanced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gains 55 High-CDR scenarios: land-heavy pathways it reports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IMAGE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POLES-JRC</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GCAM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AIM/CGE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 High-CDR, +4 High-RE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WITCH</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unchanged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TIAM-ECN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COFFEE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held both arms on the engineered axis (12 v 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GEM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25 High-CDR on the engineered axis, none here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THIS IS THE PRICE OF THE WIDER AXIS AND IT BELONGS IN THE PAPER. Families holding both arms falls from eight to seven, and REMIND's share of High-RE rises slightly. A broader CDR definition admits scenarios whose engineered removal is small and re-sorts which models populate which arm. The within-model check is what decides whether that matters.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confound is far worse at 1.5°C than the pooled figure suggests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1.5°C vs 2°C</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1188720"/>
                <a:gridCol w="1188720"/>
                <a:gridCol w="1188720"/>
                <a:gridCol w="1188720"/>
                <a:gridCol w="4206240"/>
              </a:tblGrid>
              <a:tr h="256032">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Model family</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Can it be asked within-model?</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REMIND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 — it is essentially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MESSAGEix</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B7791F"/>
                          </a:solidFill>
                          <a:latin typeface="Calibri" pitchFamily="34" charset="0"/>
                          <a:ea typeface="Calibri" pitchFamily="34" charset="-122"/>
                          <a:cs typeface="Calibri" pitchFamily="34" charset="-120"/>
                        </a:rPr>
                        <a:t>YES — the ONLY one at 1.5°C, on 3 RE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IMAGE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2°C only, barely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POLES-JRC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GCAM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AIM/CGE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WITCH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TIAM-ECN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COFFEE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REMIND's share of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families with ≥3 in BOTH arms: 1 at 1.5°C, 4 at 2°C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AT 1.5°C THE ARMS ARE ALMOST PERFECTLY SEGREGATED BY MODEL. REMIND supplies 59 of 67 High-RE scenarios and one of 67 High-CDR; IMAGE (23/0) and WITCH (6/0) are pure High-CDR. So 'High-RE against High-CDR' at high ambition is close to 'REMIND against IMAGE, MESSAGEix, WITCH and GCAM'. The pooled 73% REMIND share understates the problem exactly where the headline results sit. This is very likely substantive rather than clerical — at the most stringent target, frameworks diverge structurally in HOW they get there, and that divergence is what sorts them into arms.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How many models is each arm really made of?</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CONCENTRATION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108960"/>
                <a:gridCol w="2377440"/>
                <a:gridCol w="2377440"/>
                <a:gridCol w="32004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High-CDR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High-RE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Reading</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1.5°C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one model is nearly the whole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a multi-model ensemble against effectively one model</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4.7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B7791F"/>
                          </a:solidFill>
                          <a:latin typeface="Calibri" pitchFamily="34" charset="0"/>
                          <a:ea typeface="Calibri" pitchFamily="34" charset="-122"/>
                          <a:cs typeface="Calibri" pitchFamily="34" charset="-120"/>
                        </a:rPr>
                        <a:t>better, and still a 2-to-1 asymmetry in breadth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Effective number of models = 1 / Σ(share²), the inverse Herfindahl index: it asks how many models an arm is really made of, so an arm that is 88% one model counts as ~1 however long its tail. THE ASYMMETRY IS THE PROBLEM, not the overlap between arms. High-CDR is a genuine ensemble at both ambition levels; High-RE is REMIND with a fringe. A pooled difference between them could be a pathway effect or a REMIND effect, and nothing in the composition alone distinguishes the two — which is what the next slide tests.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coverage flow — how many scenarios each outcome can actually use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COVERAGE</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926080"/>
                <a:gridCol w="1371600"/>
                <a:gridCol w="1371600"/>
                <a:gridCol w="1371600"/>
                <a:gridCol w="1371600"/>
                <a:gridCol w="27432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gates it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renewable AND fossil jobs in all ten R10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deprivation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the decent-living gap in all ten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133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All five PM2.5 precursors reported directly at R10 — the strictest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The three outcomes are gated INDEPENDENTLY — missing mortality does not blank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Mortality is always the binding constraint on sample size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World figure is computed ONLY when all ten R10 regions are present for that outcome; partial sums are set to NA rather than reported. MORTALITY CARRIES AN EXTRA CAVEAT: its target list was drawn against the engineered axis, so the 80 scenarios the all-CDR axis newly admits have no mortality run at all. That is target selection, not a property of those scenarios, and it is why the mortality arms are the smallest here.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same coverage flow, drawn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F4</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4_coverage.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Each outcome is gated on its own ten-region completeness, so the arms differ in size between outcomes.</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Deprivation retains MORE High-CDR scenarios than jobs at 1.5°C (67 against 58), which is exactly why the three outcomes have to be gated separately rather than jointly. Mortality is the binding constraint everywhere — and here it is doubly so, because its targets were drawn against the engineered axis.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Two data defects found and fixed, and what each one 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TWO FIXES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ONE — THE WORLD AGGREGATION. The master built the World row by summing outcomes WITHIN each deployment-variable group, so a scenario's World total inherited the regional coverage of whichever CDR variable that row belonged to. COFFEE 1.1 / COMMIT-Baseline read 765,457 on one row and 684,824 on the other; all 288 discrepant scenario-regions showed exactly this pattern.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FIXED AND PORTED. World outcomes are now built from an outcome-only R10 table, each gated INDEPENDENTLY on having all ten regions, with explicit coverage fields. Ported into build_df_master() and verified to machine precision.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TWO — MANGLED SCENARIO KEYS, AND LARGER. The labels file stores degree signs as literal text where the master files carry a real degree sign, so the two spellings never compare equal. The published summary joins them with inner_join(), which drops non-matching rows SILENTLY — 71 classified scenarios (REMIND 34, IMAGE 20, COFFEE 6, WITCH 6, GCAM 3, MESSAGEix 2) never reached the outcome tables.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REPAIRING THE KEYS MOVED. On the engineered axis, World 1.5°C jobs goes from +395.8 to +405.0 and its arms from 42 v 43 to 53 v 64; the scorecard from 42 of 60 to 44 of 60. No direction changes and no cell reverses — but the published sample was 12% smaller than it should have been, and every number here is now on repaired keys.</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Defect one: V3_world_strict.R, ported and verified by V4_verify_port.R. Defect two: diagnosed in V6_key_repair.R, which shows all 746 labels joining after repair against 675 before. Both are upstream defects in the published pipeline, not artefacts of these scripts.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THREE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wellbeing results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High-RE delivers, at World and in every region.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WHOLE GRID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All 60 comparisons on one panel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F1</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1_scorecard.png">    </p:cNvPr>
          <p:cNvPicPr>
            <a:picLocks noChangeAspect="1"/>
          </p:cNvPicPr>
          <p:nvPr/>
        </p:nvPicPr>
        <p:blipFill>
          <a:blip r:embed="rId1"/>
          <a:stretch>
            <a:fillRect/>
          </a:stretch>
        </p:blipFill>
        <p:spPr>
          <a:xfrm>
            <a:off x="2575966" y="1536192"/>
            <a:ext cx="704616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Every region × ambition × outcome cell, coloured by direction, with the saturated fill marking the cells whose interval clears zero.</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jobs column is solid: twenty of twenty, all significant. Deprivation clears in eleven cells and mortality in five, with reversals in both — the unevenness is the paper's actual finding rather than a weakness in it. Pacific OECD is excluded from the regional rows and retained inside the World aggregate.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job-years per 1,000 people,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20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227.60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691.52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+463.9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186.50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471.15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+284.6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263.10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1043.61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+780.5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723.48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+494.3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177.25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+195.7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266.25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+136.7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65.91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171.10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+105.2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+56.3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1007.64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+743.2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242.52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668.16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+425.6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232.43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508.68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+276.2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178.72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372.57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+193.8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339.12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+511.9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153.83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549.95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+396.1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140.29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328.29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+188.0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101.32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219.54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+118.2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503.39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764.10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+260.7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383.21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605.37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155.22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874.24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+719.0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+413.9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 clears a cluster-robust 95% interval on the raw difference. EVERY cell favours High-RE and EVERY cell clears the interval — the only outcome in the study of which that is true. Pacific OECD is excluded from these rows (+37.6 at 1.5°C, +22.6 at 2°C, neither significant) and retained in the World aggregate.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decent-living gap, GJ per capita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14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-6.81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-24.76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64.88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-0.16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-0.82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61.80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-24.42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+1.31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10.26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Negative closes the gap and favours High-RE. Eleven of twenty cells clear, up from six on the engineered axis. Africa and Latin America carry the largest absolute movements; Latin America clears at both levels and Africa only at 1.5°C. Rest of Asia reverses significantly at 2°C and the Middle East at 2°C.</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million cumulative deaths,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8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426.23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415.12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+11.11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433.60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75.29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-3.22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-2.41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+3.66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+8.30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55.38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56.11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means High-RE avoids deaths. EUROPE CARRIES THE WORLD RESULT: 4.99 and 3.66 million avoided, significant at both levels, on a base of about 16 million — a 31% reduction, the largest proportional effect anywhere. Africa goes significantly the other way at both levels. Twelve of twenty cells straddle zero. Pacific OECD (+1.70, +1.91, both significant) is excluded from these rows.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three World cells, with their intervals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F2</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2_world.png">    </p:cNvPr>
          <p:cNvPicPr>
            <a:picLocks noChangeAspect="1"/>
          </p:cNvPicPr>
          <p:nvPr/>
        </p:nvPicPr>
        <p:blipFill>
          <a:blip r:embed="rId1"/>
          <a:stretch>
            <a:fillRect/>
          </a:stretch>
        </p:blipFill>
        <p:spPr>
          <a:xfrm>
            <a:off x="1274875" y="1536192"/>
            <a:ext cx="964834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Jobs clears by a wide margin at both ambition levels; deprivation and mortality clear at 1.5°C only.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Each bar is the raw difference in medians with a 2,000-replicate cluster bootstrap over 290 model × scenario-family clusters. Four of the six World cells clear, and all four favour High-RE.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SCORECARD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design, side by side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42 / 60</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840480"/>
                <a:gridCol w="1280160"/>
                <a:gridCol w="2011680"/>
                <a:gridCol w="2011680"/>
                <a:gridCol w="19202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Design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Cells</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POINT to 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Point to 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Of which clear the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 ·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 · 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C7293"/>
                          </a:solidFill>
                          <a:latin typeface="Calibri" pitchFamily="34" charset="0"/>
                          <a:ea typeface="Calibri" pitchFamily="34" charset="-122"/>
                          <a:cs typeface="Calibri" pitchFamily="34" charset="-120"/>
                        </a:rPr>
                        <a:t>BY OUTCOME — full database, both levels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 · 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 · 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5 · 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TOTAL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 · 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ENGINEERED-ONLY AXIS (the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32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DIRECTION FIRST. The last column is 'for · against' among the cells whose interval clears zero, kept as context rather than as the claim. Read by direction, the three outcomes are plainly different: jobs points one way everywhere, deprivation leans High-RE with six exceptions, and mortality is close to a coin flip at 8 against 12. The axis choice barely moves any of it — the engineered-only sensitivity gives 44 of 60. The SCI-vetted rows run on six scenarios per arm at 1.5°C and score highest because they are smallest; their labels also differ from the published ones by seven scenarios, so treat them as indicative.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FOUR</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mechanism and real world</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Why these results, given how the outcomes are built and how energy systems work.</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MECHANISM — JOBS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Where the employment gap comes from, and what High-CDR wins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1.5°C, 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1371600"/>
                <a:gridCol w="475488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Technology group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Gap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Reading</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252.3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703.7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+451.4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entire result — wind and solar construction, manufacturing and O&amp;M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Fossil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2F79BF"/>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largest single loss. Fossil CCS extends the fuel supply chain — the mine and the well keep running</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Nuclear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High-CDR leans on firm low-carbon capacity that High-RE displaces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Bioenergy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−9.9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BECCS and land-based removal carry a biomass supply workforce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 outweigh all three losses combined by 11 to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Job-years per 1,000 people, cumulative 2020–2100, medians over the scenarios with complete ten-region coverage. THE MECHANISM IS UNAMBIGUOUS: High-CDR wins fossil, nuclear and bioenergy employment combined (−42.3) and still loses by 464, because the renewable build is 2.8 times larger. This also answers the obvious objection — the result is NOT an artefact of counting fossil job destruction, because High-CDR retains more fossil, nuclear AND biomass work and loses anyway.</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jobs mechanism is an engineering fact, not a modelling artefact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LABOUR INTENSITY PER UNIT OF CAPACITY IS HIGHER FOR BUILDING THAN FOR FUELLING. A gas turbine with capture needs a fuel supply chain and a handful of operators; an equivalent wind or solar build needs factories, foundations, cabling and installation crews. Over 2020–2100 the renewable term is 704 job-years per 1,000 against 252 — 2.8 times larger — and that single term carries the entire result.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CARBON REMOVAL IS CAPITAL-INTENSIVE AND LABOUR-SPARING BY DESIGN. Its appeal is that it lets the existing energy system keep running with a bolt-on. That is exactly why it employs fewer people: the point of the technology is to avoid rebuilding the system, and rebuilding the system is where the work is. Land-based removal is more labour-sparing still in ENERGY terms — its work is in land management, which this outcome set does not count.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THREE THINGS HIGH-CDR WINS ARE REAL AND WORTH NAMING. Fossil (+22), nuclear (+10) and bioenergy (+10) all favour it. These are not trivial jobs — fossil extraction is regionally concentrated, nuclear is high-skill and unionised, biomass supply is rural. A just-transition argument has to engage with all three, and the paper should say so rather than reporting only the net.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REAL-WORLD EVIDENCE POINTS THE SAME WAY. Observed employment per GW installed in solar PV and onshore wind exceeds that of new thermal capacity in essentially every published national accounting, and the gap is widest in the build phase. The models are reproducing something already visible in labour statistics.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the deprivation result now clears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MECHANISM IS DELIVERED FINAL ENERGY REACHING THE BOTTOM OF THE DISTRIBUTION. The gap is the energy needed to lift everyone below the decent-living floor up to it, computed on a within-region lognormal fitted to that region's final-energy Gini — so a pathway closes it by raising delivered energy where the poor tail sits, not merely by raising the regional mean. High-RE closes the World gap from 18.43 to 11.62 GJ per capita at 1.5°C, a 37% reduction.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IT CLEARS NOW AND DID NOT BEFORE. Two things changed and both added scenarios rather than changing any value. Repairing the mangled scenario keys returned 71 classified scenarios that a text-encoding mismatch had silently dropped, and the all-CDR axis admits 80 more. Deprivation is the outcome with the widest between-model spread, so it is the one most starved by a smaller sample — the point estimate barely moved; the interval tightened.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STILL A REGIONALLY SPLIT RESULT. Latin America (−24.4), Africa (−24.8), Europe (−3.6), North America (−2.6), India+ (−0.9) and China+ (−0.4) all clear at 1.5°C. Rest of Asia (+3.8 at 1.5°C, +3.4 at 2°C) and the Middle East (+1.3 at 2°C) push the other way, the latter two significantly. That is a genuine split, not a weak global effect.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IT DOES NOT HOLD AT 2°C. The World cell is −4.09 [−0.56, +7.75] — large, correctly signed, and not significant. Report deprivation as holding at high ambition and as regionally split at medium ambition; that is more honest and more useful than a single global claim.</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mortality clears at 1.5°C, and why Europe carries it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INPUT RULE IS WHAT MADE MORTALITY REPORTABLE AT ALL. Requiring all five PM2.5 precursors to be reported directly at R10 removes the ammonia asymmetry at source. In the previous round REMIND reported almost no agricultural ammonia while other models reported 6–12%, flattering High-RE by roughly 9%. Scenarios that cannot support the calculation are now dropped rather than filled.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EUROPE IS THE RESULT. 4.99 million cumulative deaths avoided at 1.5°C and 3.66 million at 2°C, both significant, on a base of about 16 million — a 31% reduction, the largest proportional mortality effect of any region. Europe's population lives densely and close to its combustion sources, so a given reduction in primary PM and precursors buys more avoided exposure there than almost anywhere.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RESULT IS SIGNIFICANT AT 1.5°C AND NOT AT 2°C — 11.11 million avoided [+3.82, +50.40] against −4.28 [−20.6, +35.9]. That asymmetry is consistent with the mechanism: at higher ambition the two arms differ more in how much combustion remains, so the air-quality consequence is larger.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AFRICA GOES THE OTHER WAY, SIGNIFICANTLY, AT BOTH LEVELS — 3.2 and 2.4 million more deaths under High-RE. This is the study's most uncomfortable cell and it should be reported prominently. African PM2.5 is dominated by residential solid fuel and windblown dust, which the power-sector mix does not control; a pathway that builds generation without displacing household solid fuel does not buy clean air there. Twelve of twenty cells still straddle zero, so there is no universal air-quality co-benefit to claim.</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FIVE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region by region</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Each region's own mechanism, and its real-world reading.</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India+ — the largest employment prize in the study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264.4 → 1007.6 · 242.5 → 668.2</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1.35 → 0.47 · 1.08 → 0.44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112.9 v 104.6 · 114.3 v 116.3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3.8× · 2.8×</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 BURDEN</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113–116 m deaths</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+8.3 m,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 shows the second-largest absolute jobs gap of any region (+743 job-years per 1,000 at 1.5°C) on top of an already-high High-CDR base — the renewable build is 3.8 times larger, not merely additive. Its decent-living threshold is the lowest anywhere at 10 GJ/cap, so the small absolute deprivation gap (0.47 GJ/cap under High-RE) still clears the interval at BOTH ambition levels, which India+, China+, Europe and Latin America all now manage.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India's power build is genuinely greenfield: there is no large stranded workforce to displace and the solar manufacturing base is being built now rather than defended. The carbon-removal alternative here means coal or gas with capture, which locks in both the mine and the import bill. India+ also carries the largest absolute PM2.5 burden of any region at 113–116 million cumulative deaths, so even a non-significant 8.3 million avoided at 1.5°C is a large number in human terms.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cells do not clear at either level and the sign flips between them, so India+ supports the jobs and deprivation claims but not an air-quality claim.</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Europe — the only region where all three outcomes hold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65.9 → 171.1 · 60.1 → 116.4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6.21 → 2.65 · 3.46 → 2.64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16.2 v 11.2 · 14.9 v 11.2</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REDUCTION</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31% · 25%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ALL THREE OUTCOMES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SMALLEST ABSOLUTE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+105 · +56</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 has the SMALLEST absolute jobs gap of any region (+105 job-years per 1,000) because its build is small relative to its incumbent system — and it still clears the interval at both levels. Its distinguishing result is mortality: 4.99 and 3.66 million cumulative deaths avoided on a base of about 16 million, a 31% and 25% reduction. That is the largest proportional air-quality effect anywhere and the only mortality result significant at both ambition levels.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Europe's population lives densely and close to its combustion sources, so a given reduction in primary PM and precursors buys more avoided exposure than almost anywhere else. It is also the region where the reporting-complete rule bites least — European models report the full precursor set — so the mortality estimate rests on comparatively solid input data. Europe is the region to lead with when the audience is air-quality policy.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Europe is the ONLY region where all three outcomes clear at 1.5°C, and it is the natural anchor for the paper's three-outcome claim.</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Africa — the largest jobs gap, and the study's hardest cell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263.1 → 1043.6 · 229.2 → 723.5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67.3 → 42.5 · 64.9 → 41.8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75.3 v 78.5 · 76.3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4.0× · 3.2×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−24.8,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65–67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has the largest jobs gap in the study by a wide margin: +781 job-years per 1,000 at 1.5°C, because there is almost nothing to retire and everything to build. Its deprivation baseline is also by far the worst — a 65–67 GJ/cap shortfall against a 17 GJ/cap threshold — and High-RE closes 23–25 GJ/cap of it, which NOW CLEARS at 1.5°C on the larger sample, though not at 2°C. But mortality goes significantly the other way at BOTH ambition levels: 3.2 and 2.4 million more deaths.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is where the wellbeing stakes are highest and the three outcomes disagree most sharply. The mortality reversal is the important finding and it has a clear mechanism: African PM2.5 is dominated by residential solid fuel and windblown dust, not the power mix, so a pathway that builds generation without displacing household cooking fuel does not buy clean air. It may even shift exposure, because the build itself is dusty and the displaced capacity was never the binding source.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paper should report Africa's mortality cell prominently rather than treating it as noise. It is the clearest evidence that the air-quality co-benefit is not universal and depends on what actually dominates local exposure.</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Latin America — the most complete deprivation result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232.4 → 508.7 · 178.7 → 372.6</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61.8 → 37.4 · 51.2 → 39.0</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15.2 v 15.7 · 13.8 v 15.7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CLOSED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−24.4 GJ/cap</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51–62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LAND CDR</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C7293"/>
                </a:solidFill>
                <a:latin typeface="Calibri" pitchFamily="34" charset="0"/>
                <a:ea typeface="Calibri" pitchFamily="34" charset="-122"/>
                <a:cs typeface="Calibri" pitchFamily="34" charset="-120"/>
              </a:rPr>
              <a:t>now INSIDE the axis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Latin America closes the largest deprivation gap that clears at both ambition levels: −24.4 GJ/cap at 1.5°C and −12.2 at 2°C. Its models agree, so the result is both large and precise. Jobs is solid (+276 and +194) though not among the largest multiples, because Latin America already has a substantial renewable base and the incremental build is smaller in relative terms.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This region is the one most affected by the axis decision. Under an engineered-only axis, Latin American carbon management is largely INVISIBLE — its removal is overwhelmingly land-based, afforestation and soil carbon — so an engineered axis scores the region on an intervention it barely uses. Putting land back in makes Latin America a genuine High-CDR region for the first time, which is the single strongest argument for the all-CDR axis being the right primary specification.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Mortality is mildly negative at both levels and clears at neither. Latin America's PM2.5 base is small (14–16 million) so there is little room for the power mix to move it.</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Middle East — jobs yes, energy access no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339.1 → 851.0 · 153.8 → 550.0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1.83 → 2.43 · 0.94 → 2.24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46.2 v 46.2 · 43.8 v 46.6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2.5× · 3.6×</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−0.60 against,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44–47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Middle East has one of the largest jobs multiples in the study (3.6× at 2°C) and is the region where deprivation most clearly reverses — the gap WIDENS from 0.94 to 2.24 GJ/cap at 2°C, significantly. Those two facts sit together because the region starts from an unusually low renewable share and an unusually high per-capita energy base: building renewables creates a great deal of work while the delivered-energy trajectory under High-RE falls short of what the carbon-removal pathways sustain.</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For the Gulf, carbon management is not a climate policy bolted onto the economy — it IS the economy. Fossil CCS lets hydrocarbon production and export continue while the emissions are captured. High-RE means abandoning the export base, and the models reflect the domestic energy consequence of doing so. This is the clearest case in the study where the wellbeing comparison and the political-economy reality point in genuinely different directions.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On the wider CDR axis the 1.5°C deprivation cell no longer clears (−0.60, not significant) where it did on the engineered axis, so the reversal is now a 2°C finding rather than a universal one.</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China+ — solid on both, quiet on health</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177.3 → 373.0 · 129.5 → 266.3</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1.20 → 0.80 · 0.83 → 0.67</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79.1 v 77.4 · 79.6 v 78.8</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 · 2.1×</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JOBS MULTIPLE</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79–80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shows the SMALLEST jobs multiple of any region at 2.1× — but on a large base, so the absolute gap (+196 and +137 job-years per 1,000) still clears the interval comfortably at both levels. The modest multiple reflects that China's High-CDR pathways already involve a very large build; the two arms differ less in whether they construct than in what they construct. Deprivation now clears at BOTH ambition levels on the larger sample.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carries the second-largest absolute PM2.5 burden in the study (79–80 million cumulative deaths) and the mortality difference between arms is small and not significant in either direction. The plausible reason is that Chinese PM2.5 is heavily influenced by agricultural ammonium nitrate and industrial process emissions that neither pathway addresses — the power-sector mix is not the binding constraint on Chinese air quality within this horizon.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China+ is a reliable contributor to the headline without being the story anywhere: two of three outcomes clear at both levels, and the third is a genuine null.</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Rest of Asia — the largest multiple, and a deprivation reversal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155.2 → 874.2 · 129.2 → 543.0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4.28 → 8.06 · 3.62 → 7.06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55.4 v 56.1 · 57.9 v 57.9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LARGEST MULTIPLE IN THE STUDY</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+3.44, significantly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+3.78,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Rest of Asia has the LARGEST jobs multiple anywhere — 5.6× at 1.5°C, from 155 to 874 job-years per 1,000 — for the same reason as Africa and India+: a very large remaining build against a small incumbent fleet. Deprivation goes the other way at both levels and clears at 2°C, making it one of only two regions where High-RE significantly WIDENS the decent-living gap.</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aggregates economies at very different stages — Indonesia, Vietnam, Thailand, the Philippines — so a single R10 label conceals more heterogeneity here than almost anywhere. The deprivation reversal is most plausibly a composition effect within the region rather than a coherent mechanism, and the paper should say so rather than construct a story for it.</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jobs result is among the strongest in the study; the deprivation result is a genuine reversal at 2°C and should be reported as such.</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North America — jobs and access hold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140.3 → 328.3 · 101.3 → 219.5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10.26 → 7.62 · 7.19 → 8.06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 v 8.9 · 6.8 v 8.9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 · 2.2×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+0.88,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PM2.5 BASE</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6.8–8.9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America's jobs gap is solid and significant at both levels (+188 and +118) on a 2.2–2.3× multiple. Deprivation now CLEARS at 1.5°C (−2.64 GJ/cap) where on the engineered axis it went mildly the other way — one of the cells the wider axis and the repaired sample changed. At 2°C it reverts to a small non-significant widening. Mortality goes mildly against High-RE at both levels and clears at neither.</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 has the highest incumbent nuclear capacity of any region, and the jobs decomposition shows nuclear employment favouring High-CDR globally by 10 job-years per 1,000 — a penalty concentrated in exactly this region. The deprivation reading needs care: at 37 GJ/cap North America has the highest decent-living threshold anywhere, so its residual gap measures how far a rich region sits from a demanding benchmark rather than energy poverty in the usual sense.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base is the smallest of any region at 6.8–8.9 million, so there is very little room for the power mix to move it — the non-significant difference is what one would expect rather than a puzzle.</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Reforming economies — strong jobs, and a rare health signal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503.4 → 764.1 · 383.2 → 605.4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2.00 → 1.55 · 1.37 → 1.42</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 v 13.1 · 14.1 v 13.3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HIGHEST JOBS BASE ANYWHERE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503 · 383</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flat,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Reforming economies carries the highest High-CDR jobs base of any region (503 job-years per 1,000 at 1.5°C) — a reflection of its very large incumbent energy workforce — and High-RE still adds +261 on top of it. It is also one of only three regions with a significant mortality result favouring High-RE, and on the all-CDR axis it now clears at BOTH ambition levels (+0.88 and +0.89 million avoided), alongside Europe and Pacific OECD.</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Russia and Central Asia hold the largest fossil fleet in the study, so this is the region where a transition looks most like a net industrial disruption. That the jobs result still clears comfortably — and that it does so while High-CDR retains more fossil, nuclear and biomass employment — is the strongest available evidence that the renewable build genuinely outweighs what it displaces rather than merely accounting it away.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is flat (−0.45 and +0.06, neither significant), which is what one would expect of a region already close to its decent-living threshold.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Pacific OECD — excluded from the regional rows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EXCLUDED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81.7 → 119.3 · 75.2 → 97.8</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5.53 → 5.93 · 3.66 → 5.38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5.3 v 3.6 · 5.5 v 3.6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+37.6, not 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+22.6,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+1.73, significant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 · +1.9, both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Pacific OECD is the only region where the jobs result fails at BOTH ambition levels — the gap is positive but the interval never clears. It is also the only region whose mortality cells are significant while its jobs cells are not, which is the reverse of the pattern everywhere else. Deprivation goes significantly against High-RE at 2°C.</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is small (Japan, Korea, Australia, New Zealand), highly developed, and already substantially built out, so the marginal renewable build that distinguishes the two arms elsewhere is much smaller here. As in the previous design, the classification does not describe local behaviour well enough to support a regional reading.</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REASON IT IS EXCLUDED IS NOT ITS RESULTS BUT ITS LABEL COHERENCE: scenarios called High-RE build 0.88× the renewable capacity of High-CDR scenarios here at 1.5°C (Cliff's δ −0.11) and the same at 2°C, against δ +0.27 to +0.99 everywhere else. The contrast being measured does not exist locally. Retained inside the World aggregate — dropping it there would change what 'World' means. A display decision, not a data exclusion: no scenario is discarded, and the counts are identical to every other region.</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Pacific OECD is not shown as a regional row</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WHY EXCLUDED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011680"/>
                <a:gridCol w="2286000"/>
                <a:gridCol w="1005840"/>
                <a:gridCol w="2651760"/>
                <a:gridCol w="310896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Region</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Cliff's δ on local renewables, 1.5°C</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2°C</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High-RE ÷ High-CDR median renewable capacity, 1.5°C</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Reading</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Pacific OECD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+0.03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the contrast does not exist locally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Reforming econ.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+0.27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+0.54</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1.15×</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weakest region still shown — flagged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Middle East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+0.79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1.67×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coherent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Europe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1.66×</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coherent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North America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+0.86</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+0.92</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1.67×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coherent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Latin America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1.75×</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coherent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+0.71</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1.57×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coherent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Africa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+0.90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+0.82</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2.94×</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coherent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Rest of Asia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4.34×</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coherent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India+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+0.99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+0.85</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2.46×</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B7A4B"/>
                          </a:solidFill>
                          <a:latin typeface="Calibri" pitchFamily="34" charset="0"/>
                          <a:ea typeface="Calibri" pitchFamily="34" charset="-122"/>
                          <a:cs typeface="Calibri" pitchFamily="34" charset="-120"/>
                        </a:rPr>
                        <a:t>strongest — the label describes it almost perfectly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EXCLUDING PACIFIC OECD REMOVES NO SCENARIOS. One fixed global classification is applied unchanged in every region, so the counts are identical everywhere (58 v 67 at 1.5°C, ~212 v 238 at 2°C). The question is whether the global label describes LOCAL behaviour: δ is computed on each region's own cumulative renewable capacity. Everywhere else, High-RE scenarios really do build more renewables there (+0.27 to +0.99). In Pacific OECD they build slightly LESS at 1.5°C and the same at 2°C — the contrast is absent locally, so the row would compare two groups that are not different there. Retained in the World aggregate; a display decision, not a data exclusion.</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SIX</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But is it real?</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Model composition, the land-based CDR boundary, and the scenarios that never reported renewables.</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THE CONFOUND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An artefact of the database, and the binding constraint on attribution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CONFOUND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FAMILY DOMINATES ONE ARM, AND IT IS WORST WHERE THE HEADLINES ARE. REMIND is 73% of High-RE pooled — 88% at 1.5°C and 69% at 2°C — against under 1% of High-CDR. At high ambition IMAGE (23/0) and WITCH (6/0) are pure High-CDR, so the comparison there is close to 'REMIND against IMAGE, MESSAGEix, WITCH and GCAM'.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PLAUSIBLY SUBSTANTIVE, NOT CLERICAL. At the most stringent target, frameworks diverge structurally in HOW they get there — REMIND builds renewables, IMAGE and WITCH lean on removal — and that divergence is what sorts them into arms. The confound and the finding share a cause, which is worth saying rather than treating the imbalance as a data-quality nuisance.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WITHIN-MODEL CHECK SPLITS BY AMBITION. On jobs, 72% of family-cell comparisons point the pooled way and the median family agrees in 16 of 20 cells. At 2°C four families can be asked and jobs is solid (World 2°C: four of four agree). At 1.5°C only MESSAGEix holds both arms, on three High-RE scenarios, so those cells rest on pooling.</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DEPRIVATION IS THE OUTCOME MOST EXPOSED TO IT. Only 42% of family comparisons agree with the pooled sign, and Simpson's paradox runs both ways: Europe, Latin America and Africa read FOR High-RE pooled and AGAINST inside the models at 2°C, while the Middle East and Rest of Asia do the reverse. Mortality is thinner still — two families, 25% agreement.</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Sources: W14_within_model_landprimary.R for the within-model grid and W15_arm_composition.R for the composition and leave-one-out. Effect size in the within-model test is Cliff's delta: inside one family the samples are tiny and the question is about rank overlap, not the size of the gap.</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IS IT REAL?</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survives, and what the reader should take on trust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VERDICT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2651760"/>
                <a:gridCol w="1737360"/>
                <a:gridCol w="2377440"/>
                <a:gridCol w="21031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Direction (the claim)</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Interval (context)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Leave-one-out (sensitivity)</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How to state it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 of 20 point to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all 20 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19 of 20 keep direction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a result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14 of 20 point to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11 clear ·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8 of 20 reverse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an association; regionally uneven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8 of 20 point to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5 clear ·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untestable at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Europe and World 1.5°C only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FIRST COLUMN IS THE CLAIM; THE OTHER TWO BOUND IT. Employment points one way in every cell, clears every interval, and holds under the leave-one-out sensitivity — it can be stated as a result. Energy access and air quality point favourably on average, clear in about half their cells, and are more exposed to model composition, so they are stated as associations with the sensitivity attached. The axis choice carries none of this: on the engineered-only axis the direction counts are jobs 20/20, deprivation 15/20, health 9/20.</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LEAVE ONE OUT</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model dominating the High-RE arm is removed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LEAVE ONE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THIS IS A SENSITIVITY, NOT A RESULT. The two arms are not drawn from the same mix of models: High-CDR is a genuine ensemble (effectively 3.6 models at 1.5°C) while High-RE is effectively 1.3, because REMIND supplies 88% of it. That is a property of what AR6 contains and which models report which pathways — an artefact of the database, not of this analysis.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READ IT AS A CEILING ON CONFIDENCE. Removing REMIND leaves 8 High-RE scenarios at 1.5°C and 73 at 2°C, so intervals widen and significance is lost almost everywhere. That part is lost power and should be discounted. A change of SIGN cannot be, because lost power widens an interval around a stable estimate rather than moving it.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EMPLOYMENT DIRECTION SURVIVES. 19 of 20 cells keep their sign, and World 2°C still clears on 73 non-REMIND scenarios. The magnitude falls to a median 18% of its pooled value, so report the pooled figure as the central estimate and this as a conservative floor.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DEPRIVATION AND MORTALITY ARE MORE EXPOSED. Deprivation reverses in 8 of 20 cells; mortality cannot be scored at 1.5°C at all and reverses in 2 of 10 scoreable 2°C cells. This bounds how firmly those two can be attributed to the pathway — it does not change the pooled directions reported in Part three.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W15_arm_composition.R. Every cell is recomputed on identical outcome data with one family removed from both arms; the script self-checks that it reproduces the pooled grid before dropping anything.</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LEAVE ONE OUT</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Drop REMIND from the High-RE arm: the jobs direction holds, the others do not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LEAVE-ONE-OUT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743200"/>
                <a:gridCol w="1737360"/>
                <a:gridCol w="1737360"/>
                <a:gridCol w="1554480"/>
                <a:gridCol w="329184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World cell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Without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Residual RE arm</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What survives</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+463.9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+84.0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sign holds; 18% of the gap; interval lost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+284.7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+37.4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73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B7A4B"/>
                          </a:solidFill>
                          <a:latin typeface="Calibri" pitchFamily="34" charset="0"/>
                          <a:ea typeface="Calibri" pitchFamily="34" charset="-122"/>
                          <a:cs typeface="Calibri" pitchFamily="34" charset="-120"/>
                        </a:rPr>
                        <a:t>STILL SIGNIFICANT, at 13% of the gap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−6.81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+2.77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−4.09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+4.31</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65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Mortality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−11.11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cannot be scored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ACROSS ALL NINE REGIONS + WORLD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keeping the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19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median 18–19% of the advantage retained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 of those 9 are at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Deprivation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8 of 20 cells flip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READ THIS CAREFULLY IN BOTH DIRECTIONS. Dropping REMIND leaves 8 High-RE scenarios at 1.5°C and 73 at 2°C, so losing significance is partly just lost power and is NOT by itself evidence of a confound. But a power loss widens the interval around a STABLE estimate — it does not move the estimate by 80%, and it does not flip signs. Both happen here. The defensible reading: the DIRECTION of the jobs result survives the loss of its dominant model, and at 2°C it survives significantly on 73 independent scenarios, so there is a real pathway effect — but the SIZE of the pooled advantage is substantially a REMIND effect, and the deprivation result does not survive at all.</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LEAVE ONE OUT</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Mortality cannot be checked against its dominant model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651760"/>
                <a:gridCol w="1828800"/>
                <a:gridCol w="2194560"/>
                <a:gridCol w="1645920"/>
                <a:gridCol w="274320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Cell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Without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Residual RE arm</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Verdict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World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−11.11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cannot score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UNTESTABLE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Europe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+4.99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cannot score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UNTESTABLE — and this is the headline claim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Europe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+3.66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+0.23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94% of the effect gone; not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Africa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−2.41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Reforming econ.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+0.89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−0.52</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All ten 1.5°C cells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cannot be scored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the test cannot be run at high ambition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All ten 2°C cells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3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 of 3 survive · 2 flip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one NEW significant cell appears — on 27 scenarios, noise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BE FAIR ABOUT WHAT THIS DOES AND DOES NOT SHOW. Twenty-seven High-RE scenarios from four families is thin, so 'does not survive' here means CANNOT BE VERIFIED, not 'is refuted'. But the pattern matches jobs and deprivation: point estimates move by 90%+ and signs flip, which is not what lost power alone looks like. The practical consequence is concrete — the paper currently leads its air-quality section with Europe, and the Europe result is the one claim in the study that cannot be checked against its dominant model at all at 1.5°C.</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CDR axis is narrowed to engineered removal only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AXIS IN /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The primary axis is all CDR. Narrowing it to engineered removal — novel CDR plus fossil and industrial CCS, excluding afforestation, reforestation and soil carbon — is the obvious alternative, and it is what an earlier version of this analysis used. The test re-runs the entire classification on the narrower axis and scores both label sets on IDENTICAL outcome data, so only the labels differ.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OF THE SCENARIOS BOTH AXES CLASSIFY, NOT ONE SWITCHES ARMS. 530 scenarios are classified under both definitions and 100% keep the same label. The two axes differ by WHICH scenarios they admit — the all-CDR axis adds 80 and drops 76 — not by how they label a shared one. The axes correlate 0.898.</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NARROWER AXIS IS THE CONSERVATIVE ONE, WHICH IS THE POINT. It reports a SMALLER High-RE jobs advantage at World 1.5°C (+405 against +464) and smaller avoided mortality (8.7 million against 11.1), because land-heavy CDR scenarios carry fewer energy jobs. So the headline is not resting on the wider definition: the definition that flatters High-RE least still gives the same answer, significantly, in every jobs cell.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ALL-CDR IS NEVERTHELESS THE RIGHT PRIMARY. The paper asks whether renewables-led mitigation beats CDR-led mitigation. Land-based removal is CDR. An axis that excludes it names a subset of the comparison arm and, in Latin America, makes carbon management nearly invisible in a region whose removal is overwhelmingly land-based. The honest reading is that the choice of axis is a definitional question, both answers are reported, and they agree.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V5_land_primary.R, which builds both label sets from the deployment file with the published rule and reproduces the published classification exactly for the full database. The sample is held fixed across the two runs so that only the axis differs, never the set of scenarios entering the tercile.</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cell, both axes, on the same outcome data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F3</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3_land.png">    </p:cNvPr>
          <p:cNvPicPr>
            <a:picLocks noChangeAspect="1"/>
          </p:cNvPicPr>
          <p:nvPr/>
        </p:nvPicPr>
        <p:blipFill>
          <a:blip r:embed="rId1"/>
          <a:stretch>
            <a:fillRect/>
          </a:stretch>
        </p:blipFill>
        <p:spPr>
          <a:xfrm>
            <a:off x="2718073" y="1536192"/>
            <a:ext cx="676195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Dark point is the primary all-CDR result; the arrow head is the engineered-only sensitivity.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favours High-RE. The arrows are short and mostly point the same way. No jobs cell changes sign, and where the engineered axis differs it generally reports a SMALLER advantage — which is why it is the conservative specification rather than a threat to the result.</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Some of the High-CDR arm never reported renewables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ZEROS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PROBLEM. The classification pivots renewable capacity with a zero fill, so a scenario that never reports Renewable Capacity is scored as deploying none. That puts it at the bottom of the RE distribution and makes it eligible for High-CDR. On the all-CDR axis, 14 of the 67 High-CDR scenarios at 1.5°C and 28 of 238 at 2°C sit at exactly zero renewables. There are NONE in the High-RE arm, by construction: a scenario cannot be top-tercile on renewables while reporting none.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THEY ARE MISSING DATA, NOT ZEROS. Every one was checked against the cumulative deployment file for a Renewable Capacity ROW. None has a row at all. Not one is a reported zero. They are concentrated in GCAM, which is a reporting convention rather than a modelling result — and the SCI-vetted sample already excludes every one of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THEY ARE NOT NEUTRAL. Their median World net energy employment sits near zero, against roughly 300 job-years per 1,000 for the High-CDR scenarios that do report. They drag the High-CDR arm down on the outcome, on the strength of an axis value that the fill invented.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DROPPING THEM WOULD DO. Jobs weakens slightly and still clears easily. Deprivation strengthens. On the engineered axis this was the difference between a non-significant and a significant World deprivation result; on the all-CDR axis the World deprivation cell at 1.5°C ALREADY clears, so the decision no longer carries a headline. It remains a labelled sensitivity and a reporting choice, not a technical one.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W13_zeros_and_land_mortality.R for the diagnosis, and the primary grid for the arm counts. Whichever way this is resolved, the direction of every World cell is unchanged — dropping the zeros makes the deprivation result stronger, never weaker.</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non-reporting scenarios do to the High-CDR arm</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FIGURE F5</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5_zeros.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World net energy employment for the High-CDR arm only, split by whether the scenario reported renewable capacity.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non-reporting group sits at roughly zero net energy employment while the reporting group sits around 300 job-years per 1,000. The zero fill is not a harmless default: it recruits scenarios into the comparison arm on an axis value they never supplied.</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SEVEN</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can claim</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And what has to be said alongside it.</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renewables-led mitigation delivers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AT WORLD, SEVEN OF EIGHT CELLS POINT TO HIGH-RE — energy employment, the decent-living gap and the deprived headcount at both ambition levels, and PM2.5 mortality at 1.5°C. The single exception is mortality at 2°C. Across regions, 42 of 60 comparisons point to High-RE.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 WORK, AND IT IS UNANIMOUS. High-RE leads in ALL 20 region × ambition cells and all 20 clear the interval; no other outcome does either. World net energy employment runs 228 against 692 job-years per 1,000 at 1.5°C (+204%) and 187 against 471 at 2°C (+153%). The mechanism is the renewable build, which outweighs High-CDR's fossil, nuclear and bioenergy employment combined by 11 to 1.</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 ENERGY ACCESS. The World decent-living gap runs 18.43 against 11.62 GJ per capita at 1.5°C and 15.46 against 11.37 at 2°C, with the deprived headcount moving the same way. It leads in 14 of 20 cells — Africa, Latin America, Europe, North America, India+ and China+ — and reverses in Rest of Asia and the Middle East.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THREE — AIR QUALITY, THE UNEVEN ONE. High-RE avoids 11.11 million cumulative deaths at World 1.5°C, and Europe carries it: 4.99 and 3.66 million avoided, a 31% reduction. But only 8 of 20 cells point to High-RE, Africa points the other way at both levels — household solid fuel and dust, not the power mix — and World 2°C is 4.3 million higher. No universal co-benefit to claim.</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How firmly each can be stated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EMPLOYMENT IS THE FINDING. Unanimous in direction across every region and ambition level, significant in every cell, mechanistically explained, and it holds under the leave-one-out sensitivity in 19 of 20 cells. State it as a result. Report the pooled magnitude as the central estimate and the non-REMIND figure as a conservative floor, because the size — unlike the direction — is largely carried by one model.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ACCESS AND AIR QUALITY ARE ASSOCIATIONS. Both point favourably on average and both are regionally uneven, with named reversals that have plausible mechanisms rather than looking like noise. Both are also more exposed to which models populate which arm. State them as associations this database supports, with the regional pattern given explicitly and the sensitivities in Part six attached.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REVERSALS ARE PART OF THE RESULT, NOT AN EMBARRASSMENT. The Middle East widening its energy gap, Rest of Asia at 2°C, and Africa's air quality all have coherent explanations — an export economy, a heterogeneous region, and a PM2.5 burden the power sector does not control. A paper that reported three uniform benefits would be less credible than one that reports where the pattern breaks and why.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 SPECIFICATION IS NOT WHAT CARRIES ANY OF IT. On the engineered-only CDR axis the direction counts are jobs 20/20, deprivation 15/20, mortality 9/20 — materially the same picture from a narrower and more conservative definition.</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Direction is the claim throughout; intervals are reported as context on how firmly each cell points.</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 — THE DATA</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database imposes, stated plainly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 · DATA</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MODEL COMPOSITION IS THE BINDING CONSTRAINT, AND AN ARTEFACT OF WHAT AR6 CONTAINS. High-CDR is effectively 3.6 models at 1.5°C and 4.7 at 2°C; High-RE is 1.3 and 2.0, because REMIND supplies 88% and 69% of it. A property of which models report which pathways, not of the analysis — but it bounds attribution. Quantified by the leave-one-out sensitivity in Part six.</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UPSTREAM DATA DEFECTS WERE FOUND AND FIXED, AND BOTH MATTERED. The World row inherited the wrong regional coverage; and 71 classified scenarios never reached the outcome tables because the labels file stores degree signs as literal text no join could match. Both fixed, both moved numbers, neither reversed a finding — but the published intermediate files should not be taken at face value.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CARRIES TWO RESTRICTIONS THAT COMPOUND. Its targets were drawn against the ENGINEERED labels, so the 80 scenarios the all-CDR axis newly admits have no mortality run. AND the precursor gate culls families unevenly — REMIND passes at 73%, GCAM at 18%, TIAM and COFFEE at 0% — so its High-RE arm is MORE concentrated than the classified one. The fix for the ammonia asymmetry made the composition problem worse.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PACIFIC OECD IS NOT SHOWN AS A REGIONAL ROW, AND THAT REMOVES NO SCENARIOS. High-RE scenarios build 0.88× the renewable capacity of High-CDR ones there at 1.5°C, against 1.15–4.34× elsewhere: the contrast is absent locally. Retained inside the World aggregate.</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 — THE MEASURES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outcome constructions can and cannot see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 · MEASURES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DEPRIVATION MEASURE RESTS ON A MODELLED WITHIN-REGION DISTRIBUTION. The gap and the headcount are both functionals of one lognormal fitted to each region's final-energy Gini — the headcount is its CDF at the threshold, the gap its shortfall integral below it. They agree by construction rather than by corroboration, so they are ONE finding measured twice. Absolute levels are conditional on the lognormal and the Gini, so threshold and Gini sensitivity remain required.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 SET IS ENERGY-SYSTEM CENTRIC, AND INCLUDING LAND-BASED REMOVAL MAKES THAT CUT HARDER. The analysis now scores land-heavy pathways on jobs, energy access and air quality while saying nothing about land competition, food prices, tenure or biodiversity — the channels through which land-based removal most plausibly affects wellbeing. Fair on what it measures, silent on what it does not.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JOB-YEARS ARE A STOCK OF WORK, NOT A HEADCOUNT. 692 job-years per 1,000 people over 2020–2100 is roughly 8.6 people in work per 1,000 at any moment, not 692. Manufacturing is assigned to the deploying region, which is the standard AR6 convention and an optimistic one for regions that import turbines and panels.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IS AN ABSOLUTE COUNT OVER EIGHTY YEARS, NOT A RATE. It is dominated by population and baseline burden, which is why India+ and China+ carry the largest absolute numbers and why Europe — with a far smaller base — shows the largest proportional effect.</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IS OPEN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Next steps, in priority order</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OPEN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RE-RUN THE MORTALITY TARGETS AGAINST THE ALL-CDR LABELS, AND CHECK WHAT IT DOES TO COMPOSITION. 80 newly classified scenarios carry no mortality output because the targets were drawn under the engineered axis. Worth doing on its own terms — but the more important question is whether a re-run recovers any non-REMIND breadth in the High-RE arm, because at present that arm is 95% one model at 1.5°C and no air-quality direction can be tested there.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REPORT THE JOBS MAGNITUDE WITH ITS LEAVE-ONE-OUT VALUE ALONGSIDE. The direction is unanimous and survives; the pooled size is largely REMIND. A reviewer will ask, and giving both figures in the same sentence pre-empts it — the pooled estimate as the central value, the non-REMIND estimate as a conservative floor.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 THE LABELS FILE AT SOURCE. The mangled degree signs should be corrected where the file is written, not repaired downstream, and the published summary's inner_join() should be made to fail loudly on unmatched keys rather than dropping them silently.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REPORT THE ZERO-RENEWABLE SCENARIOS. Retained with the zero fill is the published behaviour. On the all-CDR axis dropping them no longer changes a headline, so this is now a presentational choice rather than a live risk.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RE_SPEC DEFINITION SENSITIVITY — whether the renewables axis should include nuclear or biomass. A reviewer will ask, and the answer is currently a principled argument without a table behind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2026-08-28T16:53:53Z</dcterms:created>
  <dcterms:modified xsi:type="dcterms:W3CDTF">2026-08-28T16:53:53Z</dcterms:modified>
</cp:coreProperties>
</file>