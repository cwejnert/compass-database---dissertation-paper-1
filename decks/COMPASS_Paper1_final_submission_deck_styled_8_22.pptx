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5b5c1cbda047c1" /><Relationship Type="http://schemas.openxmlformats.org/officeDocument/2006/relationships/extended-properties" Target="/docProps/app.xml" Id="R19dd7988da9249c5" /><Relationship Type="http://schemas.openxmlformats.org/officeDocument/2006/relationships/officeDocument" Target="/ppt/presentation.xml" Id="Rdb3f5cd54c29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d0d70e04474bb1"/>
  </p:sldMasterIdLst>
  <p:notesMasterIdLst>
    <p:notesMasterId xmlns:r="http://schemas.openxmlformats.org/officeDocument/2006/relationships" r:id="Red7d7a2085a74846"/>
  </p:notesMasterIdLst>
  <p:sldIdLst>
    <p:sldId xmlns:r="http://schemas.openxmlformats.org/officeDocument/2006/relationships" id="256" r:id="Rbd40f57829bd4681"/>
    <p:sldId xmlns:r="http://schemas.openxmlformats.org/officeDocument/2006/relationships" id="257" r:id="R3118e6c418c14c16"/>
    <p:sldId xmlns:r="http://schemas.openxmlformats.org/officeDocument/2006/relationships" id="258" r:id="Rf9ba0718767c4b11"/>
    <p:sldId xmlns:r="http://schemas.openxmlformats.org/officeDocument/2006/relationships" id="259" r:id="R5d508f57fb214c5e"/>
    <p:sldId xmlns:r="http://schemas.openxmlformats.org/officeDocument/2006/relationships" id="260" r:id="R0399572e23ba4d09"/>
    <p:sldId xmlns:r="http://schemas.openxmlformats.org/officeDocument/2006/relationships" id="261" r:id="R6835f94ac5a740f3"/>
    <p:sldId xmlns:r="http://schemas.openxmlformats.org/officeDocument/2006/relationships" id="262" r:id="Rfd55dbdd8dcc4399"/>
    <p:sldId xmlns:r="http://schemas.openxmlformats.org/officeDocument/2006/relationships" id="263" r:id="R5437804eed7d4aca"/>
    <p:sldId xmlns:r="http://schemas.openxmlformats.org/officeDocument/2006/relationships" id="264" r:id="R53b3de4df72347b0"/>
    <p:sldId xmlns:r="http://schemas.openxmlformats.org/officeDocument/2006/relationships" id="265" r:id="R3a74ed25521a40b7"/>
    <p:sldId xmlns:r="http://schemas.openxmlformats.org/officeDocument/2006/relationships" id="266" r:id="R97b4c170d0834e47"/>
    <p:sldId xmlns:r="http://schemas.openxmlformats.org/officeDocument/2006/relationships" id="267" r:id="R72df46a4aefe49e1"/>
    <p:sldId xmlns:r="http://schemas.openxmlformats.org/officeDocument/2006/relationships" id="268" r:id="R62cee95ef2cb43fa"/>
    <p:sldId xmlns:r="http://schemas.openxmlformats.org/officeDocument/2006/relationships" id="269" r:id="R0429f863615b4292"/>
    <p:sldId xmlns:r="http://schemas.openxmlformats.org/officeDocument/2006/relationships" id="270" r:id="R19eeb4940b644f0c"/>
    <p:sldId xmlns:r="http://schemas.openxmlformats.org/officeDocument/2006/relationships" id="271" r:id="Rbad9175be4af4e15"/>
    <p:sldId xmlns:r="http://schemas.openxmlformats.org/officeDocument/2006/relationships" id="272" r:id="Rb88b31202419485b"/>
    <p:sldId xmlns:r="http://schemas.openxmlformats.org/officeDocument/2006/relationships" id="273" r:id="R0ede725b78eb4c53"/>
    <p:sldId xmlns:r="http://schemas.openxmlformats.org/officeDocument/2006/relationships" id="274" r:id="R040cc1e850e8443a"/>
    <p:sldId xmlns:r="http://schemas.openxmlformats.org/officeDocument/2006/relationships" id="275" r:id="R65e80ea20d4f4799"/>
    <p:sldId xmlns:r="http://schemas.openxmlformats.org/officeDocument/2006/relationships" id="276" r:id="R11122fc832834074"/>
    <p:sldId xmlns:r="http://schemas.openxmlformats.org/officeDocument/2006/relationships" id="277" r:id="R6e2b84daf5784d53"/>
    <p:sldId xmlns:r="http://schemas.openxmlformats.org/officeDocument/2006/relationships" id="278" r:id="Ra4c2870e3ba843bc"/>
    <p:sldId xmlns:r="http://schemas.openxmlformats.org/officeDocument/2006/relationships" id="279" r:id="Rd6f15bece524416f"/>
    <p:sldId xmlns:r="http://schemas.openxmlformats.org/officeDocument/2006/relationships" id="280" r:id="R6af47bade5fc44f6"/>
    <p:sldId xmlns:r="http://schemas.openxmlformats.org/officeDocument/2006/relationships" id="281" r:id="R835c934123924259"/>
    <p:sldId xmlns:r="http://schemas.openxmlformats.org/officeDocument/2006/relationships" id="282" r:id="R9403dfe071dc46c5"/>
    <p:sldId xmlns:r="http://schemas.openxmlformats.org/officeDocument/2006/relationships" id="283" r:id="R23ff43fb198e4b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1f7e9aae7e46c8" /><Relationship Type="http://schemas.openxmlformats.org/officeDocument/2006/relationships/slideMaster" Target="/ppt/slideMasters/slideMaster1.xml" Id="Rb1d0d70e04474bb1" /><Relationship Type="http://schemas.openxmlformats.org/officeDocument/2006/relationships/notesMaster" Target="/ppt/notesMasters/notesMaster1.xml" Id="Red7d7a2085a74846" /><Relationship Type="http://schemas.openxmlformats.org/officeDocument/2006/relationships/presProps" Target="/ppt/presProps.xml" Id="Re93ce5584c2341f8" /><Relationship Type="http://schemas.openxmlformats.org/officeDocument/2006/relationships/tableStyles" Target="/ppt/tableStyles.xml" Id="Rdd9a599126a945f3" /><Relationship Type="http://schemas.openxmlformats.org/officeDocument/2006/relationships/slide" Target="/ppt/slides/slide1.xml" Id="Rbd40f57829bd4681" /><Relationship Type="http://schemas.openxmlformats.org/officeDocument/2006/relationships/slide" Target="/ppt/slides/slide2.xml" Id="R3118e6c418c14c16" /><Relationship Type="http://schemas.openxmlformats.org/officeDocument/2006/relationships/slide" Target="/ppt/slides/slide3.xml" Id="Rf9ba0718767c4b11" /><Relationship Type="http://schemas.openxmlformats.org/officeDocument/2006/relationships/slide" Target="/ppt/slides/slide4.xml" Id="R5d508f57fb214c5e" /><Relationship Type="http://schemas.openxmlformats.org/officeDocument/2006/relationships/slide" Target="/ppt/slides/slide5.xml" Id="R0399572e23ba4d09" /><Relationship Type="http://schemas.openxmlformats.org/officeDocument/2006/relationships/slide" Target="/ppt/slides/slide6.xml" Id="R6835f94ac5a740f3" /><Relationship Type="http://schemas.openxmlformats.org/officeDocument/2006/relationships/slide" Target="/ppt/slides/slide7.xml" Id="Rfd55dbdd8dcc4399" /><Relationship Type="http://schemas.openxmlformats.org/officeDocument/2006/relationships/slide" Target="/ppt/slides/slide8.xml" Id="R5437804eed7d4aca" /><Relationship Type="http://schemas.openxmlformats.org/officeDocument/2006/relationships/slide" Target="/ppt/slides/slide9.xml" Id="R53b3de4df72347b0" /><Relationship Type="http://schemas.openxmlformats.org/officeDocument/2006/relationships/slide" Target="/ppt/slides/slide10.xml" Id="R3a74ed25521a40b7" /><Relationship Type="http://schemas.openxmlformats.org/officeDocument/2006/relationships/slide" Target="/ppt/slides/slide11.xml" Id="R97b4c170d0834e47" /><Relationship Type="http://schemas.openxmlformats.org/officeDocument/2006/relationships/slide" Target="/ppt/slides/slide12.xml" Id="R72df46a4aefe49e1" /><Relationship Type="http://schemas.openxmlformats.org/officeDocument/2006/relationships/slide" Target="/ppt/slides/slide13.xml" Id="R62cee95ef2cb43fa" /><Relationship Type="http://schemas.openxmlformats.org/officeDocument/2006/relationships/slide" Target="/ppt/slides/slide14.xml" Id="R0429f863615b4292" /><Relationship Type="http://schemas.openxmlformats.org/officeDocument/2006/relationships/slide" Target="/ppt/slides/slide15.xml" Id="R19eeb4940b644f0c" /><Relationship Type="http://schemas.openxmlformats.org/officeDocument/2006/relationships/slide" Target="/ppt/slides/slide16.xml" Id="Rbad9175be4af4e15" /><Relationship Type="http://schemas.openxmlformats.org/officeDocument/2006/relationships/slide" Target="/ppt/slides/slide17.xml" Id="Rb88b31202419485b" /><Relationship Type="http://schemas.openxmlformats.org/officeDocument/2006/relationships/slide" Target="/ppt/slides/slide18.xml" Id="R0ede725b78eb4c53" /><Relationship Type="http://schemas.openxmlformats.org/officeDocument/2006/relationships/slide" Target="/ppt/slides/slide19.xml" Id="R040cc1e850e8443a" /><Relationship Type="http://schemas.openxmlformats.org/officeDocument/2006/relationships/slide" Target="/ppt/slides/slide20.xml" Id="R65e80ea20d4f4799" /><Relationship Type="http://schemas.openxmlformats.org/officeDocument/2006/relationships/slide" Target="/ppt/slides/slide21.xml" Id="R11122fc832834074" /><Relationship Type="http://schemas.openxmlformats.org/officeDocument/2006/relationships/slide" Target="/ppt/slides/slide22.xml" Id="R6e2b84daf5784d53" /><Relationship Type="http://schemas.openxmlformats.org/officeDocument/2006/relationships/slide" Target="/ppt/slides/slide23.xml" Id="Ra4c2870e3ba843bc" /><Relationship Type="http://schemas.openxmlformats.org/officeDocument/2006/relationships/slide" Target="/ppt/slides/slide24.xml" Id="Rd6f15bece524416f" /><Relationship Type="http://schemas.openxmlformats.org/officeDocument/2006/relationships/slide" Target="/ppt/slides/slide25.xml" Id="R6af47bade5fc44f6" /><Relationship Type="http://schemas.openxmlformats.org/officeDocument/2006/relationships/slide" Target="/ppt/slides/slide26.xml" Id="R835c934123924259" /><Relationship Type="http://schemas.openxmlformats.org/officeDocument/2006/relationships/slide" Target="/ppt/slides/slide27.xml" Id="R9403dfe071dc46c5" /><Relationship Type="http://schemas.openxmlformats.org/officeDocument/2006/relationships/slide" Target="/ppt/slides/slide28.xml" Id="R23ff43fb198e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2dc3ad4a4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acbc776724433" /><Relationship Type="http://schemas.openxmlformats.org/officeDocument/2006/relationships/notesMaster" Target="/ppt/notesMasters/notesMaster1.xml" Id="R917d10f0a3d948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50553ec254928" /><Relationship Type="http://schemas.openxmlformats.org/officeDocument/2006/relationships/notesMaster" Target="/ppt/notesMasters/notesMaster1.xml" Id="R4b190eb3e635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acf7d894414616" /><Relationship Type="http://schemas.openxmlformats.org/officeDocument/2006/relationships/notesMaster" Target="/ppt/notesMasters/notesMaster1.xml" Id="Re82da005ca7b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08626777cf4cab" /><Relationship Type="http://schemas.openxmlformats.org/officeDocument/2006/relationships/notesMaster" Target="/ppt/notesMasters/notesMaster1.xml" Id="Ree0ae98bf00247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cbe25cc0548ff" /><Relationship Type="http://schemas.openxmlformats.org/officeDocument/2006/relationships/notesMaster" Target="/ppt/notesMasters/notesMaster1.xml" Id="R4ce3d6bd3b8142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9fee7de3f246ef" /><Relationship Type="http://schemas.openxmlformats.org/officeDocument/2006/relationships/notesMaster" Target="/ppt/notesMasters/notesMaster1.xml" Id="R643e3cf1ae154f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97bbf36e1f4a2d" /><Relationship Type="http://schemas.openxmlformats.org/officeDocument/2006/relationships/notesMaster" Target="/ppt/notesMasters/notesMaster1.xml" Id="R77f5e19eefe645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17b26e69ff468e" /><Relationship Type="http://schemas.openxmlformats.org/officeDocument/2006/relationships/notesMaster" Target="/ppt/notesMasters/notesMaster1.xml" Id="Rbdb7726d226e4b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a70b6a609643c6" /><Relationship Type="http://schemas.openxmlformats.org/officeDocument/2006/relationships/notesMaster" Target="/ppt/notesMasters/notesMaster1.xml" Id="Ra0f1ac2dd3824d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5ba6910ead4874" /><Relationship Type="http://schemas.openxmlformats.org/officeDocument/2006/relationships/notesMaster" Target="/ppt/notesMasters/notesMaster1.xml" Id="Rcdc77d480ad446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61836f8534724" /><Relationship Type="http://schemas.openxmlformats.org/officeDocument/2006/relationships/notesMaster" Target="/ppt/notesMasters/notesMaster1.xml" Id="R3fc8b02a57894b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631a9e66d94dc1" /><Relationship Type="http://schemas.openxmlformats.org/officeDocument/2006/relationships/notesMaster" Target="/ppt/notesMasters/notesMaster1.xml" Id="R284f2386d5db41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9e3b0440e34d2c" /><Relationship Type="http://schemas.openxmlformats.org/officeDocument/2006/relationships/notesMaster" Target="/ppt/notesMasters/notesMaster1.xml" Id="R8714760225164a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608442cc9b43af" /><Relationship Type="http://schemas.openxmlformats.org/officeDocument/2006/relationships/notesMaster" Target="/ppt/notesMasters/notesMaster1.xml" Id="R973c293de40a45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2fcc452af94782" /><Relationship Type="http://schemas.openxmlformats.org/officeDocument/2006/relationships/notesMaster" Target="/ppt/notesMasters/notesMaster1.xml" Id="R864ae23132d64e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581df5695a46f6" /><Relationship Type="http://schemas.openxmlformats.org/officeDocument/2006/relationships/notesMaster" Target="/ppt/notesMasters/notesMaster1.xml" Id="Rc1e9521ae6c941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4e1608dc9a4aca" /><Relationship Type="http://schemas.openxmlformats.org/officeDocument/2006/relationships/notesMaster" Target="/ppt/notesMasters/notesMaster1.xml" Id="R3285bc9e237047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0fe08d46ef44b9" /><Relationship Type="http://schemas.openxmlformats.org/officeDocument/2006/relationships/notesMaster" Target="/ppt/notesMasters/notesMaster1.xml" Id="R174e2e36decc4e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90f2f51a7b4244" /><Relationship Type="http://schemas.openxmlformats.org/officeDocument/2006/relationships/notesMaster" Target="/ppt/notesMasters/notesMaster1.xml" Id="Rd9bf9a6b121e4c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4bb4cd26b34b8c" /><Relationship Type="http://schemas.openxmlformats.org/officeDocument/2006/relationships/notesMaster" Target="/ppt/notesMasters/notesMaster1.xml" Id="R7ebc2e5429654c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f0b33bf55d4f3a" /><Relationship Type="http://schemas.openxmlformats.org/officeDocument/2006/relationships/notesMaster" Target="/ppt/notesMasters/notesMaster1.xml" Id="Rfba4728491ea41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18f98399434d7a" /><Relationship Type="http://schemas.openxmlformats.org/officeDocument/2006/relationships/notesMaster" Target="/ppt/notesMasters/notesMaster1.xml" Id="R0531e6bc077a42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6a77afb6354e6a" /><Relationship Type="http://schemas.openxmlformats.org/officeDocument/2006/relationships/notesMaster" Target="/ppt/notesMasters/notesMaster1.xml" Id="Rb51a2cf9b6be43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fbd158c2164217" /><Relationship Type="http://schemas.openxmlformats.org/officeDocument/2006/relationships/notesMaster" Target="/ppt/notesMasters/notesMaster1.xml" Id="R84fabd914b0e4d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de9d5a8238461c" /><Relationship Type="http://schemas.openxmlformats.org/officeDocument/2006/relationships/notesMaster" Target="/ppt/notesMasters/notesMaster1.xml" Id="R6e7917728cc143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6897b66073440c1" /><Relationship Type="http://schemas.openxmlformats.org/officeDocument/2006/relationships/notesMaster" Target="/ppt/notesMasters/notesMaster1.xml" Id="R4384b5f0f16143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2ea9ff721146af" /><Relationship Type="http://schemas.openxmlformats.org/officeDocument/2006/relationships/notesMaster" Target="/ppt/notesMasters/notesMaster1.xml" Id="Rbcd85ff386cf49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1dfe2007bd41fa" /><Relationship Type="http://schemas.openxmlformats.org/officeDocument/2006/relationships/notesMaster" Target="/ppt/notesMasters/notesMaster1.xml" Id="Rf35924030d9a48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8ca5104bf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ed3ff1ab047da" /><Relationship Type="http://schemas.openxmlformats.org/officeDocument/2006/relationships/slideLayout" Target="/ppt/slideLayouts/slideLayout1.xml" Id="R5ed65f8033de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65f8033de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9d694ccd4e33" /><Relationship Type="http://schemas.openxmlformats.org/officeDocument/2006/relationships/notesSlide" Target="/ppt/notesSlides/notesSlide1.xml" Id="Ra89d56fdb6fc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fc69dc82446d0" /><Relationship Type="http://schemas.openxmlformats.org/officeDocument/2006/relationships/notesSlide" Target="/ppt/notesSlides/notesSlide2.xml" Id="R680eecfa04654b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e8ca3ebb49d2" /><Relationship Type="http://schemas.openxmlformats.org/officeDocument/2006/relationships/notesSlide" Target="/ppt/notesSlides/notesSlide3.xml" Id="R34b33cd7586c4c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737bb0b84bed" /><Relationship Type="http://schemas.openxmlformats.org/officeDocument/2006/relationships/notesSlide" Target="/ppt/notesSlides/notesSlide4.xml" Id="R23ac256f035748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63e097e86494a" /><Relationship Type="http://schemas.openxmlformats.org/officeDocument/2006/relationships/notesSlide" Target="/ppt/notesSlides/notesSlide5.xml" Id="Rc7a6f174be41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773b051e74ecf" /><Relationship Type="http://schemas.openxmlformats.org/officeDocument/2006/relationships/notesSlide" Target="/ppt/notesSlides/notesSlide6.xml" Id="R46524474ebb54e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171fb8d4d4678" /><Relationship Type="http://schemas.openxmlformats.org/officeDocument/2006/relationships/notesSlide" Target="/ppt/notesSlides/notesSlide7.xml" Id="R4ab423581bc1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fd60a7694560" /><Relationship Type="http://schemas.openxmlformats.org/officeDocument/2006/relationships/notesSlide" Target="/ppt/notesSlides/notesSlide8.xml" Id="R5bec4ad44ae6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40aeb1dcd4b28" /><Relationship Type="http://schemas.openxmlformats.org/officeDocument/2006/relationships/notesSlide" Target="/ppt/notesSlides/notesSlide9.xml" Id="R26f50a465f1043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7d02d4b1e4892" /><Relationship Type="http://schemas.openxmlformats.org/officeDocument/2006/relationships/notesSlide" Target="/ppt/notesSlides/notesSlide10.xml" Id="R4e49ef7af24344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bd38090f46ed" /><Relationship Type="http://schemas.openxmlformats.org/officeDocument/2006/relationships/notesSlide" Target="/ppt/notesSlides/notesSlide11.xml" Id="R918e524b8fdf44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8ee223f7949e4" /><Relationship Type="http://schemas.openxmlformats.org/officeDocument/2006/relationships/notesSlide" Target="/ppt/notesSlides/notesSlide12.xml" Id="R76ed8d3edb4c40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38061615246be" /><Relationship Type="http://schemas.openxmlformats.org/officeDocument/2006/relationships/notesSlide" Target="/ppt/notesSlides/notesSlide13.xml" Id="Rd12b05d727d741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acfb98fde4320" /><Relationship Type="http://schemas.openxmlformats.org/officeDocument/2006/relationships/notesSlide" Target="/ppt/notesSlides/notesSlide14.xml" Id="R0be4bf75eb9c43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49fef4e940ea" /><Relationship Type="http://schemas.openxmlformats.org/officeDocument/2006/relationships/notesSlide" Target="/ppt/notesSlides/notesSlide15.xml" Id="R03c886585a1f4c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f7297dafb48c2" /><Relationship Type="http://schemas.openxmlformats.org/officeDocument/2006/relationships/notesSlide" Target="/ppt/notesSlides/notesSlide16.xml" Id="R7f70b5da5a0241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1df78dc4a461c" /><Relationship Type="http://schemas.openxmlformats.org/officeDocument/2006/relationships/notesSlide" Target="/ppt/notesSlides/notesSlide17.xml" Id="R197fdeb1555943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bd1e38e4d4577" /><Relationship Type="http://schemas.openxmlformats.org/officeDocument/2006/relationships/notesSlide" Target="/ppt/notesSlides/notesSlide18.xml" Id="R44b0b46ca2494c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ca2cc4f7347b3" /><Relationship Type="http://schemas.openxmlformats.org/officeDocument/2006/relationships/notesSlide" Target="/ppt/notesSlides/notesSlide19.xml" Id="R89b239a2c04c4b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d4e05f2d4341" /><Relationship Type="http://schemas.openxmlformats.org/officeDocument/2006/relationships/notesSlide" Target="/ppt/notesSlides/notesSlide20.xml" Id="Rfa0d18a37b2c40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737b1cf064eaa" /><Relationship Type="http://schemas.openxmlformats.org/officeDocument/2006/relationships/notesSlide" Target="/ppt/notesSlides/notesSlide21.xml" Id="R2a0597e375844e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0052c83234560" /><Relationship Type="http://schemas.openxmlformats.org/officeDocument/2006/relationships/notesSlide" Target="/ppt/notesSlides/notesSlide22.xml" Id="R82f945f2375741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4231f3f748a8" /><Relationship Type="http://schemas.openxmlformats.org/officeDocument/2006/relationships/notesSlide" Target="/ppt/notesSlides/notesSlide23.xml" Id="R1dace040e5f849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20b5623e74546" /><Relationship Type="http://schemas.openxmlformats.org/officeDocument/2006/relationships/notesSlide" Target="/ppt/notesSlides/notesSlide24.xml" Id="R7cbfc3f312cd47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53320ffac41b7" /><Relationship Type="http://schemas.openxmlformats.org/officeDocument/2006/relationships/notesSlide" Target="/ppt/notesSlides/notesSlide25.xml" Id="Rdce368bb6ea649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bb12dfe5e48a5" /><Relationship Type="http://schemas.openxmlformats.org/officeDocument/2006/relationships/notesSlide" Target="/ppt/notesSlides/notesSlide26.xml" Id="Rc15f9516462d4c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706bb776c4f88" /><Relationship Type="http://schemas.openxmlformats.org/officeDocument/2006/relationships/notesSlide" Target="/ppt/notesSlides/notesSlide27.xml" Id="R16ac78b2c17047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2a9faa24a40e5" /><Relationship Type="http://schemas.openxmlformats.org/officeDocument/2006/relationships/notesSlide" Target="/ppt/notesSlides/notesSlide28.xml" Id="R730c89f87224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AF44-E371-43F2-ABE4-388E4B60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COMPASS SCENARIO DATABASE · DISSERTATION PAPER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2EC86-FEBA-4B81-944E-8AB4DADC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High renewables or engineered carbon management?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545CE-14C3-4829-BD97-EA6EFAD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2E7"/>
                </a:solidFill>
              </a:defRPr>
            </a:pPr>
            <a:r>
              <a:rPr sz="1650" b="0">
                <a:solidFill>
                  <a:srgbClr val="D8E2E7"/>
                </a:solidFill>
              </a:rPr>
              <a:t>Century-long wellbeing implications across global IAM pathways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65E5B-50F7-48B6-99CE-6B368DCD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2AE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649F-B286-448D-9F9C-6216DEF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D5DD"/>
                </a:solidFill>
              </a:defRPr>
            </a:pPr>
            <a:r>
              <a:rPr sz="1200" b="0">
                <a:solidFill>
                  <a:srgbClr val="C4D5DD"/>
                </a:solidFill>
              </a:rPr>
              <a:t>World results first. R10 regions explain the pattern. Transparent diagnostics define the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1C9DC-7FA7-445B-B82A-1768B20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CBAC6"/>
                </a:solidFill>
              </a:defRPr>
            </a:pPr>
            <a:r>
              <a:rPr sz="825" b="0">
                <a:solidFill>
                  <a:srgbClr val="9CBAC6"/>
                </a:solidFill>
              </a:rPr>
              <a:t>Final analysis · primary classification excludes land-based CDR</a:t>
            </a:r>
          </a:p>
        </p:txBody>
      </p:sp>
    </p:spTree>
    <p:extLst>
      <p:ext uri="{BB962C8B-B14F-4D97-AF65-F5344CB8AC3E}">
        <p14:creationId xmlns:p14="http://schemas.microsoft.com/office/powerpoint/2010/main" val="1771733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9E6DE-804D-4129-9419-207DE798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THE PAPER IN ONE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A64E4-1B7C-448F-8BE7-DC18F5F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F910B-42C2-4EBB-98B5-7D94628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Three conclusions, with different evidentiary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3BEE3-8873-4A3B-BC5C-171E775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42986-D3C9-4681-9594-084EF70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FF10-7A32-480F-872E-95BCF319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41EE8-D280-40FF-B2AD-664BD47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35224-5879-4D45-8404-D26BB5CE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F10B4-5B2A-4EB3-9E36-DD2EA5AE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1 ·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0B7C4-597E-404B-B324-50E92E2E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High-RE is higher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8A68A-86AC-44DF-A330-831E6E6B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Across the full ensemble, High-RE has substantially more modeled renewable electricity job-years at both ambition levels.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55620-18CD-4105-9D1D-45C1A02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D4A0C-C06B-435D-8476-F55B6B01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C117-03A3-4EAF-8525-8C89211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 · ENERGY DEPRIVATION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90D1D-7A0A-4ECB-BF17-7358C07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High-RE is generally lower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A158C-8961-45B6-838D-C9D91C6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The full database shows lower modeled energy gap and deprivation headcount. SCI 2°C results are heterogeneous.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88710-617C-4053-ACDE-68AF2E6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25CB1-B87E-46CB-AF30-BD6626CF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960C8-74C5-4E90-B4B1-115E8092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E5654"/>
                </a:solidFill>
              </a:defRPr>
            </a:pPr>
            <a:r>
              <a:rPr sz="750" b="1">
                <a:solidFill>
                  <a:srgbClr val="BE5654"/>
                </a:solidFill>
              </a:rPr>
              <a:t>3 · MORTALITY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274F3-96B7-4D32-9365-828B2DEF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No universal winner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34E0B-334F-41E9-AAE1-0B96016C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990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The reporting-complete PM2.5 diagnostic is useful, but coverage and composition prevent a headline portfolio ranking.</a:t>
            </a:r>
          </a:p>
        </p:txBody>
      </p:sp>
    </p:spTree>
    <p:extLst>
      <p:ext uri="{BB962C8B-B14F-4D97-AF65-F5344CB8AC3E}">
        <p14:creationId xmlns:p14="http://schemas.microsoft.com/office/powerpoint/2010/main" val="1199903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D40DA-490E-42A3-83A3-221878B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A0C87-F065-4CFE-82E5-C5DE5E5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595D-48F6-491C-A8E0-2F81398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comparison is deliberately two-part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4141-0558-4EC8-B086-B0AD87E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7AD8E-EEF4-4AC9-9D12-10FBB53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170CD-DEB9-4A76-A1DB-8D5C7B4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F57CB-058C-4B65-8B05-003DC777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WELLBEING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FB8B6-CEAD-42BD-BF3E-74D3819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Across World and R10 regions, what differs between renewable-intensive and engineered-carbon-management-intensive pathways at the same climate ambition?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927F-2C74-4468-87F8-41E9221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DIAGNOSTIC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76562-DCFC-46AB-84E2-A9CB7D7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Are pooled contrasts carried by a particular IAM composition, regional pattern, or reporting subset?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D7988-1993-46A4-925E-09A62AF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90700"/>
            <a:ext cx="4953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846BE-3760-4F5B-9EBB-31EFA93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23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23D"/>
                </a:solidFill>
              </a:defRPr>
            </a:pPr>
            <a:r>
              <a:rPr sz="1725" b="1">
                <a:solidFill>
                  <a:srgbClr val="25323D"/>
                </a:solidFill>
              </a:rPr>
              <a:t>Every pathway is compared within its ambition cell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E9C67-4989-4F35-9E60-07AF737A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1.5°C and 2°C are never pooled. Full-database results describe the ensemble; SCI-vetted results are reported separately. Within-model contrasts test whether composition is driving the pooled pattern.</a:t>
            </a:r>
          </a:p>
        </p:txBody>
      </p:sp>
    </p:spTree>
    <p:extLst>
      <p:ext uri="{BB962C8B-B14F-4D97-AF65-F5344CB8AC3E}">
        <p14:creationId xmlns:p14="http://schemas.microsoft.com/office/powerpoint/2010/main" val="980544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72F3F-95E7-41BA-991F-8C94224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F3371-8B81-455A-A1BE-BCEEA62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PORTFOLIO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0774C-9B49-4529-8E18-B60C360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primary contrast is RE versus engineered CMT—not “all removals”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953D9-684F-4E40-B57C-781E0FCC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0A076-C373-4E69-8C51-4BE054A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6CCE-9D5C-4979-BC2D-7240714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2C14D-F5FA-4C98-9500-285BF6E7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EFEE-6FC2-4458-AA1C-672E653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E9983-BC02-409F-A9B7-B812D02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Focal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8F7DA-C80B-4476-8B3D-ACA7C464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4785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Exclusion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FD132-96DD-4325-96B3-75C64148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47850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D8B82-FBDA-470E-9461-05D3D5E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0502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High-RE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F225-44E9-43D7-B0DD-7FEDCA4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05025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Top tercile: renewable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1E73D-F250-44E4-BB5D-E2D8986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050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Engineered CMT not top tercile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82371-D7DA-42EA-AB95-851CBF5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05025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Identifies RE-led portfolios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CF19D-1EC7-472D-8DFC-E1861BB4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DF69-0F89-451E-B2CD-B350B48B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62200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 engineered-CMT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D8A32-50CF-4891-9B71-F5F7691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62200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Top tercile: novel CDR + fossil/industrial CCS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97C0C-C4F1-44F7-B4E1-18E5F66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622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Renewables not top tercile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7264F-AEA6-45F7-9775-7B301DB6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62200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Identifies engineered-management portfolios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6B62A-40CF-4ED5-B254-2453FAA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Land CDR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8CF6E-8469-4730-84CF-B73EB08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19375"/>
            <a:ext cx="2743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Excluded from primary axis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670CB-5E6B-4AE8-BDF5-A3035F6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1937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Retained for “all-removals” 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AD2DF-68B9-424A-847E-8226E61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19375"/>
            <a:ext cx="3562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Keeps the energy-system motivation distinct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1278F-9734-4BB9-94B2-27176BFD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Classification uses cumulative 2020–2100 deployment, so labels describe long-run portfolios rather than a single benchmark year.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60563-9A8D-4DAA-BF48-D3BDDFEB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684"/>
                </a:solidFill>
              </a:defRPr>
            </a:pPr>
            <a:r>
              <a:rPr sz="1125" b="0">
                <a:solidFill>
                  <a:srgbClr val="667684"/>
                </a:solidFill>
              </a:rPr>
              <a:t>Sensitivity analyses retain the strict polar rule and the total-CDR (all-removals) question; neither substitutes for the primary engineered-CMT contrast.</a:t>
            </a:r>
          </a:p>
        </p:txBody>
      </p:sp>
    </p:spTree>
    <p:extLst>
      <p:ext uri="{BB962C8B-B14F-4D97-AF65-F5344CB8AC3E}">
        <p14:creationId xmlns:p14="http://schemas.microsoft.com/office/powerpoint/2010/main" val="276634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5399B-AC0F-4CC8-91E1-F765F2B6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SAMPLE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C389D-52AB-43EE-8856-4F22E9D1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TRANSPARENCY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89A24-28B2-4C5C-9BB6-437A7F3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final full-database contrast is larger than the earlier total-CDR 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5515-8AE8-4F30-A382-31E325B3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4FF92-39BF-4FB1-9380-1C548F4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E24E4-1B19-467D-A305-EE82B10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C425-6875-4835-B568-13D9D68A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8B3F2-DDD5-4699-A916-873DFCF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478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Sample / ambition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326F7-1DDE-4054-9C1E-966265C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4785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High-RE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04FF1-FC6F-4BC4-B477-2526032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478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High engineered-CMT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28C3-B863-4AD1-960F-EE4ECC3B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Comparison 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CE3F3-A619-442C-9284-C26B835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0502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· 1.5°C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E744F-04D7-47EA-ABD8-E69C705F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05025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7D4EB-77BB-4CF4-9959-EB3A623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050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989BD-9C33-4EE3-A0AF-5DA82C8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05025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2BC59-33F0-4351-BFF6-EB3A2E19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BAE78-EB5E-4C0D-9D69-AFC1F36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6220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· 2°C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1B535-4DA4-45A2-BF2C-3228437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6220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D2823-B2D7-4C38-9CD1-C780D44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346E1-E0D9-4329-8E1A-9AF9152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6220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478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CD77A-FBC8-4554-9630-E007462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 · 1.5°C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D5A42-9E8F-41A3-8069-55337CDF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BA100-83D0-4E9B-A1CE-0B6FE24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193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ED52C-6B36-4655-8A5F-A304C10A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19375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DC67D-C086-4420-86BB-150401F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28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961A0-C7CA-44CA-95B9-FDC1D8A0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 · 2°C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87B81-BB12-4F40-8BD8-CDB3FA2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76550"/>
            <a:ext cx="1314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C669C-9E82-4437-A1D1-1BEE823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765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7156A-C456-4429-9375-CAFAE4CF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76550"/>
            <a:ext cx="1266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57106-586C-470F-92DD-6CF72C2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1718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A7424B-581E-40D8-B404-91FBB83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872B"/>
                </a:solidFill>
              </a:defRPr>
            </a:pPr>
            <a:r>
              <a:rPr sz="1350" b="1">
                <a:solidFill>
                  <a:srgbClr val="C4872B"/>
                </a:solidFill>
              </a:rPr>
              <a:t>SCI 1.5°C is intentionally small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B8950-28F0-44CB-8620-9F66C9C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323D"/>
                </a:solidFill>
              </a:defRPr>
            </a:pPr>
            <a:r>
              <a:rPr sz="1050" b="0">
                <a:solidFill>
                  <a:srgbClr val="25323D"/>
                </a:solidFill>
              </a:rPr>
              <a:t>24 candidates → 22 classifiable → 7 pathways per arm. Two candidates lack the classification metrics; eight fall outside the paired arms.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3088B-9AAE-4BE4-95A0-9C2C09D4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New engineered-CMT primary classification: 606 selected full-database pathways and 140 SCI-vetted pathways. Earlier deck: 579 and 106 under total CDR.</a:t>
            </a:r>
          </a:p>
        </p:txBody>
      </p:sp>
    </p:spTree>
    <p:extLst>
      <p:ext uri="{BB962C8B-B14F-4D97-AF65-F5344CB8AC3E}">
        <p14:creationId xmlns:p14="http://schemas.microsoft.com/office/powerpoint/2010/main" val="161213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597A-B617-4F28-99D3-8A0358A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5206-1DA9-490F-9FB0-14022DC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6816D-C355-4BCA-B6BA-61FB1F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Scenario outputs are translated into bounded wellbeing-relevant indicators.</a:t>
            </a:r>
          </a:p>
        </p:txBody>
      </p:sp>
    </p:spTree>
    <p:extLst>
      <p:ext uri="{BB962C8B-B14F-4D97-AF65-F5344CB8AC3E}">
        <p14:creationId xmlns:p14="http://schemas.microsoft.com/office/powerpoint/2010/main" val="2047453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862A4-BBF0-4D87-9328-7736F9F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ELECTRICITY EMPLOYMENT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0BAC4-613D-4BE6-9F4B-39425B5D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5EE44-A431-4C07-8231-653CA5E2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Capacity deployment becomes gross/direct electricity job-years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6420E-89EF-4166-AECA-3C89CFC7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C08A9-38BE-4507-8E4F-D7B42BF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29EBA-CAFF-4879-97B8-35C80AE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7639-1C69-4D4C-B3AF-4531E46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C55B-89C2-43B3-BCF2-4215A9E6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B5E1B-540E-4673-B7C8-E488098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66900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Input /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3A347-3E79-4C03-A5F1-4156FDA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66900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9F85B-CF67-4BC8-85FB-3AB4D48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IAM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48B3C-F21C-4227-81C7-7C7F8801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24075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R10 technology-specific capacity additions and operating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0C634-5BEE-412F-AA21-1C2BE4E7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24075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The deployment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3E452-B1FD-46D5-B313-26913DA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2D17C-D11E-415F-BA28-FF25B161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Post-processing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432A0-7B23-44C5-B0E4-ADCB58F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Published manufacturing, construction, installation, and O&amp;M employment factors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539A8-97F3-4097-A040-23CDB080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Job-years by technology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596D4-F1CF-4ED2-9B59-635FDC0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9BF25-6738-4001-858E-89740EA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38425"/>
            <a:ext cx="464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Renewable electricity job-years per 1,000 people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2A7D8-EFA6-45EE-87FE-20970D3C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38425"/>
            <a:ext cx="3848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Not net economy-wide employment or job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87C02-FDED-4998-BA8B-7F0A4A3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Mechanism: wind and solar generally require more distributed manufacturing, construction, installation, and operations activity per unit of capacity.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2CA6B-1DCF-49B9-B159-0A71C1E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WHY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2EF29-1CB6-4E40-9DDA-A3F3C64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High-RE portfolios build more RE capacity; CMT investment shifts more system effort to removal, capture, storage, and fuel supply.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D896C-2EDF-464D-93CB-7927DEC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0532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WHY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8F275-D7A2-4E6B-B4CE-157AE5A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7202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Domestic content, workforce programs, grid build-out, and trade determine whether modeled activity becomes local employment.</a:t>
            </a:r>
          </a:p>
        </p:txBody>
      </p:sp>
    </p:spTree>
    <p:extLst>
      <p:ext uri="{BB962C8B-B14F-4D97-AF65-F5344CB8AC3E}">
        <p14:creationId xmlns:p14="http://schemas.microsoft.com/office/powerpoint/2010/main" val="872235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B28FE-14B0-48E1-BBE6-C7E65D5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ENERGY DEPRIVATION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3AC91-B0B0-4CF4-AAC2-D059CB9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OUTCOMES 2–3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8B8AC-2A8B-4E1F-A84B-04A9699F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Final energy availability becomes two modeled decent-living indicators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7BE1-8A6E-4634-94EA-ECD8D6DD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8DF75-342B-42BC-9052-AFB0CC2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547C-C52B-42F0-8EDD-35B73B9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E5423-6989-4E78-A4BC-1DA94DD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26733-2477-48A8-A118-F374BE9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28800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Indicator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0F01F-5D0C-4859-A284-E7E0AA6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IAM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B50F-C86F-41F8-9FE8-CE188601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28800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Post-processing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EB16F-C189-4D62-8527-8C1925F8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 (GJ/cap)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CD437-FDF7-4ADB-ACCA-2FFF984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85975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Regional final energy and population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54FB7-799F-4433-8BA4-C737777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85975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Energy needed to lift people below a regional decent-living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09610-EF7A-4919-8F86-756008C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EB88B-7960-4B65-A6FB-231A5A2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124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Headcount (%)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679C-0CD1-44DC-8A55-55108D6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43150"/>
            <a:ext cx="3267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Regional final energy per person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73C13-AA59-4CD8-AB66-DBEB262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43150"/>
            <a:ext cx="508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Threshold + lognormal within-region distribution + inequality parameter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828AF-99BF-4153-A84D-529E7BD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5654"/>
                </a:solidFill>
              </a:defRPr>
            </a:pPr>
            <a:r>
              <a:rPr sz="1200" b="1">
                <a:solidFill>
                  <a:srgbClr val="BE5654"/>
                </a:solidFill>
              </a:rPr>
              <a:t>These are distributional final-energy-deprivation proxies—not observed household access, consumption surveys, or income poverty.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7EBF1-31D9-4919-9F5E-C07DB0C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WHY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ABCDA-2D65-4647-B5C6-866A16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RE-intensive pathways often co-occur with electrification and higher final-energy availability relative to the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834A7-0BB2-495E-8D6B-D0F012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00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D6A0D-CEF7-4A27-B924-82197756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Grid access, affordability, reliability, appliances, and tariff design decide whether supply reaches people.</a:t>
            </a:r>
          </a:p>
        </p:txBody>
      </p:sp>
    </p:spTree>
    <p:extLst>
      <p:ext uri="{BB962C8B-B14F-4D97-AF65-F5344CB8AC3E}">
        <p14:creationId xmlns:p14="http://schemas.microsoft.com/office/powerpoint/2010/main" val="78276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F790F-97D7-4CE4-83EB-1888742D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METHODOLOGY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A0C3-6A23-41CF-B161-4EB3D115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OUTCOME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BAD1A-90D9-4FD8-A602-905C278D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PM2.5 mortality is a reporting-complete, coverage-qualified 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9E36B-FA78-45BF-9D37-18E32DF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DC972-07CD-4C79-A9C4-1DC885A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3D992-6ED1-404A-8FA6-1C41379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DDD5C-AC3A-4C74-8CDC-F8AAC8B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066D-A63D-4FAE-8A22-99958B8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28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17A63-6708-4367-9DC9-A5EEF7A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28800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CF2EB-C484-4F67-B5D9-6318F45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28800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13766-21A6-4426-A0E2-308C67AE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Emission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EDBB-5A92-4B3D-BF4F-22D1361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85975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Direct R10 SO₂, NOₓ, BC, OM, NH₃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4C9CE-DED5-4D4A-BF8F-E4FDEE0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85975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No World-to-R10 allocation; no external NH₃ sidecar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48413-1E79-4BCC-B040-46796957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1CEED-5B33-4A7A-A994-4F9F551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Air-quality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48419-154D-4B89-9F7D-C526F1A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43150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TM5-FASST → PM2.5 exposure → FUSION mortality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73C6D-09DA-43EF-A687-E52CBBC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43150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Consistent, fast scenario post-processing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BEA96-A177-42FE-B8E5-16EEBF9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Coverage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B783C-2FB4-469E-9080-C4CBA5E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00325"/>
            <a:ext cx="424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Only complete precursor records enter final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CCF43-3032-40DB-9983-D265DC5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00325"/>
            <a:ext cx="4152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Reject rather than fill structurally missing pathways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CB0C-5058-4920-8FD7-7D005B8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820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BB6E8-2CCA-481A-B903-16D8D79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422 valid PM2.5 outputs from 643 classified targets; 150 incomplete records rejected. Short interior interpolation was permitted, but no values were interpolated.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678B1-D1CB-4E61-8198-9CA0B60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5654"/>
                </a:solidFill>
              </a:defRPr>
            </a:pPr>
            <a:r>
              <a:rPr sz="1125" b="1">
                <a:solidFill>
                  <a:srgbClr val="BE5654"/>
                </a:solidFill>
              </a:rPr>
              <a:t>Interpretation: PM2.5-attributable mortality only, not total air-pollution mortality—and not a universal High-RE vs High-CMT rank.</a:t>
            </a:r>
          </a:p>
        </p:txBody>
      </p:sp>
    </p:spTree>
    <p:extLst>
      <p:ext uri="{BB962C8B-B14F-4D97-AF65-F5344CB8AC3E}">
        <p14:creationId xmlns:p14="http://schemas.microsoft.com/office/powerpoint/2010/main" val="1914817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856E8-5C76-45B5-879D-D580710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METHODS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8DA68-7ABF-4F62-B07F-15FC1489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6822-CE50-4670-ABC6-390F7AE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path from scenario portfolio to wellbeing outcome is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8A5FE-5534-445A-BAAC-A7BAEE5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F9B1-A53D-4730-8E56-800D733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EAC02-3F4C-4623-84A3-A579E0F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B0EA7-9D07-4F23-B1AF-3218F3C8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Technology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C9213-B9AE-4CD8-825C-8EB267E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6F7C3-0C82-49AB-B0BE-E9AE159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IAM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120D1-1FB9-436B-85E7-45A9FAC0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66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Physical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211BD-46DF-4967-A274-AFD6D79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5C83A-CFA6-4FE6-9EBA-944A82BF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R10 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7F11B-261A-4417-A9B4-C57D0111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98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92D1-0B34-414F-BE37-D7634D2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669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Post-processing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446B9-D468-47F7-A1AE-5FD890A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E64CE-DA55-4E58-A977-5033982E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Outcome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B5C6D-6ED9-46D8-87E5-EC5DBCB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98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EBDA-C4C6-4A23-8898-5E97229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66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872B"/>
                </a:solidFill>
              </a:defRPr>
            </a:pPr>
            <a:r>
              <a:rPr sz="975" b="1">
                <a:solidFill>
                  <a:srgbClr val="C4872B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80445-FA96-4860-8A57-8ABE5B18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809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496A3-97C0-4BCE-BC4B-54331AB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Wellbeing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68DDB-0DEA-47B0-8546-6F6FC53F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FA29B-9621-4CFD-91F2-6434D87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JOBS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0DB7C-CD11-4301-9EA0-C2C308A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Capacity × employment factors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CE753-EB2D-4F13-BF28-05EBC52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ENERGY DEPRIVATION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CA1C-D8EB-4572-A3A5-BF921FC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Final energy × threshold +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8EEDE-4015-4A01-9E08-E38045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MORTALITY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59718-B402-4310-80C9-24586E8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243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Precursors × TM5-FASST × FUSION</a:t>
            </a:r>
          </a:p>
        </p:txBody>
      </p:sp>
    </p:spTree>
    <p:extLst>
      <p:ext uri="{BB962C8B-B14F-4D97-AF65-F5344CB8AC3E}">
        <p14:creationId xmlns:p14="http://schemas.microsoft.com/office/powerpoint/2010/main" val="1078878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CDAA3-4DC5-4FF3-8261-4496465B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2CFE-6B3A-445F-9703-1271DFC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269A-3800-4564-8752-65B20C9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World results provide the takeaway. R10 results show why it appears.</a:t>
            </a:r>
          </a:p>
        </p:txBody>
      </p:sp>
    </p:spTree>
    <p:extLst>
      <p:ext uri="{BB962C8B-B14F-4D97-AF65-F5344CB8AC3E}">
        <p14:creationId xmlns:p14="http://schemas.microsoft.com/office/powerpoint/2010/main" val="1311715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F7ECE3-9F87-4BFB-92AD-D2DB7EAF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97E8-303F-4C32-9FC4-F7C20DC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720B5-969D-4FC0-B99C-32FD0D2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Full database: High-RE is higher on jobs and lower on modeled energy deprivation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9990E-E27B-4076-9A62-07A2A80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EF2BD-A88F-4885-AC36-C78ED6F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09FFB-B967-427D-B34A-29DF722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E06DC-CB70-4DCB-8E1D-0822836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C523-2C7A-4D0F-810F-80CDDAE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Outcome (High-RE − High engineered-CMT)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2EB9E-05A8-43C9-8155-FA647B5B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26E88-E1B7-4208-97A2-B656622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0CF12-5E20-47F8-9FC2-9C52103A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1927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3FBC6-4D05-4078-BBD9-4923E07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 job-years per 1,000 people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8E6A3-08AB-4E96-BE24-7467C10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+396  (687 vs 291)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0297F-AB6D-4CE0-9567-94B8DFC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+288  (461 vs 173)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CD48A-E2CF-4A38-80BE-826EEB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7645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higher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7AB77-3AF4-4A66-A5BC-E44DBBE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18DEE-04D7-4727-86B2-D8D4FE19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gap, GJ/cap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3926F-EC49-4FAE-B277-DFE2E4F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−5.7  (13.0 vs 18.7)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B96BE-F10A-4676-88B1-87F15A2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−4.5  (11.1 vs 15.5)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6D154-E89F-40DA-8649-3BD34F7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lower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17118-C705-43C6-8458-1934E6B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9080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Deprivation headcount,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A8515-4B14-4B3A-B746-095E523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−2.25  (4.61 vs 6.86)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D6C6E-3B0C-4639-9C2F-862F755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−1.77  (4.02 vs 5.80)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82944-8E02-4381-852C-02651B0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9080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High-RE lower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AFC55-85A1-40A9-B887-5CBDED4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The two ambitions differ in scale—not in the full-database direction for the three non-mortality outcomes.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2BFE3-4D18-4E90-8441-295BE23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1.5°C jobs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4A6DB-8294-48D3-BA2F-CEFB8EE4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324350"/>
            <a:ext cx="252801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F0E39-5C82-435B-8DA8-A48498B1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81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+396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CCD76-2922-4688-B06A-B1425BF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2°C jobs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70B67-BDF7-426A-88F1-BA4ED1F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772025"/>
            <a:ext cx="18385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19CC8-CCAF-425F-8D2F-011942C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224" y="4733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+288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E4095-2F68-4E4F-8923-0A79001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1.5°C energy 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8A6A5B-226C-4382-87CB-96436A8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4324350"/>
            <a:ext cx="272910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D8D1F-8E68-4E5D-A55C-13AA92BC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023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−5.7 GJ/cap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DB9D96-E76C-4881-BAE9-695A63EB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33925"/>
            <a:ext cx="17830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323D"/>
                </a:solidFill>
              </a:defRPr>
            </a:pPr>
            <a:r>
              <a:rPr sz="900" b="1">
                <a:solidFill>
                  <a:srgbClr val="25323D"/>
                </a:solidFill>
              </a:rPr>
              <a:t>2°C energy gap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3FBA2-A8E2-4D4C-AAC9-D0AE1D23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4772025"/>
            <a:ext cx="215455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904275-9D69-4080-B25B-728F4712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733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9568"/>
                </a:solidFill>
              </a:defRPr>
            </a:pPr>
            <a:r>
              <a:rPr sz="900" b="1">
                <a:solidFill>
                  <a:srgbClr val="429568"/>
                </a:solidFill>
              </a:rPr>
              <a:t>−4.5 GJ/cap</a:t>
            </a:r>
          </a:p>
        </p:txBody>
      </p:sp>
    </p:spTree>
    <p:extLst>
      <p:ext uri="{BB962C8B-B14F-4D97-AF65-F5344CB8AC3E}">
        <p14:creationId xmlns:p14="http://schemas.microsoft.com/office/powerpoint/2010/main" val="16112544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CC920-9AFC-44B1-8AF1-A862446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FB1D7-BB34-40DE-9AED-C6BCFDF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SCI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A7DC4-A5C2-4F1E-A6C6-2035A450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SCI-vetted evidence confirms the jobs contrast; 2°C deprivation is not uniform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CA1C9-9CAD-40FD-B1EA-5FA9412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4E860-6CDE-4904-937C-90B0698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8D213-B777-4533-A7BA-E16552A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45C2A-1718-4AB1-AF74-CDD2E6FB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8ACEF-B33B-4B5C-86A5-2E8CDE0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Outcome (High-RE − High engineered-CMT)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A0DDF-D108-4B16-9473-0AB27435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SCI 1.5°C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05E22-9B10-447E-AAE5-BEB40C54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1927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SCI 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2C327-1D76-45A2-B0E3-57C54B9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1927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44233-C4E0-4053-B0C6-7E633512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 job-years per 1,000 people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72CD-BA8D-47CB-82E9-709087A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+262  (526 vs 264)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5BD7-CEFE-4E18-9F5A-69A4E47E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7645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+111  (293 vs 182)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08B3B-8627-43DE-B2B7-DDB65C2B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7645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Jobs remain higher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DEE46-B291-4952-A08D-A019969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97D11-CB6B-4D6A-8624-CCA520E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Energy gap, GJ/cap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06A1B-3E12-46B5-9A9D-6A3F8D5B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−2.4  (18.4 vs 20.8)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A8CB2-A871-4D9E-973F-2F4D75C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33625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+1.5  (20.5 vs 19.0)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420AC-9A14-4014-B5D1-71BDF33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2°C reverses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EE21F-1A05-4A59-A711-D8BAD2B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90800"/>
            <a:ext cx="407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Deprivation headcount, 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DC3A5-656B-4B6C-94D3-2BE8ECC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29568"/>
                </a:solidFill>
              </a:defRPr>
            </a:pPr>
            <a:r>
              <a:rPr sz="825" b="0">
                <a:solidFill>
                  <a:srgbClr val="429568"/>
                </a:solidFill>
              </a:rPr>
              <a:t>−0.99  (6.86 vs 7.85)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06EF3-678F-4BC9-8EC1-B911283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90800"/>
            <a:ext cx="2076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+0.73  (7.60 vs 6.87)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53B4-E122-4111-AA14-8A81D08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90800"/>
            <a:ext cx="2133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2°C reverses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744C0-5F79-44EE-A9CD-B11CD45F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60524-25AD-46C7-A246-65CAC4B0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The SCI sample is a different evidence set—not a “cleaner” version of the full ensemble. Report the divergence rather than averaging it away.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A10A4-408B-4D41-BDF3-CE775D9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SCI sample sizes: 7 vs 7 at 1.5°C; 63 vs 63 at 2°C.</a:t>
            </a:r>
          </a:p>
        </p:txBody>
      </p:sp>
    </p:spTree>
    <p:extLst>
      <p:ext uri="{BB962C8B-B14F-4D97-AF65-F5344CB8AC3E}">
        <p14:creationId xmlns:p14="http://schemas.microsoft.com/office/powerpoint/2010/main" val="14843903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7B60F-5A6E-4F0A-B7B9-C1CFC5D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E164-685D-41C8-9695-E6067B47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WORLD ·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B433F-BEC6-4D92-818F-32AE90D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reporting-complete PM2.5 diagnostic has no stable pooled portfolio winner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D089C-16E1-4448-9A5B-C767353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CCB7F-0853-4AC0-AF37-23649AA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6A85-9AB9-4570-872E-A79EE55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7E281-7299-4422-812A-92D55B2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EAAAC-B1D8-4B9B-8E63-CE41DB0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1AB6B-C967-4654-8A01-E423B93E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1927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1.5°C: RE − CMT, million deaths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53EB0-CB19-462B-A844-3784C29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1927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2°C: RE − CMT, million deaths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C1985-A827-4246-B3BD-1983938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19275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0F999-DE0C-422F-A2D0-C09D396A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76450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Full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C5A29-0CF7-4112-918B-8A73315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076450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−8.69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7987A-42C1-4EDB-B978-0A79CEF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76450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+3.03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5777D-86EE-4754-8D65-29AB70A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76450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Pooled direction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6B0B8-CFCE-4EA5-B397-A376088F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CCFB7-AA43-42D0-8B44-DDE6854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1790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SCI-vetted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C7665-7EAF-4F10-AF57-A68C9C06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3362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−50.42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9BA0E-58D1-46FE-A25B-EB41917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33625"/>
            <a:ext cx="2838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+22.45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FE60C-9275-4DF8-94C8-6967DE3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33625"/>
            <a:ext cx="2895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Pooled direction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AF57B-5B02-4540-BCFF-93AA55F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WHAT IS STABLE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62A3A-3D1E-4CBE-9601-D63127A8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At 2°C, matched within-model full-database comparisons all point toward lower High-RE mortality, but only three models qualify.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DFF83-40D8-44AA-8D65-FD7EC96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5654"/>
                </a:solidFill>
              </a:defRPr>
            </a:pPr>
            <a:r>
              <a:rPr sz="825" b="1">
                <a:solidFill>
                  <a:srgbClr val="BE5654"/>
                </a:solidFill>
              </a:rPr>
              <a:t>WHAT IS NOT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01A08-44BE-41D8-AF50-8D252FA0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04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Coverage differs by arm and model family; pooled medians change with sample composition. The paper should not rank portfolios on mortality.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CB406-8489-4FCA-9FA9-22F96BE7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Coverage is reported with every mortality result: e.g., full 1.5°C 42/64 CMT vs 37/64 RE; full 2°C 138/239 vs 168/239.</a:t>
            </a:r>
          </a:p>
        </p:txBody>
      </p:sp>
    </p:spTree>
    <p:extLst>
      <p:ext uri="{BB962C8B-B14F-4D97-AF65-F5344CB8AC3E}">
        <p14:creationId xmlns:p14="http://schemas.microsoft.com/office/powerpoint/2010/main" val="13676295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83973-7338-4EB2-B335-4352A0E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CD5B7-C89A-4AB8-82C6-B9AB55D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F360-C987-46EA-B34B-0E6B4CB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mortality caveat is a result about evidence quality—not a weakness to hide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3CADB-278E-4BEF-943D-CF0371B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82F78-D40C-4FE0-AF0C-F5C868D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380A-D762-45C5-829D-010417E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E21D-FF24-4E96-A55F-6070D34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95329-8245-490E-8E12-B893A73C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6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C5F4E-1167-431B-9610-EF0D341F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E5654"/>
                </a:solidFill>
              </a:defRPr>
            </a:pPr>
            <a:r>
              <a:rPr sz="750" b="1">
                <a:solidFill>
                  <a:srgbClr val="BE5654"/>
                </a:solidFill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48A3B-18BE-435E-AEA6-F38DD3C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Missing precursor reporting is structural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BF67C-B715-4B3F-9141-60BC6093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Scenarios that lack a required pollutant cannot support a comparable PM2.5 mortality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386DA-BA5F-406E-8B0E-9EC1778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51665-844C-4A61-B6A6-98063D5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359CC-AB96-4C62-ABA0-4B6FA5B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37295-EEA9-49F6-BDB7-3DFA135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Pooled arms contain different IAM mixtures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1691B-29E5-4739-82F2-98D3AE97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A pooled median can move even when the qualifying within-model comparison has a different direction.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32A5D-BEBF-402D-84ED-8470A1AD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7689-EDC4-4516-810E-6ACC9A2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E297B-D6DE-4CCD-9EBE-0D9843D0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BOUNDED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D5E95-E02F-4900-9BC6-5F6071A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Mortality is a QA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E8C05-2D16-463B-ACFC-C7192C7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It tests whether air-quality implications are plausible under complete reporting; it does not establish a global ranking.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0531A-5DB4-40C8-8589-9220308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323D"/>
                </a:solidFill>
              </a:defRPr>
            </a:pPr>
            <a:r>
              <a:rPr sz="1275" b="1">
                <a:solidFill>
                  <a:srgbClr val="25323D"/>
                </a:solidFill>
              </a:rPr>
              <a:t>This is why the paper leads with jobs and energy deprivation, then shows mortality transparently as a qualified diagnostic.</a:t>
            </a:r>
          </a:p>
        </p:txBody>
      </p:sp>
    </p:spTree>
    <p:extLst>
      <p:ext uri="{BB962C8B-B14F-4D97-AF65-F5344CB8AC3E}">
        <p14:creationId xmlns:p14="http://schemas.microsoft.com/office/powerpoint/2010/main" val="8994574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26243-F699-4D03-BFB8-46519826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A25EE-7406-47CF-A0C3-DD0F4EE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Regional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C854-812C-43C9-A3EF-6E95C779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World results are aggregation outcomes: regions differ in stakes, scale, and mechanisms.</a:t>
            </a:r>
          </a:p>
        </p:txBody>
      </p:sp>
    </p:spTree>
    <p:extLst>
      <p:ext uri="{BB962C8B-B14F-4D97-AF65-F5344CB8AC3E}">
        <p14:creationId xmlns:p14="http://schemas.microsoft.com/office/powerpoint/2010/main" val="2066635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ECFE17-EA33-4CD0-9C44-45CB2F0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R10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CE0F-E8C4-4CB2-A838-10D4A35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79B90-A6D0-47F3-90A7-5C8B8D9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High-RE produces more modeled RE job-years in almost every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CC7D5-CDB0-4949-B0C0-4BB0165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70A97-000D-4743-AAF9-1E41EAA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5D64B-3E0C-4A2C-A184-51B944B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96E21-6D6B-4B1E-A87F-5C5EA21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B6B08-583D-4F9A-9468-B9A524F2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8A64D-D059-42B5-ACAD-B8F2E7E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1.5°C RE − CMT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81D5C-7C3A-4824-8EE2-090BE95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52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2°C RE − CMT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ECC21-E1AE-4F27-910C-272D9BF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FABC4-AE56-438E-B817-F2465A5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9005A-5AC5-47BB-AA7A-1A907C9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FB79F-967F-4141-AFD5-9B8288E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5AC13-993B-4ACD-A058-19133E2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97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largest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07B53-99E4-44C9-AD0E-FB32291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A7D64-1F15-46F0-86F4-1EAAA53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F9E4A-77C6-4DC4-880E-D7C60065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+733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89378-18E6-4CF7-9B88-2553B71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FC426-A0C7-4E25-8E49-35A129F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656CD-C7B0-4FCE-9E33-AFF64C9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62A3E-2A73-4BD0-BA0B-65CA8D8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+666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21A2D-04C9-4987-A727-4118D52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241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55D06-A2B5-46AC-B2C9-DCFF20C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DA71C-038C-4941-915E-720A5077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01CE8-1973-46FE-8024-40CCBB3B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Middle East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AC312-F6C9-46FB-8721-6EAF7C2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+557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C24FC-F8AF-4149-97D7-CDB19B64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+411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18D7A-64E3-4821-8230-FEB69ABF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positive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943E4-3FD5-4CE5-8F3F-2CED352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384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80DF1F-1014-42F4-B2FD-76792676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+221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203A8-D035-4078-AF08-9C11018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384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+194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9C84E-358F-4AE6-838C-011FC6E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3847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810B2-59AB-48B7-A7F1-E3F4235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03BE2-312A-426E-932E-A827B54C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China+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8628B-757D-4109-9532-9BED1443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11DBF5-E927-493F-BE69-22F1250A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084BF5-2BFB-4FE1-9B59-6BE5ACC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46FCC9-B7A0-443F-8094-A5AF7A7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528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North America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8A1D1-FAFD-41A8-B2F4-CB90E41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528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+154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0F85A-F7E5-48F7-8D05-A221C1C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+103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5703D2-D1E3-443E-8D59-1474488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C1B25F-CA2B-42AF-96AA-1048B54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8096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6DDD5E-48A3-4834-B152-99260EC7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Europe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01DB9D-2BE8-43BE-AD52-1C39681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+63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40CADD-80CF-49E5-BF5B-EDF9A03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+58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586DEC-AE16-4C13-BEB6-30B466A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2219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7464FD-4253-45FB-B5CF-42CD7DD5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003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852147-9C07-4896-B50E-20E7A91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431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872B"/>
                </a:solidFill>
              </a:defRPr>
            </a:pPr>
            <a:r>
              <a:rPr sz="1350" b="1">
                <a:solidFill>
                  <a:srgbClr val="C4872B"/>
                </a:solidFill>
              </a:rPr>
              <a:t>Exceptions are small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83AF32-68EC-48FC-89CE-EC0FA58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924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5323D"/>
                </a:solidFill>
              </a:defRPr>
            </a:pPr>
            <a:r>
              <a:rPr sz="1050" b="0">
                <a:solidFill>
                  <a:srgbClr val="25323D"/>
                </a:solidFill>
              </a:rPr>
              <a:t>Pacific OECD is near zero or modestly positive; no R10 region reverses the strong global jobs result in both ambitions.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2FC320-BEAE-43C7-95E1-563B7F9D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684"/>
                </a:solidFill>
              </a:defRPr>
            </a:pPr>
            <a:r>
              <a:rPr sz="1050" b="0">
                <a:solidFill>
                  <a:srgbClr val="667684"/>
                </a:solidFill>
              </a:rPr>
              <a:t>Values are High-RE − High engineered-CMT renewable job-years per 1,000 people; they quantify modeled sectoral activity, not labour-market welfare.</a:t>
            </a:r>
          </a:p>
        </p:txBody>
      </p:sp>
    </p:spTree>
    <p:extLst>
      <p:ext uri="{BB962C8B-B14F-4D97-AF65-F5344CB8AC3E}">
        <p14:creationId xmlns:p14="http://schemas.microsoft.com/office/powerpoint/2010/main" val="1431186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C44F8-A7DE-4642-A062-B543F40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R10 ENERGY DEPRIVATION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50C1B-D44B-43A3-830C-72BD065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PRIMARY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8E7F3-D080-44EF-BE60-9F4A7872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World deprivation result is driven by high-stakes regions—but it is not universal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F7FA-1B19-48D7-BCCC-5A945DF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62CDA-D487-40EA-881B-A536BD4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27FC7-C167-407B-9B5B-DE6F879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11C61-A883-49D7-9F94-93E1FC57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F3331-9443-4333-A6B8-252FC1B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526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1D73F-D9C5-47C6-BAC1-03487DBD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526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Energy gap difference: 1.5°C / 2°C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353B0-E162-48A5-ADBD-09E2253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526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Headcount difference: 1.5°C / 2°C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FD7F1-F931-459A-B603-F82C726F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5260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600E1-B2DB-4D25-9A5C-E6432CAA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Africa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7585A-AB70-4DCE-93F8-37AC9D2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097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−22.1 / −24.8 GJ/cap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612E5-F088-4FF7-B762-CBB5711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097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−10.0 / −9.5 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8665E-B616-4B60-980E-6E04E833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977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largest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70C05-43A9-4A98-8DB7-7275BB95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AA238-9620-47F5-8BC3-59766BB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Latin America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957B3-8E90-4E74-B892-A050FED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6695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−23.1 / −11.4 GJ/cap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52A88-2896-489A-A9BD-1E75063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6695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−7.6 / −3.4 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E2465-FA23-487B-9B8F-2F465A9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6695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large improvement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1D49F-7EA0-47CB-82E8-5BD0B29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India+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2972E-0662-471A-B09E-001F3AE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2412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−0.6 / −0.7 GJ/cap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7A5AC-64F3-4D48-8B48-6708EE5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2412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−0.5 / −0.7 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73AA5-2090-427B-9A87-FD6F561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2412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modest improvement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93893-A871-4054-9997-F954B42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ACB3B-B3A7-499A-991B-14B8FC4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Rest of Asia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92DBB-C209-4880-838A-E0AB7C7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813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−2.3 / +3.0 GJ/cap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0214D6-535E-42E4-814B-D67B863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81300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−0.9 / +1.0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CA1EF-1257-4AAB-857B-94A7D30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81300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ambition-dependent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3D96F-B381-41F7-BE50-A0F0B39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38475"/>
            <a:ext cx="1981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Middle East / North America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1085A-A5A7-4287-8471-E8E01FC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384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 gaps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4E689-6751-478A-88AD-6BCDA0DA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3028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positive headcounts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6925F-F296-44A5-BDBD-8B9FABE9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38475"/>
            <a:ext cx="2324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reversal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CCACD-3D9C-44A8-BA8D-2CF9721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Negative values favor High-RE. The regional pattern makes the World average interpretable: high baseline shortfalls magnify changes in final energy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9895608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E9250-71A1-4769-8F26-BB4DEB0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RESULTS · REGIONAL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AAAD0-0C86-4321-BCD8-B62B86B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R10 ·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AAD9-E132-426F-8D04-B06220E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Read PM2.5 mortality only where the precursor-reporting comparison is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E7D4D-6578-43DF-B147-14BA19C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7A1C-EA05-4C00-92D5-55251C4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FDEAA-AD24-4B9E-973A-9C44EC0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5D6CD-8E12-4936-888A-1CFE5D1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WHERE WORLD TOTALS COME FROM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EEFF-9026-4B58-A41C-750AFCB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Large populations and high baseline pollution make South and East Asian regions central to absolute PM2.5 mortality totals.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4EB05-4DB1-4DA2-B489-FD018FA9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WHY REGIONAL DIRECTION DIFFERS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F971B-FBBC-476E-A035-99EBD25A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Coal, industry, transport, biomass, agricultural NH₃, and the pace of end-use electrification vary across R10 regions.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1903B-0D8A-4524-A117-6A13A13E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52673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9FC75-A75D-4355-A0A2-A7358BD4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E5654"/>
                </a:solidFill>
              </a:defRPr>
            </a:pPr>
            <a:r>
              <a:rPr sz="1650" b="1">
                <a:solidFill>
                  <a:srgbClr val="BE5654"/>
                </a:solidFill>
              </a:rPr>
              <a:t>Do not convert incomplete reporting into a regional causal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FBB0A-607F-46F6-891F-AAA2A558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57475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A regional contrast is reported only when both pathway arms contain complete direct R10 precursor emissions and comparable models. This prevents a “clean-looking” map from hiding missing NH₃ or other precursors.</a:t>
            </a:r>
          </a:p>
        </p:txBody>
      </p:sp>
    </p:spTree>
    <p:extLst>
      <p:ext uri="{BB962C8B-B14F-4D97-AF65-F5344CB8AC3E}">
        <p14:creationId xmlns:p14="http://schemas.microsoft.com/office/powerpoint/2010/main" val="11290195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F3463-E9E0-4B0A-B2BB-EBBBCB0E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REGIONAL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BD93B-98C1-48C5-A80B-9332091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73A9-5089-4F92-86D8-449DE03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Which regions mechanically drive the World story?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4B41D-BE29-435D-A868-DB615350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6F989-43D7-4047-8FD8-2B1E454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216E1-5252-4791-81EA-579A21B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6EF12-79AE-4ACE-9072-4EF794D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783ED-E4B2-43FB-B8C2-E10A3E1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54530-524F-43D9-B2D8-134833D8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84E72-EBB8-4300-B4CF-66F13A9E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China+, India+, Rest of Asia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30076-E7AD-4328-9BD7-FD4A7C7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Large deployment volumes and population mean these regions can dominate world job-years and PM2.5 totals.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BE43C-ADF7-4002-80B7-72FDFA9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83CFA-CC40-4983-8BA9-C88D37E8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9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34960-4E79-4D1D-8004-ECD833C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29568"/>
                </a:solidFill>
              </a:defRPr>
            </a:pPr>
            <a:r>
              <a:rPr sz="750" b="1">
                <a:solidFill>
                  <a:srgbClr val="429568"/>
                </a:solidFill>
              </a:rPr>
              <a:t>STAKES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43BF2-F571-4CC3-B5EA-FEA1883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Africa, India+, Latin America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D248-054B-495C-B905-F734535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High starting energy shortfalls mean a change in final energy availability moves the deprivation indicators most.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8C605-32E0-4FCC-A534-1F0281C5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D18C5-AB77-4C3F-A293-7EF3EA86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C3359-6741-41EB-B8B0-8B0FA87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DIVERGENCE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08A4B-FA91-45AA-A653-8380CB6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23D"/>
                </a:solidFill>
              </a:defRPr>
            </a:pPr>
            <a:r>
              <a:rPr sz="1875" b="1">
                <a:solidFill>
                  <a:srgbClr val="25323D"/>
                </a:solidFill>
              </a:rPr>
              <a:t>Middle East, North America, Pacific OECD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2BD74-DB61-49FE-8A4A-A59B1882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9908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</a:rPr>
              <a:t>Fossil-asset structure, trade, resource quality, and modelled energy demand can produce different deprivation patterns.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B3799-A79C-4EB5-ABA1-DAC0CDF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World is not a vote count across R10 regions: it is a population-, energy-, and deployment-weighted aggregation.</a:t>
            </a:r>
          </a:p>
        </p:txBody>
      </p:sp>
    </p:spTree>
    <p:extLst>
      <p:ext uri="{BB962C8B-B14F-4D97-AF65-F5344CB8AC3E}">
        <p14:creationId xmlns:p14="http://schemas.microsoft.com/office/powerpoint/2010/main" val="6982303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98499-C151-4286-8551-8C2BC20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PART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1724A-BEFC-4D24-AFF8-825A4B52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Why the patterns arise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DC5BB-5484-4B6D-8191-12CE09A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7DF"/>
                </a:solidFill>
              </a:defRPr>
            </a:pPr>
            <a:r>
              <a:rPr sz="1275" b="0">
                <a:solidFill>
                  <a:srgbClr val="C9D7DF"/>
                </a:solidFill>
              </a:rPr>
              <a:t>The results describe scenario portfolios; the mechanism is technological, distributional, and policy-mediated.</a:t>
            </a:r>
          </a:p>
        </p:txBody>
      </p:sp>
    </p:spTree>
    <p:extLst>
      <p:ext uri="{BB962C8B-B14F-4D97-AF65-F5344CB8AC3E}">
        <p14:creationId xmlns:p14="http://schemas.microsoft.com/office/powerpoint/2010/main" val="4249328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E7755-DBED-48F9-BC23-6B874488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C18C3-7372-4230-B20F-E9F11C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A9AE7-AC08-4B78-8BBB-18BA732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the job-years result is mechanically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32EC-4198-4562-B0F9-CA44211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0600-A0AF-4B48-9CEA-4818E5A2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37E3-ECA6-4036-892F-E43F6039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BC81F-D353-4611-B7DC-3FA87BB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2BCB-F338-4095-B3E0-9D6EB2F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Portfolio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03A91-6263-4022-BBE3-1231136B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866900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System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5B19-C4A3-4DFB-80E2-41794979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866900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Wellbeing-relevant implication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FEF8E-E5C7-4827-B5E5-D2EA1FCE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High-RE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DFA0C-28FA-4FBE-8F5C-1D07F1CE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24075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wind/solar additions and operating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98AE6-2F61-43E3-87A2-F520864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24075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modeled manufacturing, construction, installation, and O&amp;M job-years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21A24-70C7-4B1F-B621-50CA333A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0F94E-248D-470C-A3E4-2E83DCA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High engineered-CMT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1DBF9-E88C-4FDA-BEFF-2405EFB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81250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More capture/removal/storage and remaining fuel-system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4734F-3809-4608-8ED2-6A1BEB6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81250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Less RE-build activity per person—without implying fewer total economy jobs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8C182-8D4F-4BC0-A27D-438E03DA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2457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Regional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FE0B7-0B4F-47FF-91BF-02117D3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38425"/>
            <a:ext cx="388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Supply chains, labour intensity, import dependence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6880F-6086-42DA-A25E-707E2F51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413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Modeled job activity need not equal domestic job quality or inclusion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EAA02-1D3B-4298-BB5B-C5826F6C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Real-world policy bridge: renewable targets alone are not a workforce strategy. Grid planning, training, local-content rules, labour standards, and just-transition policy determine who benefits.</a:t>
            </a:r>
          </a:p>
        </p:txBody>
      </p:sp>
    </p:spTree>
    <p:extLst>
      <p:ext uri="{BB962C8B-B14F-4D97-AF65-F5344CB8AC3E}">
        <p14:creationId xmlns:p14="http://schemas.microsoft.com/office/powerpoint/2010/main" val="18719320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9A263-B2E9-4BA4-80FD-46834DF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E1C4-B783-4392-8E7A-9434CAC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785A1-03C5-46BB-BA98-FC28A6AF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deprivation can improve—and can reverse—by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862DC-1B96-44C7-A782-A468452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66DB3-D836-4C80-A65C-F12634FE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4CD7-AE45-41CE-8764-3780C98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FCA8E-314C-43AE-B5D8-01FC8ED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9738B"/>
                </a:solidFill>
              </a:defRPr>
            </a:pPr>
            <a:r>
              <a:rPr sz="825" b="1">
                <a:solidFill>
                  <a:srgbClr val="39738B"/>
                </a:solidFill>
              </a:rPr>
              <a:t>MECHANICAL PATHWAY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167C-DDC8-4757-B04B-0640694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Technology portfolios co-vary with electrification, efficiency, fuel switching, and final energy availability. The DLE model translates those changes relative to a regional threshold.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31124-4CA6-46C5-88C5-996EA86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WHY AFRICA AND LATIN AMERICA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6CB88-4F09-424C-A600-EA9E0E0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 given change in available final energy can reduce a large shortfall or affect a large population below the threshold.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DCB8-2BB6-4D4E-98DF-4487CF7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WHY REVERSALS ARE CREDIBLE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07507-1E5A-42E9-ADF0-FA58191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240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CMT-intensive scenarios can still deploy substantial renewables; demand, end-use allocation, model structure, and trade can outweigh the portfolio label in a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59583-9A5E-4400-9937-C84B0F5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62350"/>
            <a:ext cx="476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872B"/>
                </a:solidFill>
              </a:defRPr>
            </a:pPr>
            <a:r>
              <a:rPr sz="825" b="1">
                <a:solidFill>
                  <a:srgbClr val="C4872B"/>
                </a:solidFill>
              </a:rPr>
              <a:t>POLICY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2E7FA-EF75-4A43-B427-4D3D151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Affordable connections, reliability, productive-use demand, appliance efficiency, and tariff design are the missing links between energy supply and household wellbeing.</a:t>
            </a:r>
          </a:p>
        </p:txBody>
      </p:sp>
    </p:spTree>
    <p:extLst>
      <p:ext uri="{BB962C8B-B14F-4D97-AF65-F5344CB8AC3E}">
        <p14:creationId xmlns:p14="http://schemas.microsoft.com/office/powerpoint/2010/main" val="18588216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DDD02-A875-4D3A-86DF-B6E2A4F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MECHANISMS · MORTALITY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9C6EB-1A83-40FB-A954-3673EA56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WHY · AIR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C7B78-358E-4018-BC91-6B04351E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Why High-RE and High engineered-CMT can look similar on PM2.5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2D099-840F-4A21-B64E-84F9AAE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7E734-59FE-494C-A7DF-7ABD3E0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114EE-1D28-4E16-B208-00306F5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469A2-3674-469F-95D2-0C0938B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23D"/>
                </a:solidFill>
              </a:defRPr>
            </a:pPr>
            <a:r>
              <a:rPr sz="1500" b="1">
                <a:solidFill>
                  <a:srgbClr val="25323D"/>
                </a:solidFill>
              </a:rPr>
              <a:t>Both pathways meet the same temperature target; “High engineered-CMT” does not mean “high fossil pollution.”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10E13-0408-421F-945E-92A4395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5E987-8FE3-4F9A-9C83-82F9C03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EDBBC-7026-42AB-BEC2-C1E317A6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47925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How it affects the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59AA-268F-462F-ABF9-8AD2DD8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0510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Shared 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ECC66-06B9-45D5-8E54-896B0A0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05100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1.5°C and 2°C CMT scenarios still reduce fossil combustion and deploy renewables, so both can receive large pollution-health benefits.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5C556-DE6D-4BEE-BD1A-898A7B6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D6CA7-BC62-4095-B089-C65A963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Non-power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D18F4-0A55-4BF4-BC15-070EB06E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62275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Industry, transport, biomass, agriculture, and NH₃ drive PM2.5 too; a power-sector portfolio label cannot isolate all precursors.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D1F62-539F-4595-949D-304FF3D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19450"/>
            <a:ext cx="2266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Evidence constraint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37A5-F396-4EA0-A739-335E6E65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19450"/>
            <a:ext cx="832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Complete emissions reporting differs across model families and pathway arms, shifting pooled medians.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4C974-DB9E-4AA0-BA95-15031F6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23D"/>
                </a:solidFill>
              </a:defRPr>
            </a:pPr>
            <a:r>
              <a:rPr sz="1125" b="1">
                <a:solidFill>
                  <a:srgbClr val="25323D"/>
                </a:solidFill>
              </a:rPr>
              <a:t>Policy implication: achieving the climate target is necessary for cleaner air, but the co-benefit depends on which emitting sectors are transformed and how completely emissions are reported.</a:t>
            </a:r>
          </a:p>
        </p:txBody>
      </p:sp>
    </p:spTree>
    <p:extLst>
      <p:ext uri="{BB962C8B-B14F-4D97-AF65-F5344CB8AC3E}">
        <p14:creationId xmlns:p14="http://schemas.microsoft.com/office/powerpoint/2010/main" val="14656989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7043-8CB0-4B94-8D5D-3225D31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DIAGNOSTIC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37E9E-82D6-4D36-A806-CA57D0C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7DCCD-5DC8-4881-9BF7-9ED50AD0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Model composition is a core result, not an appendix footnote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D7FC-457F-4313-A6AD-3214F23A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EF1CB-59FA-4ABC-844A-2ECF0E7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30183-27B6-4E8D-9629-A1A2A2B0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311EF-16AC-48C6-A347-FB3785B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E393-9678-4B01-9A7F-F2642EB1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738B"/>
                </a:solidFill>
              </a:defRPr>
            </a:pPr>
            <a:r>
              <a:rPr sz="1575" b="1">
                <a:solidFill>
                  <a:srgbClr val="39738B"/>
                </a:solidFill>
              </a:rPr>
              <a:t>Pooled ensemble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A6F5F-F49B-4270-A87D-16D6201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Describes the set of scenarios observed in the database. It can mix different IAM families across the two portfolio arms, especially after requiring outcome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88B3B-3FD9-4461-AC5B-495697B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907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84B8B-CBF6-42E7-9371-D9FA955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9568"/>
                </a:solidFill>
              </a:defRPr>
            </a:pPr>
            <a:r>
              <a:rPr sz="1575" b="1">
                <a:solidFill>
                  <a:srgbClr val="429568"/>
                </a:solidFill>
              </a:rPr>
              <a:t>Within-model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7A9EB-FD32-4C42-B859-C390019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86025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5323D"/>
                </a:solidFill>
              </a:defRPr>
            </a:pPr>
            <a:r>
              <a:rPr sz="1200" b="0">
                <a:solidFill>
                  <a:srgbClr val="25323D"/>
                </a:solidFill>
              </a:rPr>
              <a:t>Keeps an IAM only when it supplies both pathway arms in the same ambition-region cell. It is the better test of whether the pooled contrast is model-composition dependent.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4258D-CF53-437F-80C8-6AA373E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Use association language for pooled results. Treat agreement between pooled and within-model evidence as stronger support; show disagreement as diagnosis.</a:t>
            </a:r>
          </a:p>
        </p:txBody>
      </p:sp>
    </p:spTree>
    <p:extLst>
      <p:ext uri="{BB962C8B-B14F-4D97-AF65-F5344CB8AC3E}">
        <p14:creationId xmlns:p14="http://schemas.microsoft.com/office/powerpoint/2010/main" val="8136716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D6388-B346-413E-B4BF-D92D675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03D4-4329-455A-9E34-498ECB7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ACD10-7831-4C0D-B30B-D39B8A1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The primary result is distinguished from related sensitivity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775C-FAD5-47E6-BAAB-637D39EE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81449-C2A0-4F5F-B676-189E44B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F01FF-27D8-4000-B26F-34DA94F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CF22-B8C2-48EE-8F48-484C1C88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86C4C-E573-4501-9449-4ACC30C4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DEE1-36BA-4A56-96BD-F0622B8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6690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What 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C06A4-D273-415B-B9DE-21E6E644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9738B"/>
                </a:solidFill>
              </a:defRPr>
            </a:pPr>
            <a:r>
              <a:rPr sz="750" b="1">
                <a:solidFill>
                  <a:srgbClr val="39738B"/>
                </a:solidFill>
              </a:rPr>
              <a:t>Role in paper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62FF8-D4EE-49D7-A88C-91EBCAAB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24075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Primary: engineered-CMT, broad paired top-tercile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75058-CA88-42AE-B94C-B0960FF2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24075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Energy-system contrast: High-RE vs novel CDR + fossil/industrial CCS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4B622-BA91-4FDB-9985-4F434E4E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24075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Main findings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6B0A-5C39-4E28-A181-2BAFE2A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DA478-9B54-4D94-8912-96F0850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Strict polar portfolios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73C5E-D862-410A-B4DB-93D94958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technology extremes sharpen or alter the contrast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A6339-B6F7-46B6-8CBE-D8CBF34B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Sensitivity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FC43D-F20C-426F-A179-436D585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Total CDR / all removals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6FFCF-3BA1-43A1-9222-2D192D9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38425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land removals change the 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4EF6A-E23B-44B1-BC5C-5284B41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38425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Supplement: different substantive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54C76-5C1D-4261-8DB8-9C59243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1C291-20DF-4C88-896D-82EA2C30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95600"/>
            <a:ext cx="3600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323D"/>
                </a:solidFill>
              </a:defRPr>
            </a:pPr>
            <a:r>
              <a:rPr sz="825" b="1">
                <a:solidFill>
                  <a:srgbClr val="25323D"/>
                </a:solidFill>
              </a:rPr>
              <a:t>Mortality reporting-complete screen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D100F-443F-4A15-A150-4084699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95600"/>
            <a:ext cx="4600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Whether PM2.5 conclusions survive complete direct R10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191AA-5F86-46C9-BEFC-E4FB69FB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2276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25323D"/>
                </a:solidFill>
              </a:defRPr>
            </a:pPr>
            <a:r>
              <a:rPr sz="825" b="0">
                <a:solidFill>
                  <a:srgbClr val="25323D"/>
                </a:solidFill>
              </a:rPr>
              <a:t>QA diagnostic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710BF-BD45-44A5-B434-9B60840D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23D"/>
                </a:solidFill>
              </a:defRPr>
            </a:pPr>
            <a:r>
              <a:rPr sz="1200" b="1">
                <a:solidFill>
                  <a:srgbClr val="25323D"/>
                </a:solidFill>
              </a:rPr>
              <a:t>Robustness does not mean forcing every outcome to agree. It means specifying which comparison each statistic can credibly answer.</a:t>
            </a:r>
          </a:p>
        </p:txBody>
      </p:sp>
    </p:spTree>
    <p:extLst>
      <p:ext uri="{BB962C8B-B14F-4D97-AF65-F5344CB8AC3E}">
        <p14:creationId xmlns:p14="http://schemas.microsoft.com/office/powerpoint/2010/main" val="1391298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82B55-E950-43C0-B360-B3987F2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4872B"/>
                </a:solidFill>
              </a:defRPr>
            </a:pPr>
            <a:r>
              <a:rPr sz="750" b="1">
                <a:solidFill>
                  <a:srgbClr val="C4872B"/>
                </a:solidFill>
              </a:rPr>
              <a:t>PAPER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FE71-6598-42C1-8817-63908A8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"/>
            <a:ext cx="2076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2AEC1"/>
                </a:solidFill>
              </a:defRPr>
            </a:pPr>
            <a:r>
              <a:rPr sz="750" b="1">
                <a:solidFill>
                  <a:srgbClr val="72AEC1"/>
                </a:solidFill>
              </a:rPr>
              <a:t>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CDD8A-DABC-40B6-9CE5-1DD02BE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23D"/>
                </a:solidFill>
              </a:defRPr>
            </a:pPr>
            <a:r>
              <a:rPr sz="2250" b="1">
                <a:solidFill>
                  <a:srgbClr val="25323D"/>
                </a:solidFill>
              </a:rPr>
              <a:t>A precise and dissertation-ready claim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656A3-BB43-4402-987D-C8867ED5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2BB7D-A5BE-429B-93B7-DA9AADBE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667684"/>
                </a:solidFill>
              </a:defRPr>
            </a:pPr>
            <a:r>
              <a:rPr sz="675" b="0">
                <a:solidFill>
                  <a:srgbClr val="667684"/>
                </a:solidFill>
              </a:rPr>
              <a:t>COMPASS Scenario Database · Paper 1 · 2020–2100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98C78-954E-4FE5-8CAF-B112BC3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67684"/>
                </a:solidFill>
              </a:defRPr>
            </a:pPr>
            <a:r>
              <a:rPr sz="675" b="1">
                <a:solidFill>
                  <a:srgbClr val="667684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C4D25-D1D1-4A32-9A45-B2401C1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23D"/>
                </a:solidFill>
              </a:defRPr>
            </a:pPr>
            <a:r>
              <a:rPr sz="1500" b="1">
                <a:solidFill>
                  <a:srgbClr val="25323D"/>
                </a:solidFill>
              </a:rPr>
              <a:t>The paper can credibly claim that: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8176F-20F6-456A-97BB-8BD42AC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87B3-A57C-4B37-AC74-E924228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Within the full global IAM ensemble, High-RE pathways are associated with substantially more modeled RE job-years and generally lower modeled energy deprivation than High engineered-CMT pathways.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D98F7-BD1F-4682-BC66-9ED8DF02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29568"/>
                </a:solidFill>
              </a:defRPr>
            </a:pPr>
            <a:r>
              <a:rPr sz="825" b="1">
                <a:solidFill>
                  <a:srgbClr val="42956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22E50-EDB2-4E90-8A90-E7A4478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R10 heterogeneity explains the World patterns: high-stakes deprivation regions and high-scale deployment regions matter more than a region-count average.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139F-ABD7-42AF-9405-DE1809E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5654"/>
                </a:solidFill>
              </a:defRPr>
            </a:pPr>
            <a:r>
              <a:rPr sz="825" b="1">
                <a:solidFill>
                  <a:srgbClr val="BE565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80E7A-4908-472D-ABBE-E60D928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5323D"/>
                </a:solidFill>
              </a:defRPr>
            </a:pPr>
            <a:r>
              <a:rPr sz="1125" b="0">
                <a:solidFill>
                  <a:srgbClr val="25323D"/>
                </a:solidFill>
              </a:rPr>
              <a:t>PM2.5 mortality is informative only after reporting-complete screening and remains non-rankable across all samples and ambitions—an evidence-quality result with substantive value.</a:t>
            </a:r>
          </a:p>
        </p:txBody>
      </p:sp>
    </p:spTree>
    <p:extLst>
      <p:ext uri="{BB962C8B-B14F-4D97-AF65-F5344CB8AC3E}">
        <p14:creationId xmlns:p14="http://schemas.microsoft.com/office/powerpoint/2010/main" val="2544935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97B9-1C59-467B-8BD2-3E952CE5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2AEC1"/>
                </a:solidFill>
              </a:defRPr>
            </a:pPr>
            <a:r>
              <a:rPr sz="825" b="1">
                <a:solidFill>
                  <a:srgbClr val="72AEC1"/>
                </a:solidFill>
              </a:rPr>
              <a:t>BOTTOM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53820-3269-4755-948D-B5CFFD98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High-RE pathways carry the clearer wellbeing advantage where the evidence is strongest.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EA84D-1DAF-48ED-8383-D2EB878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4E0E6"/>
                </a:solidFill>
              </a:defRPr>
            </a:pPr>
            <a:r>
              <a:rPr sz="1425" b="0">
                <a:solidFill>
                  <a:srgbClr val="D4E0E6"/>
                </a:solidFill>
              </a:rPr>
              <a:t>They are associated with more renewable-electricity job-years and—across the full ensemble—less modeled energy deprivation. Regional diagnosis makes that global result interpretable; transparent mortality coverage keeps the claim honest.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E38C2-0B6F-4463-BFB8-69C64F79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2AE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582D7-0702-49AF-AE8C-FFBBA84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DD7"/>
                </a:solidFill>
              </a:defRPr>
            </a:pPr>
            <a:r>
              <a:rPr sz="1200" b="0">
                <a:solidFill>
                  <a:srgbClr val="B7CDD7"/>
                </a:solidFill>
              </a:rPr>
              <a:t>The paper’s contribution is not a universal technology winner. It is a transparent map of where pathway portfolios matter for wellbeing—and where the database cannot yet answer.</a:t>
            </a:r>
          </a:p>
        </p:txBody>
      </p:sp>
    </p:spTree>
    <p:extLst>
      <p:ext uri="{BB962C8B-B14F-4D97-AF65-F5344CB8AC3E}">
        <p14:creationId xmlns:p14="http://schemas.microsoft.com/office/powerpoint/2010/main" val="1818639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2026-08-25T19:05:49.8530000Z</dcterms:created>
  <dcterms:modified xsi:type="dcterms:W3CDTF">2026-08-25T19:05:49.8530000Z</dcterms:modified>
</coreProperties>
</file>