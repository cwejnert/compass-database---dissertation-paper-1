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e8d8a3a63b4ad1" /><Relationship Type="http://schemas.openxmlformats.org/officeDocument/2006/relationships/extended-properties" Target="/docProps/app.xml" Id="R285ec9436b9a47a4" /><Relationship Type="http://schemas.openxmlformats.org/officeDocument/2006/relationships/officeDocument" Target="/ppt/presentation.xml" Id="R76ccb6ab49a2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530a170d2e4ace"/>
  </p:sldMasterIdLst>
  <p:notesMasterIdLst>
    <p:notesMasterId xmlns:r="http://schemas.openxmlformats.org/officeDocument/2006/relationships" r:id="R9539363a7c6342df"/>
  </p:notesMasterIdLst>
  <p:sldIdLst>
    <p:sldId xmlns:r="http://schemas.openxmlformats.org/officeDocument/2006/relationships" id="256" r:id="Rac867e7caeee49b1"/>
    <p:sldId xmlns:r="http://schemas.openxmlformats.org/officeDocument/2006/relationships" id="257" r:id="Rc65b54932606439a"/>
    <p:sldId xmlns:r="http://schemas.openxmlformats.org/officeDocument/2006/relationships" id="258" r:id="R11a745b0a0a84530"/>
    <p:sldId xmlns:r="http://schemas.openxmlformats.org/officeDocument/2006/relationships" id="259" r:id="R40c6237a4fa34532"/>
    <p:sldId xmlns:r="http://schemas.openxmlformats.org/officeDocument/2006/relationships" id="260" r:id="R5f66c67e42d54ca2"/>
    <p:sldId xmlns:r="http://schemas.openxmlformats.org/officeDocument/2006/relationships" id="261" r:id="R79f37851f12c467e"/>
    <p:sldId xmlns:r="http://schemas.openxmlformats.org/officeDocument/2006/relationships" id="262" r:id="Ra7c9e326d2d44cd5"/>
    <p:sldId xmlns:r="http://schemas.openxmlformats.org/officeDocument/2006/relationships" id="263" r:id="R75d628bf068b4784"/>
    <p:sldId xmlns:r="http://schemas.openxmlformats.org/officeDocument/2006/relationships" id="264" r:id="R697944c26ece4c2f"/>
    <p:sldId xmlns:r="http://schemas.openxmlformats.org/officeDocument/2006/relationships" id="265" r:id="R63efd416667d43f7"/>
    <p:sldId xmlns:r="http://schemas.openxmlformats.org/officeDocument/2006/relationships" id="266" r:id="R92c20e0a366f405a"/>
    <p:sldId xmlns:r="http://schemas.openxmlformats.org/officeDocument/2006/relationships" id="267" r:id="Rf9b5aef2a8f04b3c"/>
    <p:sldId xmlns:r="http://schemas.openxmlformats.org/officeDocument/2006/relationships" id="268" r:id="Rd66c6e30470a4259"/>
    <p:sldId xmlns:r="http://schemas.openxmlformats.org/officeDocument/2006/relationships" id="269" r:id="R2f7634dcae574412"/>
    <p:sldId xmlns:r="http://schemas.openxmlformats.org/officeDocument/2006/relationships" id="270" r:id="Rc3a240d0e806448b"/>
    <p:sldId xmlns:r="http://schemas.openxmlformats.org/officeDocument/2006/relationships" id="271" r:id="R03fb0c1f06a04424"/>
    <p:sldId xmlns:r="http://schemas.openxmlformats.org/officeDocument/2006/relationships" id="272" r:id="R3d3fed21867746bb"/>
    <p:sldId xmlns:r="http://schemas.openxmlformats.org/officeDocument/2006/relationships" id="273" r:id="R6683050f064541d5"/>
    <p:sldId xmlns:r="http://schemas.openxmlformats.org/officeDocument/2006/relationships" id="274" r:id="R50e454db3a4344c5"/>
    <p:sldId xmlns:r="http://schemas.openxmlformats.org/officeDocument/2006/relationships" id="275" r:id="Rabda96ec68784cfc"/>
    <p:sldId xmlns:r="http://schemas.openxmlformats.org/officeDocument/2006/relationships" id="276" r:id="R735cea4ca3e348ac"/>
    <p:sldId xmlns:r="http://schemas.openxmlformats.org/officeDocument/2006/relationships" id="277" r:id="R267fe944dcc24ab5"/>
    <p:sldId xmlns:r="http://schemas.openxmlformats.org/officeDocument/2006/relationships" id="278" r:id="R41bdf83113694590"/>
    <p:sldId xmlns:r="http://schemas.openxmlformats.org/officeDocument/2006/relationships" id="279" r:id="R759313b248f0490d"/>
    <p:sldId xmlns:r="http://schemas.openxmlformats.org/officeDocument/2006/relationships" id="280" r:id="R666b172cc12a451d"/>
    <p:sldId xmlns:r="http://schemas.openxmlformats.org/officeDocument/2006/relationships" id="281" r:id="R6c96a75e5c164b48"/>
    <p:sldId xmlns:r="http://schemas.openxmlformats.org/officeDocument/2006/relationships" id="282" r:id="R103c0839ac754acd"/>
    <p:sldId xmlns:r="http://schemas.openxmlformats.org/officeDocument/2006/relationships" id="283" r:id="R58490282fb42459a"/>
    <p:sldId xmlns:r="http://schemas.openxmlformats.org/officeDocument/2006/relationships" id="284" r:id="R332a2e7ae0bf4027"/>
    <p:sldId xmlns:r="http://schemas.openxmlformats.org/officeDocument/2006/relationships" id="285" r:id="R1c69dc516e754809"/>
    <p:sldId xmlns:r="http://schemas.openxmlformats.org/officeDocument/2006/relationships" id="286" r:id="R4818a6c163a84773"/>
    <p:sldId xmlns:r="http://schemas.openxmlformats.org/officeDocument/2006/relationships" id="287" r:id="R694517ebe33b4045"/>
    <p:sldId xmlns:r="http://schemas.openxmlformats.org/officeDocument/2006/relationships" id="288" r:id="Rdefbfae0cc1a4ef2"/>
    <p:sldId xmlns:r="http://schemas.openxmlformats.org/officeDocument/2006/relationships" id="289" r:id="R6099413b2a28415b"/>
    <p:sldId xmlns:r="http://schemas.openxmlformats.org/officeDocument/2006/relationships" id="290" r:id="R9f85b51beeaa479d"/>
    <p:sldId xmlns:r="http://schemas.openxmlformats.org/officeDocument/2006/relationships" id="291" r:id="R2b0a4397a5e04ee2"/>
    <p:sldId xmlns:r="http://schemas.openxmlformats.org/officeDocument/2006/relationships" id="292" r:id="Rcb78dc335a8747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6542e7efc462e" /><Relationship Type="http://schemas.openxmlformats.org/officeDocument/2006/relationships/slideMaster" Target="/ppt/slideMasters/slideMaster1.xml" Id="R9d530a170d2e4ace" /><Relationship Type="http://schemas.openxmlformats.org/officeDocument/2006/relationships/notesMaster" Target="/ppt/notesMasters/notesMaster1.xml" Id="R9539363a7c6342df" /><Relationship Type="http://schemas.openxmlformats.org/officeDocument/2006/relationships/presProps" Target="/ppt/presProps.xml" Id="R666891c947e14d31" /><Relationship Type="http://schemas.openxmlformats.org/officeDocument/2006/relationships/tableStyles" Target="/ppt/tableStyles.xml" Id="R4b480ab813a04a42" /><Relationship Type="http://schemas.openxmlformats.org/officeDocument/2006/relationships/slide" Target="/ppt/slides/slide1.xml" Id="Rac867e7caeee49b1" /><Relationship Type="http://schemas.openxmlformats.org/officeDocument/2006/relationships/slide" Target="/ppt/slides/slide2.xml" Id="Rc65b54932606439a" /><Relationship Type="http://schemas.openxmlformats.org/officeDocument/2006/relationships/slide" Target="/ppt/slides/slide3.xml" Id="R11a745b0a0a84530" /><Relationship Type="http://schemas.openxmlformats.org/officeDocument/2006/relationships/slide" Target="/ppt/slides/slide4.xml" Id="R40c6237a4fa34532" /><Relationship Type="http://schemas.openxmlformats.org/officeDocument/2006/relationships/slide" Target="/ppt/slides/slide5.xml" Id="R5f66c67e42d54ca2" /><Relationship Type="http://schemas.openxmlformats.org/officeDocument/2006/relationships/slide" Target="/ppt/slides/slide6.xml" Id="R79f37851f12c467e" /><Relationship Type="http://schemas.openxmlformats.org/officeDocument/2006/relationships/slide" Target="/ppt/slides/slide7.xml" Id="Ra7c9e326d2d44cd5" /><Relationship Type="http://schemas.openxmlformats.org/officeDocument/2006/relationships/slide" Target="/ppt/slides/slide8.xml" Id="R75d628bf068b4784" /><Relationship Type="http://schemas.openxmlformats.org/officeDocument/2006/relationships/slide" Target="/ppt/slides/slide9.xml" Id="R697944c26ece4c2f" /><Relationship Type="http://schemas.openxmlformats.org/officeDocument/2006/relationships/slide" Target="/ppt/slides/slide10.xml" Id="R63efd416667d43f7" /><Relationship Type="http://schemas.openxmlformats.org/officeDocument/2006/relationships/slide" Target="/ppt/slides/slide11.xml" Id="R92c20e0a366f405a" /><Relationship Type="http://schemas.openxmlformats.org/officeDocument/2006/relationships/slide" Target="/ppt/slides/slide12.xml" Id="Rf9b5aef2a8f04b3c" /><Relationship Type="http://schemas.openxmlformats.org/officeDocument/2006/relationships/slide" Target="/ppt/slides/slide13.xml" Id="Rd66c6e30470a4259" /><Relationship Type="http://schemas.openxmlformats.org/officeDocument/2006/relationships/slide" Target="/ppt/slides/slide14.xml" Id="R2f7634dcae574412" /><Relationship Type="http://schemas.openxmlformats.org/officeDocument/2006/relationships/slide" Target="/ppt/slides/slide15.xml" Id="Rc3a240d0e806448b" /><Relationship Type="http://schemas.openxmlformats.org/officeDocument/2006/relationships/slide" Target="/ppt/slides/slide16.xml" Id="R03fb0c1f06a04424" /><Relationship Type="http://schemas.openxmlformats.org/officeDocument/2006/relationships/slide" Target="/ppt/slides/slide17.xml" Id="R3d3fed21867746bb" /><Relationship Type="http://schemas.openxmlformats.org/officeDocument/2006/relationships/slide" Target="/ppt/slides/slide18.xml" Id="R6683050f064541d5" /><Relationship Type="http://schemas.openxmlformats.org/officeDocument/2006/relationships/slide" Target="/ppt/slides/slide19.xml" Id="R50e454db3a4344c5" /><Relationship Type="http://schemas.openxmlformats.org/officeDocument/2006/relationships/slide" Target="/ppt/slides/slide20.xml" Id="Rabda96ec68784cfc" /><Relationship Type="http://schemas.openxmlformats.org/officeDocument/2006/relationships/slide" Target="/ppt/slides/slide21.xml" Id="R735cea4ca3e348ac" /><Relationship Type="http://schemas.openxmlformats.org/officeDocument/2006/relationships/slide" Target="/ppt/slides/slide22.xml" Id="R267fe944dcc24ab5" /><Relationship Type="http://schemas.openxmlformats.org/officeDocument/2006/relationships/slide" Target="/ppt/slides/slide23.xml" Id="R41bdf83113694590" /><Relationship Type="http://schemas.openxmlformats.org/officeDocument/2006/relationships/slide" Target="/ppt/slides/slide24.xml" Id="R759313b248f0490d" /><Relationship Type="http://schemas.openxmlformats.org/officeDocument/2006/relationships/slide" Target="/ppt/slides/slide25.xml" Id="R666b172cc12a451d" /><Relationship Type="http://schemas.openxmlformats.org/officeDocument/2006/relationships/slide" Target="/ppt/slides/slide26.xml" Id="R6c96a75e5c164b48" /><Relationship Type="http://schemas.openxmlformats.org/officeDocument/2006/relationships/slide" Target="/ppt/slides/slide27.xml" Id="R103c0839ac754acd" /><Relationship Type="http://schemas.openxmlformats.org/officeDocument/2006/relationships/slide" Target="/ppt/slides/slide28.xml" Id="R58490282fb42459a" /><Relationship Type="http://schemas.openxmlformats.org/officeDocument/2006/relationships/slide" Target="/ppt/slides/slide29.xml" Id="R332a2e7ae0bf4027" /><Relationship Type="http://schemas.openxmlformats.org/officeDocument/2006/relationships/slide" Target="/ppt/slides/slide30.xml" Id="R1c69dc516e754809" /><Relationship Type="http://schemas.openxmlformats.org/officeDocument/2006/relationships/slide" Target="/ppt/slides/slide31.xml" Id="R4818a6c163a84773" /><Relationship Type="http://schemas.openxmlformats.org/officeDocument/2006/relationships/slide" Target="/ppt/slides/slide32.xml" Id="R694517ebe33b4045" /><Relationship Type="http://schemas.openxmlformats.org/officeDocument/2006/relationships/slide" Target="/ppt/slides/slide33.xml" Id="Rdefbfae0cc1a4ef2" /><Relationship Type="http://schemas.openxmlformats.org/officeDocument/2006/relationships/slide" Target="/ppt/slides/slide34.xml" Id="R6099413b2a28415b" /><Relationship Type="http://schemas.openxmlformats.org/officeDocument/2006/relationships/slide" Target="/ppt/slides/slide35.xml" Id="R9f85b51beeaa479d" /><Relationship Type="http://schemas.openxmlformats.org/officeDocument/2006/relationships/slide" Target="/ppt/slides/slide36.xml" Id="R2b0a4397a5e04ee2" /><Relationship Type="http://schemas.openxmlformats.org/officeDocument/2006/relationships/slide" Target="/ppt/slides/slide37.xml" Id="Rcb78dc335a87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b4e0ca948a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2d9c5e5f364c7f" /><Relationship Type="http://schemas.openxmlformats.org/officeDocument/2006/relationships/notesMaster" Target="/ppt/notesMasters/notesMaster1.xml" Id="R896cedbb79d3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cda2c73336493f" /><Relationship Type="http://schemas.openxmlformats.org/officeDocument/2006/relationships/notesMaster" Target="/ppt/notesMasters/notesMaster1.xml" Id="Rdf847edc8c14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99fcdd891148b7" /><Relationship Type="http://schemas.openxmlformats.org/officeDocument/2006/relationships/notesMaster" Target="/ppt/notesMasters/notesMaster1.xml" Id="R11e71ec1df304e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2e9942ad2742ce" /><Relationship Type="http://schemas.openxmlformats.org/officeDocument/2006/relationships/notesMaster" Target="/ppt/notesMasters/notesMaster1.xml" Id="R400727af540b4b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173ef2d00b4594" /><Relationship Type="http://schemas.openxmlformats.org/officeDocument/2006/relationships/notesMaster" Target="/ppt/notesMasters/notesMaster1.xml" Id="Rb35664b026374f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d9ef94ed34772" /><Relationship Type="http://schemas.openxmlformats.org/officeDocument/2006/relationships/notesMaster" Target="/ppt/notesMasters/notesMaster1.xml" Id="R65b92c8f3f8844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ae5b1c8d524d4e" /><Relationship Type="http://schemas.openxmlformats.org/officeDocument/2006/relationships/notesMaster" Target="/ppt/notesMasters/notesMaster1.xml" Id="R44d0fa21f71f4f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5908d00366461e" /><Relationship Type="http://schemas.openxmlformats.org/officeDocument/2006/relationships/notesMaster" Target="/ppt/notesMasters/notesMaster1.xml" Id="R5ce538885e594a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02586934c3494a" /><Relationship Type="http://schemas.openxmlformats.org/officeDocument/2006/relationships/notesMaster" Target="/ppt/notesMasters/notesMaster1.xml" Id="R05c91de4cf9a40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1f11496a45449e" /><Relationship Type="http://schemas.openxmlformats.org/officeDocument/2006/relationships/notesMaster" Target="/ppt/notesMasters/notesMaster1.xml" Id="Re92ab3c96db849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b942b4738a45d5" /><Relationship Type="http://schemas.openxmlformats.org/officeDocument/2006/relationships/notesMaster" Target="/ppt/notesMasters/notesMaster1.xml" Id="R93324ce48bf741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aac4823a5f42d8" /><Relationship Type="http://schemas.openxmlformats.org/officeDocument/2006/relationships/notesMaster" Target="/ppt/notesMasters/notesMaster1.xml" Id="Rad537bc52da549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4efe9a5524438" /><Relationship Type="http://schemas.openxmlformats.org/officeDocument/2006/relationships/notesMaster" Target="/ppt/notesMasters/notesMaster1.xml" Id="R4de66141d4e049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5f5dd459bb401e" /><Relationship Type="http://schemas.openxmlformats.org/officeDocument/2006/relationships/notesMaster" Target="/ppt/notesMasters/notesMaster1.xml" Id="Rc29eb234cb7c4c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53b6c75bdf427d" /><Relationship Type="http://schemas.openxmlformats.org/officeDocument/2006/relationships/notesMaster" Target="/ppt/notesMasters/notesMaster1.xml" Id="R4b8e988bfc0b4c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c90ab79dd3445b" /><Relationship Type="http://schemas.openxmlformats.org/officeDocument/2006/relationships/notesMaster" Target="/ppt/notesMasters/notesMaster1.xml" Id="Rf5e6b318a46d43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ab321d41cc47f6" /><Relationship Type="http://schemas.openxmlformats.org/officeDocument/2006/relationships/notesMaster" Target="/ppt/notesMasters/notesMaster1.xml" Id="R4478210ac66348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05b198a78d4786" /><Relationship Type="http://schemas.openxmlformats.org/officeDocument/2006/relationships/notesMaster" Target="/ppt/notesMasters/notesMaster1.xml" Id="R06a1cc5924e640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59cf5aea87477e" /><Relationship Type="http://schemas.openxmlformats.org/officeDocument/2006/relationships/notesMaster" Target="/ppt/notesMasters/notesMaster1.xml" Id="R484b0df4e95f47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856e1c0d30496e" /><Relationship Type="http://schemas.openxmlformats.org/officeDocument/2006/relationships/notesMaster" Target="/ppt/notesMasters/notesMaster1.xml" Id="Rf5d27ba994ba42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fd8af2d3954292" /><Relationship Type="http://schemas.openxmlformats.org/officeDocument/2006/relationships/notesMaster" Target="/ppt/notesMasters/notesMaster1.xml" Id="R3d594f583a0a42a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97333cc8cc4715" /><Relationship Type="http://schemas.openxmlformats.org/officeDocument/2006/relationships/notesMaster" Target="/ppt/notesMasters/notesMaster1.xml" Id="Rfb571cb4ad9f42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90b6890c654bff" /><Relationship Type="http://schemas.openxmlformats.org/officeDocument/2006/relationships/notesMaster" Target="/ppt/notesMasters/notesMaster1.xml" Id="R3d0fb3ad65694d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1ce504ca5845d3" /><Relationship Type="http://schemas.openxmlformats.org/officeDocument/2006/relationships/notesMaster" Target="/ppt/notesMasters/notesMaster1.xml" Id="R23764672fa654d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2a98e2759f147a9" /><Relationship Type="http://schemas.openxmlformats.org/officeDocument/2006/relationships/notesMaster" Target="/ppt/notesMasters/notesMaster1.xml" Id="R31423f985dab4e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42c8e2321e4311" /><Relationship Type="http://schemas.openxmlformats.org/officeDocument/2006/relationships/notesMaster" Target="/ppt/notesMasters/notesMaster1.xml" Id="R6be14208c18b47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2676ab7b204e3b" /><Relationship Type="http://schemas.openxmlformats.org/officeDocument/2006/relationships/notesMaster" Target="/ppt/notesMasters/notesMaster1.xml" Id="R07516f4e7e9c45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24d2470a838401b" /><Relationship Type="http://schemas.openxmlformats.org/officeDocument/2006/relationships/notesMaster" Target="/ppt/notesMasters/notesMaster1.xml" Id="Rb0cf036327cc49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0d3b568663c4de8" /><Relationship Type="http://schemas.openxmlformats.org/officeDocument/2006/relationships/notesMaster" Target="/ppt/notesMasters/notesMaster1.xml" Id="Ra5a095ec0b3147f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2a843614e44f4d" /><Relationship Type="http://schemas.openxmlformats.org/officeDocument/2006/relationships/notesMaster" Target="/ppt/notesMasters/notesMaster1.xml" Id="R73e13ca490bf433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d3112d4e2d4925" /><Relationship Type="http://schemas.openxmlformats.org/officeDocument/2006/relationships/notesMaster" Target="/ppt/notesMasters/notesMaster1.xml" Id="R397ee75ec0fa4d7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28c4b59a504f09" /><Relationship Type="http://schemas.openxmlformats.org/officeDocument/2006/relationships/notesMaster" Target="/ppt/notesMasters/notesMaster1.xml" Id="R2260e31481e94a8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c4acf2cf0e44e32" /><Relationship Type="http://schemas.openxmlformats.org/officeDocument/2006/relationships/notesMaster" Target="/ppt/notesMasters/notesMaster1.xml" Id="Rd57913003be0448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956bfa5e5447ff" /><Relationship Type="http://schemas.openxmlformats.org/officeDocument/2006/relationships/notesMaster" Target="/ppt/notesMasters/notesMaster1.xml" Id="R935d1063f1384ff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5cb5a27573415c" /><Relationship Type="http://schemas.openxmlformats.org/officeDocument/2006/relationships/notesMaster" Target="/ppt/notesMasters/notesMaster1.xml" Id="R92888e4bf3364b5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4fd278e57c4471" /><Relationship Type="http://schemas.openxmlformats.org/officeDocument/2006/relationships/notesMaster" Target="/ppt/notesMasters/notesMaster1.xml" Id="R97834f271fdc48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36ba6647b344c27" /><Relationship Type="http://schemas.openxmlformats.org/officeDocument/2006/relationships/notesMaster" Target="/ppt/notesMasters/notesMaster1.xml" Id="R18f47efdcf78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1608be46d43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d0e478452e4938" /><Relationship Type="http://schemas.openxmlformats.org/officeDocument/2006/relationships/slideLayout" Target="/ppt/slideLayouts/slideLayout1.xml" Id="Rba10098246f7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0098246f7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0f847f659423c" /><Relationship Type="http://schemas.openxmlformats.org/officeDocument/2006/relationships/notesSlide" Target="/ppt/notesSlides/notesSlide1.xml" Id="R371264adff9f4b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a1b635a147ad" /><Relationship Type="http://schemas.openxmlformats.org/officeDocument/2006/relationships/notesSlide" Target="/ppt/notesSlides/notesSlide2.xml" Id="R459e3803739c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863ad203a4aa8" /><Relationship Type="http://schemas.openxmlformats.org/officeDocument/2006/relationships/notesSlide" Target="/ppt/notesSlides/notesSlide3.xml" Id="Rce4c31c4eade4f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0ce9496ca4e6c" /><Relationship Type="http://schemas.openxmlformats.org/officeDocument/2006/relationships/notesSlide" Target="/ppt/notesSlides/notesSlide4.xml" Id="R34f3b3628e1d48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54941b9d74039" /><Relationship Type="http://schemas.openxmlformats.org/officeDocument/2006/relationships/notesSlide" Target="/ppt/notesSlides/notesSlide5.xml" Id="Reeff0088a21a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0d99bcad945be" /><Relationship Type="http://schemas.openxmlformats.org/officeDocument/2006/relationships/notesSlide" Target="/ppt/notesSlides/notesSlide6.xml" Id="Rcaa0ff8e9b8f4a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50dccb68f4125" /><Relationship Type="http://schemas.openxmlformats.org/officeDocument/2006/relationships/notesSlide" Target="/ppt/notesSlides/notesSlide7.xml" Id="R8f93eb1792ff46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5fec61d0a46e0" /><Relationship Type="http://schemas.openxmlformats.org/officeDocument/2006/relationships/notesSlide" Target="/ppt/notesSlides/notesSlide8.xml" Id="Rc7038f1858ee46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c07c135d44de9" /><Relationship Type="http://schemas.openxmlformats.org/officeDocument/2006/relationships/notesSlide" Target="/ppt/notesSlides/notesSlide9.xml" Id="Rba287cd4e013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80ff8f0254046" /><Relationship Type="http://schemas.openxmlformats.org/officeDocument/2006/relationships/notesSlide" Target="/ppt/notesSlides/notesSlide10.xml" Id="Rcd1b2ce572194d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0c25822504e6d" /><Relationship Type="http://schemas.openxmlformats.org/officeDocument/2006/relationships/notesSlide" Target="/ppt/notesSlides/notesSlide11.xml" Id="R9f84c78884f344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51d4735ce4dbc" /><Relationship Type="http://schemas.openxmlformats.org/officeDocument/2006/relationships/notesSlide" Target="/ppt/notesSlides/notesSlide12.xml" Id="R9ff8fe889a264b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064544154c6f" /><Relationship Type="http://schemas.openxmlformats.org/officeDocument/2006/relationships/notesSlide" Target="/ppt/notesSlides/notesSlide13.xml" Id="R00c1ff2c8035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8132a48664d5f" /><Relationship Type="http://schemas.openxmlformats.org/officeDocument/2006/relationships/notesSlide" Target="/ppt/notesSlides/notesSlide14.xml" Id="R7a2acea7629647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a3228b48749fa" /><Relationship Type="http://schemas.openxmlformats.org/officeDocument/2006/relationships/notesSlide" Target="/ppt/notesSlides/notesSlide15.xml" Id="Rd400db88e65c4e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b06ed1d724e1c" /><Relationship Type="http://schemas.openxmlformats.org/officeDocument/2006/relationships/notesSlide" Target="/ppt/notesSlides/notesSlide16.xml" Id="R5a0d562197a542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4f342f9b64b30" /><Relationship Type="http://schemas.openxmlformats.org/officeDocument/2006/relationships/notesSlide" Target="/ppt/notesSlides/notesSlide17.xml" Id="R72882a4badca4c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3a41e20d34dbc" /><Relationship Type="http://schemas.openxmlformats.org/officeDocument/2006/relationships/notesSlide" Target="/ppt/notesSlides/notesSlide18.xml" Id="R88a12876a7f84c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dcd8b4ed74b09" /><Relationship Type="http://schemas.openxmlformats.org/officeDocument/2006/relationships/notesSlide" Target="/ppt/notesSlides/notesSlide19.xml" Id="R135daab1045c46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1387f2df043ee" /><Relationship Type="http://schemas.openxmlformats.org/officeDocument/2006/relationships/notesSlide" Target="/ppt/notesSlides/notesSlide20.xml" Id="R013a673d029143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6080035f040fa" /><Relationship Type="http://schemas.openxmlformats.org/officeDocument/2006/relationships/notesSlide" Target="/ppt/notesSlides/notesSlide21.xml" Id="Re494a1f3d50b4b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8224e3014710" /><Relationship Type="http://schemas.openxmlformats.org/officeDocument/2006/relationships/notesSlide" Target="/ppt/notesSlides/notesSlide22.xml" Id="R9c1c3257965641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95eb7bee74fef" /><Relationship Type="http://schemas.openxmlformats.org/officeDocument/2006/relationships/notesSlide" Target="/ppt/notesSlides/notesSlide23.xml" Id="Raf0cc14c284b47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ad4de0b3c49eb" /><Relationship Type="http://schemas.openxmlformats.org/officeDocument/2006/relationships/notesSlide" Target="/ppt/notesSlides/notesSlide24.xml" Id="Rdbebf9233f76403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f10c672074c22" /><Relationship Type="http://schemas.openxmlformats.org/officeDocument/2006/relationships/notesSlide" Target="/ppt/notesSlides/notesSlide25.xml" Id="R4a62028d072840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a79f28892470b" /><Relationship Type="http://schemas.openxmlformats.org/officeDocument/2006/relationships/notesSlide" Target="/ppt/notesSlides/notesSlide26.xml" Id="R1a752ed95bb24c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86155b90f4563" /><Relationship Type="http://schemas.openxmlformats.org/officeDocument/2006/relationships/notesSlide" Target="/ppt/notesSlides/notesSlide27.xml" Id="R1c3ca823ed9a42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2307d62fc44f0" /><Relationship Type="http://schemas.openxmlformats.org/officeDocument/2006/relationships/notesSlide" Target="/ppt/notesSlides/notesSlide28.xml" Id="Rd5a079b9eafc46f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22c92b799489f" /><Relationship Type="http://schemas.openxmlformats.org/officeDocument/2006/relationships/notesSlide" Target="/ppt/notesSlides/notesSlide29.xml" Id="R3e0204b4feb145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e2c0507c64a58" /><Relationship Type="http://schemas.openxmlformats.org/officeDocument/2006/relationships/notesSlide" Target="/ppt/notesSlides/notesSlide30.xml" Id="Rbd46449672de48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9b1ca024d4820" /><Relationship Type="http://schemas.openxmlformats.org/officeDocument/2006/relationships/notesSlide" Target="/ppt/notesSlides/notesSlide31.xml" Id="R34642e54aa6e49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51b20b8d14bd1" /><Relationship Type="http://schemas.openxmlformats.org/officeDocument/2006/relationships/notesSlide" Target="/ppt/notesSlides/notesSlide32.xml" Id="Rb081936c0cc6450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8e38802984f45" /><Relationship Type="http://schemas.openxmlformats.org/officeDocument/2006/relationships/notesSlide" Target="/ppt/notesSlides/notesSlide33.xml" Id="R1c932a745f864d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6c696c7354dce" /><Relationship Type="http://schemas.openxmlformats.org/officeDocument/2006/relationships/notesSlide" Target="/ppt/notesSlides/notesSlide34.xml" Id="R4a18f377eecd469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e9bb190f445f4" /><Relationship Type="http://schemas.openxmlformats.org/officeDocument/2006/relationships/notesSlide" Target="/ppt/notesSlides/notesSlide35.xml" Id="Racec4606bcd74df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389d69ed4473b" /><Relationship Type="http://schemas.openxmlformats.org/officeDocument/2006/relationships/notesSlide" Target="/ppt/notesSlides/notesSlide36.xml" Id="R4cc4915a4f3645c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a98e84e514ba6" /><Relationship Type="http://schemas.openxmlformats.org/officeDocument/2006/relationships/notesSlide" Target="/ppt/notesSlides/notesSlide37.xml" Id="R79038e96d5e5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5AF44-E371-43F2-ABE4-388E4B60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COMPASS SCENARIO DATABASE · DISSERTATION PAPER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2EC86-FEBA-4B81-944E-8AB4DADC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High renewables or engineered carbon management?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545CE-14C3-4829-BD97-EA6EFAD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8E2E7"/>
                </a:solidFill>
              </a:defRPr>
            </a:pPr>
            <a:r>
              <a:rPr sz="1650" b="0">
                <a:solidFill>
                  <a:srgbClr val="D8E2E7"/>
                </a:solidFill>
              </a:rPr>
              <a:t>Century-long wellbeing implications across global IAM pathways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65E5B-50F7-48B6-99CE-6B368DCD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2AE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0649F-B286-448D-9F9C-6216DEF5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4D5DD"/>
                </a:solidFill>
              </a:defRPr>
            </a:pPr>
            <a:r>
              <a:rPr sz="1200" b="0">
                <a:solidFill>
                  <a:srgbClr val="C4D5DD"/>
                </a:solidFill>
              </a:rPr>
              <a:t>World results first. R10 regions explain the pattern. Transparent diagnostics define the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1C9DC-7FA7-445B-B82A-1768B20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CBAC6"/>
                </a:solidFill>
              </a:defRPr>
            </a:pPr>
            <a:r>
              <a:rPr sz="825" b="0">
                <a:solidFill>
                  <a:srgbClr val="9CBAC6"/>
                </a:solidFill>
              </a:rPr>
              <a:t>Final analysis · primary classification excludes land-based CDR</a:t>
            </a:r>
          </a:p>
        </p:txBody>
      </p:sp>
    </p:spTree>
    <p:extLst>
      <p:ext uri="{BB962C8B-B14F-4D97-AF65-F5344CB8AC3E}">
        <p14:creationId xmlns:p14="http://schemas.microsoft.com/office/powerpoint/2010/main" val="1771733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9E6DE-804D-4129-9419-207DE798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THE PAPER IN ONE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A64E4-1B7C-448F-8BE7-DC18F5F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F910B-42C2-4EBB-98B5-7D94628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Three conclusions, with different evidentiary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3BEE3-8873-4A3B-BC5C-171E775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42986-D3C9-4681-9594-084EF70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6FF10-7A32-480F-872E-95BCF319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41EE8-D280-40FF-B2AD-664BD47F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35224-5879-4D45-8404-D26BB5CE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F10B4-5B2A-4EB3-9E36-DD2EA5AE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1 · 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0B7C4-597E-404B-B324-50E92E2E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High-RE is higher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8A68A-86AC-44DF-A330-831E6E6B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990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Across the full ensemble, High-RE has substantially more modeled renewable electricity job-years at both ambition levels.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55620-18CD-4105-9D1D-45C1A02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716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D4A0C-C06B-435D-8476-F55B6B01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716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1C117-03A3-4EAF-8525-8C89211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335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 · ENERGY DEPRIVATION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90D1D-7A0A-4ECB-BF17-7358C07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High-RE is generally lower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A158C-8961-45B6-838D-C9D91C6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33700"/>
            <a:ext cx="2990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The full database shows lower modeled energy gap and deprivation headcount. SCI 2°C results are heterogeneous.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88710-617C-4053-ACDE-68AF2E66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25CB1-B87E-46CB-AF30-BD6626CF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960C8-74C5-4E90-B4B1-115E8092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BE5654"/>
                </a:solidFill>
              </a:defRPr>
            </a:pPr>
            <a:r>
              <a:rPr sz="750" b="1">
                <a:solidFill>
                  <a:srgbClr val="BE5654"/>
                </a:solidFill>
              </a:rPr>
              <a:t>3 · MORTALITY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274F3-96B7-4D32-9365-828B2DEF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No universal winner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34E0B-334F-41E9-AAE1-0B96016C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2990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The reporting-complete PM2.5 diagnostic is useful, but coverage and composition prevent a headline portfolio ranking.</a:t>
            </a:r>
          </a:p>
        </p:txBody>
      </p:sp>
    </p:spTree>
    <p:extLst>
      <p:ext uri="{BB962C8B-B14F-4D97-AF65-F5344CB8AC3E}">
        <p14:creationId xmlns:p14="http://schemas.microsoft.com/office/powerpoint/2010/main" val="1199903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D40DA-490E-42A3-83A3-221878B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A0C87-F065-4CFE-82E5-C5DE5E5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1595D-48F6-491C-A8E0-2F81398A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comparison is deliberately two-part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4141-0558-4EC8-B086-B0AD87E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7AD8E-EEF4-4AC9-9D12-10FBB53C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170CD-DEB9-4A76-A1DB-8D5C7B4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F57CB-058C-4B65-8B05-003DC777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WELLBEING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FB8B6-CEAD-42BD-BF3E-74D3819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Across World and R10 regions, what differs between renewable-intensive and engineered-carbon-management-intensive pathways at the same climate ambition?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927F-2C74-4468-87F8-41E9221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DIAGNOSTIC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76562-DCFC-46AB-84E2-A9CB7D7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Are pooled contrasts carried by a particular IAM composition, regional pattern, or reporting subset?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D7988-1993-46A4-925E-09A62AF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90700"/>
            <a:ext cx="4953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846BE-3760-4F5B-9EBB-31EFA93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23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5323D"/>
                </a:solidFill>
              </a:defRPr>
            </a:pPr>
            <a:r>
              <a:rPr sz="1725" b="1">
                <a:solidFill>
                  <a:srgbClr val="25323D"/>
                </a:solidFill>
              </a:rPr>
              <a:t>Every pathway is compared within its ambition cell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E9C67-4989-4F35-9E60-07AF737A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1.5°C and 2°C are never pooled. Full-database results describe the ensemble; SCI-vetted results are reported separately. Within-model contrasts test whether composition is driving the pooled pattern.</a:t>
            </a:r>
          </a:p>
        </p:txBody>
      </p:sp>
    </p:spTree>
    <p:extLst>
      <p:ext uri="{BB962C8B-B14F-4D97-AF65-F5344CB8AC3E}">
        <p14:creationId xmlns:p14="http://schemas.microsoft.com/office/powerpoint/2010/main" val="980544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72F3F-95E7-41BA-991F-8C942241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F3371-8B81-455A-A1BE-BCEEA62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PORTFOLIO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0774C-9B49-4529-8E18-B60C360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primary contrast is RE versus engineered CMT—not “all removals”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953D9-684F-4E40-B57C-781E0FC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0A076-C373-4E69-8C51-4BE054A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6CCE-9D5C-4979-BC2D-7240714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2C14D-F5FA-4C98-9500-285BF6E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CEFEE-6FC2-4458-AA1C-672E653A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47850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E9983-BC02-409F-A9B7-B812D02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Focal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8F7DA-C80B-4476-8B3D-ACA7C464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84785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Exclusion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FD132-96DD-4325-96B3-75C6414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47850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Why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D8B82-FBDA-470E-9461-05D3D5E9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0502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High-RE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5F225-44E9-43D7-B0DD-7FEDCA4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05025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Top tercile: renewable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1E73D-F250-44E4-BB5D-E2D8986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050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Engineered CMT not top tercile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82371-D7DA-42EA-AB95-851CBF5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05025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Identifies RE-led portfolios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CF19D-1EC7-472D-8DFC-E1861BB4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1DF69-0F89-451E-B2CD-B350B48B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62200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 engineered-CMT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D8A32-50CF-4891-9B71-F5F7691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62200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Top tercile: novel CDR + fossil/industrial CCS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97C0C-C4F1-44F7-B4E1-18E5F66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622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Renewables not top tercile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7264F-AEA6-45F7-9775-7B301DB6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62200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Identifies engineered-management portfolios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6B62A-40CF-4ED5-B254-2453FAA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Land CDR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8CF6E-8469-4730-84CF-B73EB08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19375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Excluded from primary axis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670CB-5E6B-4AE8-BDF5-A3035F6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1937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Retained for “all-removals” sensitivity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AD2DF-68B9-424A-847E-8226E61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19375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Keeps the energy-system motivation distinct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1278F-9734-4BB9-94B2-27176BFD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Classification uses cumulative 2020–2100 deployment, so labels describe long-run portfolios rather than a single benchmark year.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60563-9A8D-4DAA-BF48-D3BDDFEB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684"/>
                </a:solidFill>
              </a:defRPr>
            </a:pPr>
            <a:r>
              <a:rPr sz="1125" b="0">
                <a:solidFill>
                  <a:srgbClr val="667684"/>
                </a:solidFill>
              </a:rPr>
              <a:t>Sensitivity analyses retain the strict polar rule and the total-CDR (all-removals) question; neither substitutes for the primary engineered-CMT contrast.</a:t>
            </a:r>
          </a:p>
        </p:txBody>
      </p:sp>
    </p:spTree>
    <p:extLst>
      <p:ext uri="{BB962C8B-B14F-4D97-AF65-F5344CB8AC3E}">
        <p14:creationId xmlns:p14="http://schemas.microsoft.com/office/powerpoint/2010/main" val="276634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5399B-AC0F-4CC8-91E1-F765F2B6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SAMPLE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C389D-52AB-43EE-8856-4F22E9D1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TRANSPARENCY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89A24-28B2-4C5C-9BB6-437A7F3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final full-database contrast is larger than the earlier total-CDR sample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C5515-8AE8-4F30-A382-31E325B3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4FF92-39BF-4FB1-9380-1C548F4A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E24E4-1B19-467D-A305-EE82B10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6C425-6875-4835-B568-13D9D68A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8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8B3F2-DDD5-4699-A916-873DFCFA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4785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Sample / ambition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326F7-1DDE-4054-9C1E-966265C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47850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High-RE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04FF1-FC6F-4BC4-B477-2526032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478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High engineered-CMT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328C3-B863-4AD1-960F-EE4ECC3B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47850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Comparison 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CE3F3-A619-442C-9284-C26B835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0502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Full · 1.5°C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E744F-04D7-47EA-ABD8-E69C705F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05025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7D4EB-77BB-4CF4-9959-EB3A623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050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989BD-9C33-4EE3-A0AF-5DA82C8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05025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2BC59-33F0-4351-BFF6-EB3A2E19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28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BAE78-EB5E-4C0D-9D69-AFC1F36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6220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Full · 2°C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1B535-4DA4-45A2-BF2C-3228437D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62200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D2823-B2D7-4C38-9CD1-C780D44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622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346E1-E0D9-4329-8E1A-9AF9152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62200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478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CD77A-FBC8-4554-9630-E007462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SCI · 1.5°C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D5A42-9E8F-41A3-8069-55337CDF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BA100-83D0-4E9B-A1CE-0B6FE24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193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ED52C-6B36-4655-8A5F-A304C10A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19375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DC67D-C086-4420-86BB-150401F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28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961A0-C7CA-44CA-95B9-FDC1D8A0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SCI · 2°C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87B81-BB12-4F40-8BD8-CDB3FA2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76550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C669C-9E82-4437-A1D1-1BEE823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765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7156A-C456-4429-9375-CAFAE4CF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76550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57106-586C-470F-92DD-6CF72C2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31718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A7424B-581E-40D8-B404-91FBB833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4872B"/>
                </a:solidFill>
              </a:defRPr>
            </a:pPr>
            <a:r>
              <a:rPr sz="1350" b="1">
                <a:solidFill>
                  <a:srgbClr val="C4872B"/>
                </a:solidFill>
              </a:rPr>
              <a:t>SCI 1.5°C is intentionally small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B8950-28F0-44CB-8620-9F66C9C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25323D"/>
                </a:solidFill>
              </a:defRPr>
            </a:pPr>
            <a:r>
              <a:rPr sz="1050" b="0">
                <a:solidFill>
                  <a:srgbClr val="25323D"/>
                </a:solidFill>
              </a:rPr>
              <a:t>24 candidates → 22 classifiable → 7 pathways per arm. Two candidates lack the classification metrics; eight fall outside the paired arms.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3088B-9AAE-4BE4-95A0-9C2C09D4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New engineered-CMT primary classification: 606 selected full-database pathways and 140 SCI-vetted pathways. Earlier deck: 579 and 106 under total CDR.</a:t>
            </a:r>
          </a:p>
        </p:txBody>
      </p:sp>
    </p:spTree>
    <p:extLst>
      <p:ext uri="{BB962C8B-B14F-4D97-AF65-F5344CB8AC3E}">
        <p14:creationId xmlns:p14="http://schemas.microsoft.com/office/powerpoint/2010/main" val="161213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597A-B617-4F28-99D3-8A0358A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5206-1DA9-490F-9FB0-14022DC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6816D-C355-4BCA-B6BA-61FB1F6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Scenario outputs are translated into bounded wellbeing-relevant indicators.</a:t>
            </a:r>
          </a:p>
        </p:txBody>
      </p:sp>
    </p:spTree>
    <p:extLst>
      <p:ext uri="{BB962C8B-B14F-4D97-AF65-F5344CB8AC3E}">
        <p14:creationId xmlns:p14="http://schemas.microsoft.com/office/powerpoint/2010/main" val="2047453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862A4-BBF0-4D87-9328-7736F9F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METHODOLOGY · ELECTRICITY EMPLOYMENT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0BAC4-613D-4BE6-9F4B-39425B5D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OUTCOME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5EE44-A431-4C07-8231-653CA5E2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Capacity deployment becomes gross/direct electricity job-years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6420E-89EF-4166-AECA-3C89CFC7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C08A9-38BE-4507-8E4F-D7B42BF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29EBA-CAFF-4879-97B8-35C80AE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17639-1C69-4D4C-B3AF-4531E46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AC55B-89C2-43B3-BCF2-4215A9E6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B5E1B-540E-4673-B7C8-E488098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66900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Input /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3A347-3E79-4C03-A5F1-4156FDA1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66900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9F85B-CF67-4BC8-85FB-3AB4D48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240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IAM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48B3C-F21C-4227-81C7-7C7F8801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24075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R10 technology-specific capacity additions and operating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0C634-5BEE-412F-AA21-1C2BE4E7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24075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The deployment pathway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3E452-B1FD-46D5-B313-26913DA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2D17C-D11E-415F-BA28-FF25B161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Post-processing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432A0-7B23-44C5-B0E4-ADCB58F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Published manufacturing, construction, installation, and O&amp;M employment factors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539A8-97F3-4097-A040-23CDB080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Job-years by technology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596D4-F1CF-4ED2-9B59-635FDC0D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9BF25-6738-4001-858E-89740EA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38425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Renewable electricity job-years per 1,000 people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2A7D8-EFA6-45EE-87FE-20970D3C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38425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Not net economy-wide employment or job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87C02-FDED-4998-BA8B-7F0A4A3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Mechanism: wind and solar generally require more distributed manufacturing, construction, installation, and operations activity per unit of capacity.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2CA6B-1DCF-49B9-B159-0A71C1E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MECHANICAL WHY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2EF29-1CB6-4E40-9DDA-A3F3C64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High-RE portfolios build more RE capacity; CMT investment shifts more system effort to removal, capture, storage, and fuel supply.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D896C-2EDF-464D-93CB-7927DEC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05325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POLICY WHY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98F275-D7A2-4E6B-B4CE-157AE5A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7202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Domestic content, workforce programs, grid build-out, and trade determine whether modeled activity becomes local employment.</a:t>
            </a:r>
          </a:p>
        </p:txBody>
      </p:sp>
    </p:spTree>
    <p:extLst>
      <p:ext uri="{BB962C8B-B14F-4D97-AF65-F5344CB8AC3E}">
        <p14:creationId xmlns:p14="http://schemas.microsoft.com/office/powerpoint/2010/main" val="872235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B28FE-14B0-48E1-BBE6-C7E65D5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METHODOLOGY · ENERGY DEPRIVATION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3AC91-B0B0-4CF4-AAC2-D059CB9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OUTCOMES 2–3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8B8AC-2A8B-4E1F-A84B-04A9699F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Final energy availability becomes two modeled decent-living indicators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87BE1-8A6E-4634-94EA-ECD8D6DD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8DF75-342B-42BC-9052-AFB0CC2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5547C-C52B-42F0-8EDD-35B73B9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E5423-6989-4E78-A4BC-1DA94DD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26733-2477-48A8-A118-F374BE9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28800"/>
            <a:ext cx="2124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Indicator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0F01F-5D0C-4859-A284-E7E0AA6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3267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IAM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B50F-C86F-41F8-9FE8-CE188601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28800"/>
            <a:ext cx="508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Post-processing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EB16F-C189-4D62-8527-8C1925F8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85975"/>
            <a:ext cx="2124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Energy gap (GJ/cap)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CD437-FDF7-4ADB-ACCA-2FFF984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85975"/>
            <a:ext cx="3267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Regional final energy and population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54FB7-799F-4433-8BA4-C737777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85975"/>
            <a:ext cx="508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Energy needed to lift people below a regional decent-living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09610-EF7A-4919-8F86-756008C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EB88B-7960-4B65-A6FB-231A5A2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2124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Headcount (%)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679C-0CD1-44DC-8A55-55108D6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3267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Regional final energy per person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73C13-AA59-4CD8-AB66-DBEB262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43150"/>
            <a:ext cx="508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Threshold + lognormal within-region distribution + inequality parameter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828AF-99BF-4153-A84D-529E7BD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E5654"/>
                </a:solidFill>
              </a:defRPr>
            </a:pPr>
            <a:r>
              <a:rPr sz="1200" b="1">
                <a:solidFill>
                  <a:srgbClr val="BE5654"/>
                </a:solidFill>
              </a:rPr>
              <a:t>These are distributional final-energy-deprivation proxies—not observed household access, consumption surveys, or income poverty.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7EBF1-31D9-4919-9F5E-C07DB0C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MECHANICAL WHY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ABCDA-2D65-4647-B5C6-866A16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RE-intensive pathways often co-occur with electrification and higher final-energy availability relative to the threshold.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834A7-0BB2-495E-8D6B-D0F012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00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POLICY 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D6A0D-CEF7-4A27-B924-82197756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67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Grid access, affordability, reliability, appliances, and tariff design decide whether supply reaches people.</a:t>
            </a:r>
          </a:p>
        </p:txBody>
      </p:sp>
    </p:spTree>
    <p:extLst>
      <p:ext uri="{BB962C8B-B14F-4D97-AF65-F5344CB8AC3E}">
        <p14:creationId xmlns:p14="http://schemas.microsoft.com/office/powerpoint/2010/main" val="78276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F790F-97D7-4CE4-83EB-1888742D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METHODOLOGY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CA0C3-6A23-41CF-B161-4EB3D115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OUTCOME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BAD1A-90D9-4FD8-A602-905C278D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PM2.5 mortality is a reporting-complete, coverage-qualified 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9E36B-FA78-45BF-9D37-18E32DF4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DC972-07CD-4C79-A9C4-1DC885A2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3D992-6ED1-404A-8FA6-1C41379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DDD5C-AC3A-4C74-8CDC-F8AAC8B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066D-A63D-4FAE-8A22-99958B8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28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17A63-6708-4367-9DC9-A5EEF7A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28800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CF2EB-C484-4F67-B5D9-6318F45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28800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13766-21A6-4426-A0E2-308C67AE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859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Emission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7EDBB-5A92-4B3D-BF4F-22D13616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85975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Direct R10 SO₂, NOₓ, BC, OM, NH₃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4C9CE-DED5-4D4A-BF8F-E4FDEE04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85975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No World-to-R10 allocation; no external NH₃ sidecar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48413-1E79-4BCC-B040-46796957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1CEED-5B33-4A7A-A994-4F9F551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Air-quality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48419-154D-4B89-9F7D-C526F1A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43150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TM5-FASST → PM2.5 exposure → FUSION mortality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73C6D-09DA-43EF-A687-E52CBBC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43150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Consistent, fast scenario post-processing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BEA96-A177-42FE-B8E5-16EEBF92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Coverage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B783C-2FB4-469E-9080-C4CBA5E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00325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Only complete precursor records enter final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CCF43-3032-40DB-9983-D265DC5B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00325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Reject rather than fill structurally missing pathways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6CB0C-5058-4920-8FD7-7D005B8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820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BB6E8-2CCA-481A-B903-16D8D79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422 valid PM2.5 outputs from 643 classified targets; 150 incomplete records rejected. Short interior interpolation was permitted, but no values were interpolated.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678B1-D1CB-4E61-8198-9CA0B60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E5654"/>
                </a:solidFill>
              </a:defRPr>
            </a:pPr>
            <a:r>
              <a:rPr sz="1125" b="1">
                <a:solidFill>
                  <a:srgbClr val="BE5654"/>
                </a:solidFill>
              </a:rPr>
              <a:t>Interpretation: PM2.5-attributable mortality only, not total air-pollution mortality—and not a universal High-RE vs High-CMT rank.</a:t>
            </a:r>
          </a:p>
        </p:txBody>
      </p:sp>
    </p:spTree>
    <p:extLst>
      <p:ext uri="{BB962C8B-B14F-4D97-AF65-F5344CB8AC3E}">
        <p14:creationId xmlns:p14="http://schemas.microsoft.com/office/powerpoint/2010/main" val="1914817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856E8-5C76-45B5-879D-D580710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METHODS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8DA68-7ABF-4F62-B07F-15FC1489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36822-CE50-4670-ABC6-390F7AE3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path from scenario portfolio to wellbeing outcome is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8A5FE-5534-445A-BAAC-A7BAEE5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F9B1-A53D-4730-8E56-800D733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EAC02-3F4C-4623-84A3-A579E0F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B0EA7-9D07-4F23-B1AF-3218F3C8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Technology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C9213-B9AE-4CD8-825C-8EB267E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6F7C3-0C82-49AB-B0BE-E9AE159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IAM pathway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120D1-1FB9-436B-85E7-45A9FAC0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66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Physical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211BD-46DF-4967-A274-AFD6D79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90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C83A-CFA6-4FE6-9EBA-944A82BF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R10 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7F11B-261A-4417-A9B4-C57D0111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98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692D1-0B34-414F-BE37-D7634D2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669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Post-processing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446B9-D468-47F7-A1AE-5FD890AF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E64CE-DA55-4E58-A977-5033982E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Outcome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B5C6D-6ED9-46D8-87E5-EC5DBCB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98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1EBDA-C4C6-4A23-8898-5E972295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66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80445-FA96-4860-8A57-8ABE5B1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80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496A3-97C0-4BCE-BC4B-54331AB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Wellbeing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68DDB-0DEA-47B0-8546-6F6FC53F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FA29B-9621-4CFD-91F2-6434D87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JOBS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0DB7C-CD11-4301-9EA0-C2C308A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Capacity × employment factors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CE753-EB2D-4F13-BF28-05EBC52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ENERGY DEPRIVATION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CA1C-D8EB-4572-A3A5-BF921FC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243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Final energy × threshold +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8EEDE-4015-4A01-9E08-E38045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MORTALITY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59718-B402-4310-80C9-24586E8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243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Precursors × TM5-FASST × FUSION</a:t>
            </a:r>
          </a:p>
        </p:txBody>
      </p:sp>
    </p:spTree>
    <p:extLst>
      <p:ext uri="{BB962C8B-B14F-4D97-AF65-F5344CB8AC3E}">
        <p14:creationId xmlns:p14="http://schemas.microsoft.com/office/powerpoint/2010/main" val="1078878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CDAA3-4DC5-4FF3-8261-4496465B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02CFE-6B3A-445F-9703-1271DFC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269A-3800-4564-8752-65B20C9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World results provide the takeaway. R10 results show why it appears.</a:t>
            </a:r>
          </a:p>
        </p:txBody>
      </p:sp>
    </p:spTree>
    <p:extLst>
      <p:ext uri="{BB962C8B-B14F-4D97-AF65-F5344CB8AC3E}">
        <p14:creationId xmlns:p14="http://schemas.microsoft.com/office/powerpoint/2010/main" val="1311715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F7ECE3-9F87-4BFB-92AD-D2DB7EAF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C97E8-303F-4C32-9FC4-F7C20DC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PRIMARY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720B5-969D-4FC0-B99C-32FD0D2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Full database: High-RE is higher on jobs and lower on modeled energy deprivation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9990E-E27B-4076-9A62-07A2A80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EF2BD-A88F-4885-AC36-C78ED6F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09FFB-B967-427D-B34A-29DF722D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E06DC-CB70-4DCB-8E1D-0822836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0C523-2C7A-4D0F-810F-80CDDAE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Outcome (High-RE − High engineered-CMT)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2EB9E-05A8-43C9-8155-FA647B5B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1.5°C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26E88-E1B7-4208-97A2-B6566223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0CF12-5E20-47F8-9FC2-9C52103A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1927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3FBC6-4D05-4078-BBD9-4923E07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 job-years per 1,000 people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8E6A3-08AB-4E96-BE24-7467C10F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+396  (687 vs 291)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0297F-AB6D-4CE0-9567-94B8DFC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+288  (461 vs 173)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CD48A-E2CF-4A38-80BE-826EEB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7645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High-RE higher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7AB77-3AF4-4A66-A5BC-E44DBBE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18DEE-04D7-4727-86B2-D8D4FE19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Energy gap, GJ/cap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3926F-EC49-4FAE-B277-DFE2E4F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−5.7  (13.0 vs 18.7)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B96BE-F10A-4676-88B1-87F15A2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−4.5  (11.1 vs 15.5)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6D154-E89F-40DA-8649-3BD34F7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High-RE lower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17118-C705-43C6-8458-1934E6B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9080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Deprivation headcount, 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A8515-4B14-4B3A-B746-095E523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−2.25  (4.61 vs 6.86)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D6C6E-3B0C-4639-9C2F-862F755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−1.77  (4.02 vs 5.80)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82944-8E02-4381-852C-02651B0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9080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High-RE lower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7AFC55-85A1-40A9-B887-5CBDED4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The two ambitions differ in scale—not in the full-database direction for the three non-mortality outcomes.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2BFE3-4D18-4E90-8441-295BE238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1.5°C jobs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4A6DB-8294-48D3-BA2F-CEFB8EE4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324350"/>
            <a:ext cx="25280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F0E39-5C82-435B-8DA8-A48498B1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81" y="4286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+396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CCD76-2922-4688-B06A-B1425BF2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2°C jobs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70B67-BDF7-426A-88F1-BA4ED1FF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772025"/>
            <a:ext cx="18385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19CC8-CCAF-425F-8D2F-011942C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224" y="47339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+288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E4095-2F68-4E4F-8923-0A79001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1.5°C energy gap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8A6A5B-226C-4382-87CB-96436A8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4324350"/>
            <a:ext cx="272910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D8D1F-8E68-4E5D-A55C-13AA92BC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023" y="4286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−5.7 GJ/cap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DB9D96-E76C-4881-BAE9-695A63EB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33925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2°C energy gap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63FBA2-A8E2-4D4C-AAC9-D0AE1D23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4772025"/>
            <a:ext cx="215455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904275-9D69-4080-B25B-728F4712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7339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−4.5 GJ/cap</a:t>
            </a:r>
          </a:p>
        </p:txBody>
      </p:sp>
    </p:spTree>
    <p:extLst>
      <p:ext uri="{BB962C8B-B14F-4D97-AF65-F5344CB8AC3E}">
        <p14:creationId xmlns:p14="http://schemas.microsoft.com/office/powerpoint/2010/main" val="16112544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CC920-9AFC-44B1-8AF1-A862446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FB1D7-BB34-40DE-9AED-C6BCFDF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SCI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A7DC4-A5C2-4F1E-A6C6-2035A450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SCI-vetted evidence confirms the jobs contrast; 2°C deprivation is not uniform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CA1C9-9CAD-40FD-B1EA-5FA9412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4E860-6CDE-4904-937C-90B0698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8D213-B777-4533-A7BA-E16552A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45C2A-1718-4AB1-AF74-CDD2E6FB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8ACEF-B33B-4B5C-86A5-2E8CDE0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Outcome (High-RE − High engineered-CMT)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A0DDF-D108-4B16-9473-0AB27435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SCI 1.5°C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05E22-9B10-447E-AAE5-BEB40C54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SCI 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2C327-1D76-45A2-B0E3-57C54B9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1927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44233-C4E0-4053-B0C6-7E633512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 job-years per 1,000 people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472CD-BA8D-47CB-82E9-709087A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+262  (526 vs 264)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C5BD7-CEFE-4E18-9F5A-69A4E47E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+111  (293 vs 182)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08B3B-8627-43DE-B2B7-DDB65C2B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7645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Jobs remain higher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DEE46-B291-4952-A08D-A0199696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97D11-CB6B-4D6A-8624-CCA520EC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Energy gap, GJ/cap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06A1B-3E12-46B5-9A9D-6A3F8D5B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−2.4  (18.4 vs 20.8)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A8CB2-A871-4D9E-973F-2F4D75C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+1.5  (20.5 vs 19.0)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420AC-9A14-4014-B5D1-71BDF33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2°C reverses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EE21F-1A05-4A59-A711-D8BAD2B8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9080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Deprivation headcount, 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DC3A5-656B-4B6C-94D3-2BE8ECC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−0.99  (6.86 vs 7.85)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06EF3-678F-4BC9-8EC1-B911283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+0.73  (7.60 vs 6.87)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F53B4-E122-4111-AA14-8A81D08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9080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2°C reverses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744C0-5F79-44EE-A9CD-B11CD45F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60524-25AD-46C7-A246-65CAC4B0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The SCI sample is a different evidence set—not a “cleaner” version of the full ensemble. Report the divergence rather than averaging it away.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A10A4-408B-4D41-BDF3-CE775D9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SCI sample sizes: 7 vs 7 at 1.5°C; 63 vs 63 at 2°C.</a:t>
            </a:r>
          </a:p>
        </p:txBody>
      </p:sp>
    </p:spTree>
    <p:extLst>
      <p:ext uri="{BB962C8B-B14F-4D97-AF65-F5344CB8AC3E}">
        <p14:creationId xmlns:p14="http://schemas.microsoft.com/office/powerpoint/2010/main" val="14843903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7B60F-5A6E-4F0A-B7B9-C1CFC5D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EE164-685D-41C8-9695-E6067B47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B433F-BEC6-4D92-818F-32AE90D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reporting-complete PM2.5 diagnostic has no stable pooled portfolio winner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D089C-16E1-4448-9A5B-C767353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CCB7F-0853-4AC0-AF37-23649AA2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6A85-9AB9-4570-872E-A79EE55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7E281-7299-4422-812A-92D55B2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EAAAC-B1D8-4B9B-8E63-CE41DB0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1790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1AB6B-C967-4654-8A01-E423B93E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1927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1.5°C: RE − CMT, million deaths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53EB0-CB19-462B-A844-3784C29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81927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2°C: RE − CMT, million deaths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C1985-A827-4246-B3BD-19839389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19275"/>
            <a:ext cx="2895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0F999-DE0C-422F-A2D0-C09D396A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1790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Full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C5A29-0CF7-4112-918B-8A73315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076450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−8.69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7987A-42C1-4EDB-B978-0A79CEF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76450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+3.03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5777D-86EE-4754-8D65-29AB70A8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76450"/>
            <a:ext cx="2895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Pooled direction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6B0B8-CFCE-4EA5-B397-A376088F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CCFB7-AA43-42D0-8B44-DDE6854A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1790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SCI-vetted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C7665-7EAF-4F10-AF57-A68C9C06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3362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−50.42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9BA0E-58D1-46FE-A25B-EB41917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3362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+22.45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FE60C-9275-4DF8-94C8-6967DE3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33625"/>
            <a:ext cx="2895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Pooled direction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AF57B-5B02-4540-BCFF-93AA55F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WHAT IS STABLE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62A3A-3D1E-4CBE-9601-D63127A8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At 2°C, matched within-model full-database comparisons all point toward lower High-RE mortality, but only three models qualify.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DFF83-40D8-44AA-8D65-FD7EC96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E5654"/>
                </a:solidFill>
              </a:defRPr>
            </a:pPr>
            <a:r>
              <a:rPr sz="825" b="1">
                <a:solidFill>
                  <a:srgbClr val="BE5654"/>
                </a:solidFill>
              </a:rPr>
              <a:t>WHAT IS NOT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01A08-44BE-41D8-AF50-8D252FA0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04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Coverage differs by arm and model family; pooled medians change with sample composition. The paper should not rank portfolios on mortality.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CB406-8489-4FCA-9FA9-22F96BE7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Coverage is reported with every mortality result: e.g., full 1.5°C 42/64 CMT vs 37/64 RE; full 2°C 138/239 vs 168/239.</a:t>
            </a:r>
          </a:p>
        </p:txBody>
      </p:sp>
    </p:spTree>
    <p:extLst>
      <p:ext uri="{BB962C8B-B14F-4D97-AF65-F5344CB8AC3E}">
        <p14:creationId xmlns:p14="http://schemas.microsoft.com/office/powerpoint/2010/main" val="13676295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83973-7338-4EB2-B335-4352A0E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CD5B7-C89A-4AB8-82C6-B9AB55D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F360-C987-46EA-B34B-0E6B4CB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mortality caveat is a result about evidence quality—not a weakness to hide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3CADB-278E-4BEF-943D-CF0371B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82F78-D40C-4FE0-AF0C-F5C868D0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B380A-D762-45C5-829D-010417E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CE21D-FF24-4E96-A55F-6070D34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95329-8245-490E-8E12-B893A73C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C5F4E-1167-431B-9610-EF0D341F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BE5654"/>
                </a:solidFill>
              </a:defRPr>
            </a:pPr>
            <a:r>
              <a:rPr sz="750" b="1">
                <a:solidFill>
                  <a:srgbClr val="BE5654"/>
                </a:solidFill>
              </a:rP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48A3B-18BE-435E-AEA6-F38DD3C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Missing precursor reporting is structural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BF67C-B715-4B3F-9141-60BC6093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Scenarios that lack a required pollutant cannot support a comparable PM2.5 mortality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386DA-BA5F-406E-8B0E-9EC1778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51665-844C-4A61-B6A6-98063D5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359CC-AB96-4C62-ABA0-4B6FA5B8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37295-EEA9-49F6-BDB7-3DFA1355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Pooled arms contain different IAM mixtures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1691B-29E5-4739-82F2-98D3AE97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718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A pooled median can move even when the qualifying within-model comparison has a different direction.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32A5D-BEBF-402D-84ED-8470A1AD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17689-EDC4-4516-810E-6ACC9A29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E297B-D6DE-4CCD-9EBE-0D9843D0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BOUNDED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D5E95-E02F-4900-9BC6-5F6071A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Mortality is a QA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E8C05-2D16-463B-ACFC-C7192C7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It tests whether air-quality implications are plausible under complete reporting; it does not establish a global ranking.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0531A-5DB4-40C8-8589-9220308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This is why the paper leads with jobs and energy deprivation, then shows mortality transparently as a qualified diagnostic.</a:t>
            </a:r>
          </a:p>
        </p:txBody>
      </p:sp>
    </p:spTree>
    <p:extLst>
      <p:ext uri="{BB962C8B-B14F-4D97-AF65-F5344CB8AC3E}">
        <p14:creationId xmlns:p14="http://schemas.microsoft.com/office/powerpoint/2010/main" val="8994574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26243-F699-4D03-BFB8-46519826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A25EE-7406-47CF-A0C3-DD0F4EE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Regional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C854-812C-43C9-A3EF-6E95C779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World results are aggregation outcomes: regions differ in stakes, scale, and mechanisms.</a:t>
            </a:r>
          </a:p>
        </p:txBody>
      </p:sp>
    </p:spTree>
    <p:extLst>
      <p:ext uri="{BB962C8B-B14F-4D97-AF65-F5344CB8AC3E}">
        <p14:creationId xmlns:p14="http://schemas.microsoft.com/office/powerpoint/2010/main" val="20666359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ECFE17-EA33-4CD0-9C44-45CB2F0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R10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1CE0F-E8C4-4CB2-A838-10D4A35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PRIMARY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79B90-A6D0-47F3-90A7-5C8B8D9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High-RE produces more modeled RE job-years in almost every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CC7D5-CDB0-4949-B0C0-4BB0165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70A97-000D-4743-AAF9-1E41EAA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5D64B-3E0C-4A2C-A184-51B944B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96E21-6D6B-4B1E-A87F-5C5EA21F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B6B08-583D-4F9A-9468-B9A524F2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8A64D-D059-42B5-ACAD-B8F2E7E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1.5°C RE − CMT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81D5C-7C3A-4824-8EE2-090BE95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52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2°C RE − CMT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ECC21-E1AE-4F27-910C-272D9BF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FABC4-AE56-438E-B817-F2465A5C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9005A-5AC5-47BB-AA7A-1A907C9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FB79F-967F-4141-AFD5-9B8288EB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+538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5AC13-993B-4ACD-A058-19133E2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97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largest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07B53-99E4-44C9-AD0E-FB32291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A7D64-1F15-46F0-86F4-1EAAA53C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F9E4A-77C6-4DC4-880E-D7C60065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+733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89378-18E6-4CF7-9B88-2553B71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+455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FC426-A0C7-4E25-8E49-35A129F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positive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656CD-C7B0-4FCE-9E33-AFF64C91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62A3E-2A73-4BD0-BA0B-65CA8D8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241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+666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21A2D-04C9-4987-A727-4118D52D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241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+442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55D06-A2B5-46AC-B2C9-DCFF20CE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positive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DA71C-038C-4941-915E-720A5077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01CE8-1973-46FE-8024-40CCBB3B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813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Middle East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AC312-F6C9-46FB-8721-6EAF7C2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+557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C24FC-F8AF-4149-97D7-CDB19B64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+411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18D7A-64E3-4821-8230-FEB69ABF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positive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943E4-3FD5-4CE5-8F3F-2CED352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384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80DF1F-1014-42F4-B2FD-76792676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2203A8-D035-4078-AF08-9C11018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384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+194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9C84E-358F-4AE6-838C-011FC6E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384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810B2-59AB-48B7-A7F1-E3F4235A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03BE2-312A-426E-932E-A827B54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956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China+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88628B-757D-4109-9532-9BED1443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11DBF5-E927-493F-BE69-22F1250A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084BF5-2BFB-4FE1-9B59-6BE5ACC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46FCC9-B7A0-443F-8094-A5AF7A7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528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North America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8A1D1-FAFD-41A8-B2F4-CB90E41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528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+154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0F85A-F7E5-48F7-8D05-A221C1C4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5703D2-D1E3-443E-8D59-1474488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C1B25F-CA2B-42AF-96AA-1048B54F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6DDD5E-48A3-4834-B152-99260EC7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00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Europe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01DB9D-2BE8-43BE-AD52-1C396817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+63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40CADD-80CF-49E5-BF5B-EDF9A03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+58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586DEC-AE16-4C13-BEB6-30B466A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7464FD-4253-45FB-B5CF-42CD7DD5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003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852147-9C07-4896-B50E-20E7A91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431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4872B"/>
                </a:solidFill>
              </a:defRPr>
            </a:pPr>
            <a:r>
              <a:rPr sz="1350" b="1">
                <a:solidFill>
                  <a:srgbClr val="C4872B"/>
                </a:solidFill>
              </a:rPr>
              <a:t>Exceptions are small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83AF32-68EC-48FC-89CE-EC0FA58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924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25323D"/>
                </a:solidFill>
              </a:defRPr>
            </a:pPr>
            <a:r>
              <a:rPr sz="1050" b="0">
                <a:solidFill>
                  <a:srgbClr val="25323D"/>
                </a:solidFill>
              </a:rPr>
              <a:t>Pacific OECD is near zero or modestly positive; no R10 region reverses the strong global jobs result in both ambitions.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2FC320-BEAE-43C7-95E1-563B7F9D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Values are High-RE − High engineered-CMT renewable job-years per 1,000 people; they quantify modeled sectoral activity, not labour-market welfare.</a:t>
            </a:r>
          </a:p>
        </p:txBody>
      </p:sp>
    </p:spTree>
    <p:extLst>
      <p:ext uri="{BB962C8B-B14F-4D97-AF65-F5344CB8AC3E}">
        <p14:creationId xmlns:p14="http://schemas.microsoft.com/office/powerpoint/2010/main" val="1431186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C44F8-A7DE-4642-A062-B543F40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R10 ENERGY DEPRIVATION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50C1B-D44B-43A3-830C-72BD065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PRIMARY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8E7F3-D080-44EF-BE60-9F4A7872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World deprivation result is driven by high-stakes regions—but it is not universal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4F7FA-1B19-48D7-BCCC-5A945DF7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62CDA-D487-40EA-881B-A536BD4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27FC7-C167-407B-9B5B-DE6F879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11C61-A883-49D7-9F94-93E1FC57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F3331-9443-4333-A6B8-252FC1B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1D73F-D9C5-47C6-BAC1-03487DB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526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Energy gap difference: 1.5°C / 2°C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353B0-E162-48A5-ADBD-09E2253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526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Headcount difference: 1.5°C / 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FD7F1-F931-459A-B603-F82C726F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52600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600E1-B2DB-4D25-9A5C-E6432CAA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7585A-AB70-4DCE-93F8-37AC9D21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097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−22.1 / −24.8 GJ/cap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612E5-F088-4FF7-B762-CBB5711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097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−10.0 / −9.5 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8665E-B616-4B60-980E-6E04E833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9775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largest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70C05-43A9-4A98-8DB7-7275BB95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AA238-9620-47F5-8BC3-59766BB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957B3-8E90-4E74-B892-A050FEDA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6695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−23.1 / −11.4 GJ/cap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52A88-2896-489A-A9BD-1E75063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6695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−7.6 / −3.4 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E2465-FA23-487B-9B8F-2F465A9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66950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improvement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1D49F-7EA0-47CB-82E8-5BD0B29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2972E-0662-471A-B09E-001F3AE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2412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−0.6 / −0.7 GJ/cap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7A5AC-64F3-4D48-8B48-6708EE5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2412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−0.5 / −0.7 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73AA5-2090-427B-9A87-FD6F561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24125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modest improvement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93893-A871-4054-9997-F954B42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ACB3B-B3A7-499A-991B-14B8FC4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813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92DBB-C209-4880-838A-E0AB7C7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813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−2.3 / +3.0 GJ/cap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214D6-535E-42E4-814B-D67B863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813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−0.9 / +1.0 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CA1EF-1257-4AAB-857B-94A7D30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81300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ambition-dependent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3D96F-B381-41F7-BE50-A0F0B395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384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Middle East / North America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1085A-A5A7-4287-8471-E8E01FC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384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 gaps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4E689-6751-478A-88AD-6BCDA0DA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 headcounts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6925F-F296-44A5-BDBD-8B9FABE9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38475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reversal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CCACD-3D9C-44A8-BA8D-2CF9721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Negative values favor High-RE. The regional pattern makes the World average interpretable: high baseline shortfalls magnify changes in final energy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9895608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E9250-71A1-4769-8F26-BB4DEB00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REGIONAL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AAAD0-0C86-4321-BCD8-B62B86B9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AAD9-E132-426F-8D04-B06220E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Read PM2.5 mortality only where the precursor-reporting comparison is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E7D4D-6578-43DF-B147-14BA19C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E7A1C-EA05-4C00-92D5-55251C4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FDEAA-AD24-4B9E-973A-9C44EC0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5D6CD-8E12-4936-888A-1CFE5D1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WHERE WORLD TOTALS COME FROM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EEFF-9026-4B58-A41C-750AFCB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Large populations and high baseline pollution make South and East Asian regions central to absolute PM2.5 mortality totals.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4EB05-4DB1-4DA2-B489-FD018FA9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WHY REGIONAL DIRECTION DIFFERS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F971B-FBBC-476E-A035-99EBD25A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Coal, industry, transport, biomass, agricultural NH₃, and the pace of end-use electrification vary across R10 regions.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1903B-0D8A-4524-A117-6A13A13E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52673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9FC75-A75D-4355-A0A2-A7358BD4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E5654"/>
                </a:solidFill>
              </a:defRPr>
            </a:pPr>
            <a:r>
              <a:rPr sz="1650" b="1">
                <a:solidFill>
                  <a:srgbClr val="BE5654"/>
                </a:solidFill>
              </a:rPr>
              <a:t>Do not convert incomplete reporting into a regional causal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FBB0A-607F-46F6-891F-AAA2A558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57475"/>
            <a:ext cx="438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A regional contrast is reported only when both pathway arms contain complete direct R10 precursor emissions and comparable models. This prevents a “clean-looking” map from hiding missing NH₃ or other precursors.</a:t>
            </a:r>
          </a:p>
        </p:txBody>
      </p:sp>
    </p:spTree>
    <p:extLst>
      <p:ext uri="{BB962C8B-B14F-4D97-AF65-F5344CB8AC3E}">
        <p14:creationId xmlns:p14="http://schemas.microsoft.com/office/powerpoint/2010/main" val="11290195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F3463-E9E0-4B0A-B2BB-EBBBCB0E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REGIONAL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BD93B-98C1-48C5-A80B-93320913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73A9-5089-4F92-86D8-449DE03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Which regions mechanically drive the World story?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4B41D-BE29-435D-A868-DB615350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6F989-43D7-4047-8FD8-2B1E4545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216E1-5252-4791-81EA-579A21B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6EF12-79AE-4ACE-9072-4EF794D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783ED-E4B2-43FB-B8C2-E10A3E1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54530-524F-43D9-B2D8-134833D8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84E72-EBB8-4300-B4CF-66F13A9E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China+, India+, Rest of Asia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30076-E7AD-4328-9BD7-FD4A7C7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9908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Large deployment volumes and population mean these regions can dominate world job-years and PM2.5 totals.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BE43C-ADF7-4002-80B7-72FDFA9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83CFA-CC40-4983-8BA9-C88D37E8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34960-4E79-4D1D-8004-ECD833CB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STAKES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43BF2-F571-4CC3-B5EA-FEA1883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Africa, India+, Latin America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8D248-054B-495C-B905-F734535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71800"/>
            <a:ext cx="29908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High starting energy shortfalls mean a change in final energy availability moves the deprivation indicators most.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8C605-32E0-4FCC-A534-1F0281C5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D18C5-AB77-4C3F-A293-7EF3EA86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C3359-6741-41EB-B8B0-8B0FA87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DIVERGENCE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08A4B-FA91-45AA-A653-8380CB6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Middle East, North America, Pacific OECD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2BD74-DB61-49FE-8A4A-A59B1882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9908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Fossil-asset structure, trade, resource quality, and modelled energy demand can produce different deprivation patterns.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B3799-A79C-4EB5-ABA1-DAC0CDF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World is not a vote count across R10 regions: it is a population-, energy-, and deployment-weighted aggregation.</a:t>
            </a:r>
          </a:p>
        </p:txBody>
      </p:sp>
    </p:spTree>
    <p:extLst>
      <p:ext uri="{BB962C8B-B14F-4D97-AF65-F5344CB8AC3E}">
        <p14:creationId xmlns:p14="http://schemas.microsoft.com/office/powerpoint/2010/main" val="6982303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98499-C151-4286-8551-8C2BC20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1724A-BEFC-4D24-AFF8-825A4B52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Why the patterns arise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DC5BB-5484-4B6D-8191-12CE09A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The results describe scenario portfolios; the mechanism is technological, distributional, and policy-mediated.</a:t>
            </a:r>
          </a:p>
        </p:txBody>
      </p:sp>
    </p:spTree>
    <p:extLst>
      <p:ext uri="{BB962C8B-B14F-4D97-AF65-F5344CB8AC3E}">
        <p14:creationId xmlns:p14="http://schemas.microsoft.com/office/powerpoint/2010/main" val="4249328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E7755-DBED-48F9-BC23-6B874488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C18C3-7372-4230-B20F-E9F11C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WHY ·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A9AE7-AC08-4B78-8BBB-18BA732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Why the job-years result is mechanically plausible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32EC-4198-4562-B0F9-CA44211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0600-A0AF-4B48-9CEA-4818E5A2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37E3-ECA6-4036-892F-E43F6039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BC81F-D353-4611-B7DC-3FA87BB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2BCB-F338-4095-B3E0-9D6EB2F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Portfolio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03A91-6263-4022-BBE3-1231136B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66900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System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5B19-C4A3-4DFB-80E2-41794979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66900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Wellbeing-relevant implication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FEF8E-E5C7-4827-B5E5-D2EA1FCE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24075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High-RE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DFA0C-28FA-4FBE-8F5C-1D07F1CE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24075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More wind/solar additions and operating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98AE6-2F61-43E3-87A2-F520864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24075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More modeled manufacturing, construction, installation, and O&amp;M job-years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21A24-70C7-4B1F-B621-50CA333A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0F94E-248D-470C-A3E4-2E83DCA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 engineered-CMT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1DBF9-E88C-4FDA-BEFF-2405EFB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81250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More capture/removal/storage and remaining fuel-system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4734F-3809-4608-8ED2-6A1BEB6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Less RE-build activity per person—without implying fewer total economy jobs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8C182-8D4F-4BC0-A27D-438E03DA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Regional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FE0B7-0B4F-47FF-91BF-02117D3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38425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Supply chains, labour intensity, import dependence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6880F-6086-42DA-A25E-707E2F51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Modeled job activity need not equal domestic job quality or inclusion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EAA02-1D3B-4298-BB5B-C5826F6C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Real-world policy bridge: renewable targets alone are not a workforce strategy. Grid planning, training, local-content rules, labour standards, and just-transition policy determine who benefits.</a:t>
            </a:r>
          </a:p>
        </p:txBody>
      </p:sp>
    </p:spTree>
    <p:extLst>
      <p:ext uri="{BB962C8B-B14F-4D97-AF65-F5344CB8AC3E}">
        <p14:creationId xmlns:p14="http://schemas.microsoft.com/office/powerpoint/2010/main" val="18719320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9A263-B2E9-4BA4-80FD-46834DF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E1C4-B783-4392-8E7A-9434CAC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WHY ·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785A1-03C5-46BB-BA98-FC28A6AF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Why deprivation can improve—and can reverse—by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862DC-1B96-44C7-A782-A468452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66DB3-D836-4C80-A65C-F12634FE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4CD7-AE45-41CE-8764-3780C98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FCA8E-314C-43AE-B5D8-01FC8ED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MECHANICAL PATHWAY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A167C-DDC8-4757-B04B-0640694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Technology portfolios co-vary with electrification, efficiency, fuel switching, and final energy availability. The DLE model translates those changes relative to a regional threshold.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31124-4CA6-46C5-88C5-996EA86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WHY AFRICA AND LATIN AMERICA MATTER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6CB88-4F09-424C-A600-EA9E0E0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 given change in available final energy can reduce a large shortfall or affect a large population below the threshold.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DCB8-2BB6-4D4E-98DF-4487CF7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WHY REVERSALS ARE CREDIBLE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07507-1E5A-42E9-ADF0-FA58191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24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CMT-intensive scenarios can still deploy substantial renewables; demand, end-use allocation, model structure, and trade can outweigh the portfolio label in a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59583-9A5E-4400-9937-C84B0F5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POLICY 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2E7FA-EF75-4A43-B427-4D3D151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29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Affordable connections, reliability, productive-use demand, appliance efficiency, and tariff design are the missing links between energy supply and household wellbeing.</a:t>
            </a:r>
          </a:p>
        </p:txBody>
      </p:sp>
    </p:spTree>
    <p:extLst>
      <p:ext uri="{BB962C8B-B14F-4D97-AF65-F5344CB8AC3E}">
        <p14:creationId xmlns:p14="http://schemas.microsoft.com/office/powerpoint/2010/main" val="18588216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DDD02-A875-4D3A-86DF-B6E2A4F1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MECHANISMS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9C6EB-1A83-40FB-A954-3673EA56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WHY · AIR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C7B78-358E-4018-BC91-6B04351E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Why High-RE and High engineered-CMT can look similar on PM2.5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2D099-840F-4A21-B64E-84F9AAE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7E734-59FE-494C-A7DF-7ABD3E06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114EE-1D28-4E16-B208-00306F5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469A2-3674-469F-95D2-0C0938BE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323D"/>
                </a:solidFill>
              </a:defRPr>
            </a:pPr>
            <a:r>
              <a:rPr sz="1500" b="1">
                <a:solidFill>
                  <a:srgbClr val="25323D"/>
                </a:solidFill>
              </a:rPr>
              <a:t>Both pathways meet the same temperature target; “High engineered-CMT” does not mean “high fossil pollution.”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10E13-0408-421F-945E-92A43957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5E987-8FE3-4F9A-9C83-82F9C03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92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EDBBC-7026-42AB-BEC2-C1E317A6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47925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How it affects the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759AA-268F-462F-ABF9-8AD2DD8E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0510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Shared 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ECC66-06B9-45D5-8E54-896B0A00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05100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1.5°C and 2°C CMT scenarios still reduce fossil combustion and deploy renewables, so both can receive large pollution-health benefits.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5C556-DE6D-4BEE-BD1A-898A7B6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D6CA7-BC62-4095-B089-C65A963F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227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Non-power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D18F4-0A55-4BF4-BC15-070EB06E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62275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Industry, transport, biomass, agriculture, and NH₃ drive PM2.5 too; a power-sector portfolio label cannot isolate all precursors.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D1F62-539F-4595-949D-304FF3D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1945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Evidence constraint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37A5-F396-4EA0-A739-335E6E65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19450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Complete emissions reporting differs across model families and pathway arms, shifting pooled medians.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4C974-DB9E-4AA0-BA95-15031F6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Policy implication: achieving the climate target is necessary for cleaner air, but the co-benefit depends on which emitting sectors are transformed and how completely emissions are reported.</a:t>
            </a:r>
          </a:p>
        </p:txBody>
      </p:sp>
    </p:spTree>
    <p:extLst>
      <p:ext uri="{BB962C8B-B14F-4D97-AF65-F5344CB8AC3E}">
        <p14:creationId xmlns:p14="http://schemas.microsoft.com/office/powerpoint/2010/main" val="14656989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A7043-8CB0-4B94-8D5D-3225D31E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DIAGNOSTIC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37E9E-82D6-4D36-A806-CA57D0C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7DCCD-5DC8-4881-9BF7-9ED50AD0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Model composition is a core result, not an appendix footnote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DD7FC-457F-4313-A6AD-3214F23A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EF1CB-59FA-4ABC-844A-2ECF0E7D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30183-27B6-4E8D-9629-A1A2A2B0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311EF-16AC-48C6-A347-FB3785B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DE393-9678-4B01-9A7F-F2642EB1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738B"/>
                </a:solidFill>
              </a:defRPr>
            </a:pPr>
            <a:r>
              <a:rPr sz="1575" b="1">
                <a:solidFill>
                  <a:srgbClr val="39738B"/>
                </a:solidFill>
              </a:rPr>
              <a:t>Pooled ensemble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A6F5F-F49B-4270-A87D-16D6201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Describes the set of scenarios observed in the database. It can mix different IAM families across the two portfolio arms, especially after requiring outcome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88B3B-3FD9-4461-AC5B-495697BB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84B8B-CBF6-42E7-9371-D9FA955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29568"/>
                </a:solidFill>
              </a:defRPr>
            </a:pPr>
            <a:r>
              <a:rPr sz="1575" b="1">
                <a:solidFill>
                  <a:srgbClr val="429568"/>
                </a:solidFill>
              </a:rPr>
              <a:t>Within-model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7A9EB-FD32-4C42-B859-C390019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86025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Keeps an IAM only when it supplies both pathway arms in the same ambition-region cell. It is the better test of whether the pooled contrast is model-composition dependent.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4258D-CF53-437F-80C8-6AA373E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Use association language for pooled results. Treat agreement between pooled and within-model evidence as stronger support; show disagreement as diagnosis.</a:t>
            </a:r>
          </a:p>
        </p:txBody>
      </p:sp>
    </p:spTree>
    <p:extLst>
      <p:ext uri="{BB962C8B-B14F-4D97-AF65-F5344CB8AC3E}">
        <p14:creationId xmlns:p14="http://schemas.microsoft.com/office/powerpoint/2010/main" val="8136716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D6388-B346-413E-B4BF-D92D675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303D4-4329-455A-9E34-498ECB7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ACD10-7831-4C0D-B30B-D39B8A1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primary result is distinguished from related sensitivity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4775C-FAD5-47E6-BAAB-637D39EE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81449-C2A0-4F5F-B676-189E44B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F01FF-27D8-4000-B26F-34DA94F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CF22-B8C2-48EE-8F48-484C1C88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86C4C-E573-4501-9449-4ACC30C4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Specification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0DEE1-36BA-4A56-96BD-F0622B8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66900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What 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C06A4-D273-415B-B9DE-21E6E644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Role in 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62FF8-D4EE-49D7-A88C-91EBCAAB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24075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Primary: engineered-CMT, broad paired top-tercile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75058-CA88-42AE-B94C-B0960FF2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24075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Energy-system contrast: High-RE vs novel CDR + fossil/industrial CCS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4B622-BA91-4FDB-9985-4F434E4E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24075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Main findings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26B0A-5C39-4E28-A181-2BAFE2A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DA478-9B54-4D94-8912-96F0850A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Strict polar portfolios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73C5E-D862-410A-B4DB-93D94958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81250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Whether technology extremes sharpen or alter the contrast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A6339-B6F7-46B6-8CBE-D8CBF34B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Sensitivity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FC43D-F20C-426F-A179-436D585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Total CDR / all removals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6FFCF-3BA1-43A1-9222-2D192D99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38425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Whether land removals change the 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4EF6A-E23B-44B1-BC5C-5284B41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38425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Supplement: different substantive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54C76-5C1D-4261-8DB8-9C59243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1C291-20DF-4C88-896D-82EA2C30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Mortality reporting-complete screen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D100F-443F-4A15-A150-4084699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95600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Whether PM2.5 conclusions survive complete direct R10 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191AA-5F86-46C9-BEFC-E4FB69FB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QA diagnostic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710BF-BD45-44A5-B434-9B60840D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Robustness does not mean forcing every outcome to agree. It means specifying which comparison each statistic can credibly answer.</a:t>
            </a:r>
          </a:p>
        </p:txBody>
      </p:sp>
    </p:spTree>
    <p:extLst>
      <p:ext uri="{BB962C8B-B14F-4D97-AF65-F5344CB8AC3E}">
        <p14:creationId xmlns:p14="http://schemas.microsoft.com/office/powerpoint/2010/main" val="1391298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82B55-E950-43C0-B360-B3987F2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PAPER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FFE71-6598-42C1-8817-63908A8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CDD8A-DABC-40B6-9CE5-1DD02BE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A precise and dissertation-ready claim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656A3-BB43-4402-987D-C8867ED5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2BB7D-A5BE-429B-93B7-DA9AADBE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98C78-954E-4FE5-8CAF-B112BC3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C4D25-D1D1-4A32-9A45-B2401C1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323D"/>
                </a:solidFill>
              </a:defRPr>
            </a:pPr>
            <a:r>
              <a:rPr sz="1500" b="1">
                <a:solidFill>
                  <a:srgbClr val="25323D"/>
                </a:solidFill>
              </a:rPr>
              <a:t>The paper can credibly claim that: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8176F-20F6-456A-97BB-8BD42AC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990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87B3-A57C-4B37-AC74-E924228C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Within the full global IAM ensemble, High-RE pathways are associated with substantially more modeled RE job-years and generally lower modeled energy deprivation than High engineered-CMT pathways.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D98F7-BD1F-4682-BC66-9ED8DF02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990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22E50-EDB2-4E90-8A90-E7A4478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R10 heterogeneity explains the World patterns: high-stakes deprivation regions and high-scale deployment regions matter more than a region-count average.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139F-ABD7-42AF-9405-DE1809E7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E5654"/>
                </a:solidFill>
              </a:defRPr>
            </a:pPr>
            <a:r>
              <a:rPr sz="825" b="1">
                <a:solidFill>
                  <a:srgbClr val="BE5654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80E7A-4908-472D-ABBE-E60D928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PM2.5 mortality is informative only after reporting-complete screening and remains non-rankable across all samples and ambitions—an evidence-quality result with substantive value.</a:t>
            </a:r>
          </a:p>
        </p:txBody>
      </p:sp>
    </p:spTree>
    <p:extLst>
      <p:ext uri="{BB962C8B-B14F-4D97-AF65-F5344CB8AC3E}">
        <p14:creationId xmlns:p14="http://schemas.microsoft.com/office/powerpoint/2010/main" val="2544935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97B9-1C59-467B-8BD2-3E952CE5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BOTTOM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53820-3269-4755-948D-B5CFFD98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High-RE pathways carry the clearer wellbeing advantage where the evidence is strongest.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EA84D-1DAF-48ED-8383-D2EB878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4E0E6"/>
                </a:solidFill>
              </a:defRPr>
            </a:pPr>
            <a:r>
              <a:rPr sz="1425" b="0">
                <a:solidFill>
                  <a:srgbClr val="D4E0E6"/>
                </a:solidFill>
              </a:rPr>
              <a:t>They are associated with more renewable-electricity job-years and—across the full ensemble—less modeled energy deprivation. Regional diagnosis makes that global result interpretable; transparent mortality coverage keeps the claim honest.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E38C2-0B6F-4463-BFB8-69C64F79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2AE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582D7-0702-49AF-AE8C-FFBBA84D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7CDD7"/>
                </a:solidFill>
              </a:defRPr>
            </a:pPr>
            <a:r>
              <a:rPr sz="1200" b="0">
                <a:solidFill>
                  <a:srgbClr val="B7CDD7"/>
                </a:solidFill>
              </a:rPr>
              <a:t>The paper’s contribution is not a universal technology winner. It is a transparent map of where pathway portfolios matter for wellbeing—and where the database cannot yet answer.</a:t>
            </a:r>
          </a:p>
        </p:txBody>
      </p:sp>
    </p:spTree>
    <p:extLst>
      <p:ext uri="{BB962C8B-B14F-4D97-AF65-F5344CB8AC3E}">
        <p14:creationId xmlns:p14="http://schemas.microsoft.com/office/powerpoint/2010/main" val="18186398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57E94-0561-4070-A8EB-56B6594F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25165-0D59-4FA4-BAE7-39DDE60A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Evidence figures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A1BEB-0504-4E40-9EE4-CD50BAF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The following plots use the updated no-land engineered-CMT classification and reporting-complete mortality screen.</a:t>
            </a:r>
          </a:p>
        </p:txBody>
      </p:sp>
    </p:spTree>
    <p:extLst>
      <p:ext uri="{BB962C8B-B14F-4D97-AF65-F5344CB8AC3E}">
        <p14:creationId xmlns:p14="http://schemas.microsoft.com/office/powerpoint/2010/main" val="6547010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6D6EA8-6186-4C06-A431-496D1CB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F0AD0-73E7-486A-8217-51E00F4C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PRIMARY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31A01-0910-4E0A-B446-044A8469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paired top-tercile rule produces distinct—though not perfectly polar—portfolio 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2102-F1F9-4AC5-A206-D3F2B7D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C6A4D-0706-4EC9-9350-05B2D56C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4BB4A-84AE-409A-B1E6-556D548E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9552C-9EAA-4E4C-A2DC-6A989EE6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7477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25184-5E2C-40B1-87B4-C29A0914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390" y="1952625"/>
            <a:ext cx="4785360" cy="1440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6087C-873F-4415-A41F-15A396AC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2805"/>
            <a:ext cx="2691765" cy="1988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3697E-57FC-41D0-A512-35AFAFAC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390" y="195262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B75B1-BDEF-426B-8854-378BAF1C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2805"/>
            <a:ext cx="7477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34CDF-971D-4547-BE35-097BB38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95925"/>
            <a:ext cx="747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684"/>
                </a:solidFill>
              </a:defRPr>
            </a:pPr>
            <a:r>
              <a:rPr sz="825" b="0">
                <a:solidFill>
                  <a:srgbClr val="667684"/>
                </a:solidFill>
              </a:rPr>
              <a:t>Renewable capacity deployment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8A229-E12B-4342-9AC6-53DCC232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718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684"/>
                </a:solidFill>
              </a:defRPr>
            </a:pPr>
            <a:r>
              <a:rPr sz="825" b="1">
                <a:solidFill>
                  <a:srgbClr val="667684"/>
                </a:solidFill>
              </a:rPr>
              <a:t>Engineered CMT</a:t>
            </a:r>
          </a:p>
          <a:p xmlns:a="http://schemas.openxmlformats.org/drawingml/2006/main">
            <a:pPr>
              <a:defRPr sz="825" b="1">
                <a:solidFill>
                  <a:srgbClr val="667684"/>
                </a:solidFill>
              </a:defRPr>
            </a:pPr>
            <a:r>
              <a:rPr sz="825" b="1">
                <a:solidFill>
                  <a:srgbClr val="667684"/>
                </a:solidFill>
              </a:rPr>
              <a:t>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8B6D0-F7F7-4679-8277-676EEE9C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8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08497-C3E3-4FFD-870B-FC5D2253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407" y="30118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BB537-36A4-4F4C-96B1-0A0D866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25317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2B2BA-81B0-4740-8498-3DDA2F6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891" y="33547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046C7-A47A-4632-A65C-3CD6B2D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434" y="28746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45F29-A585-4F25-BE75-FF8E9825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630" y="47263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886A3-7657-43DC-A0C1-C39BF29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199" y="44519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CF0A2-2C5C-4260-B7FF-33A132A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48634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F559E-298B-44FC-926F-613581E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166" y="42805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358B9-1ACD-4143-8C7F-8604BD4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029" y="40062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8E8C3-8A8D-435B-8CB0-F0550FD2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996" y="46234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F2726-3B63-45D7-A593-42BF8F9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774" y="41776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CBC94-1743-4AAD-8029-5652FE5A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0" y="32175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F503B2-E68C-49A3-99BE-B6E6B9D2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055" y="30118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3E41A8-9358-42D4-8ADE-EEE5E67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715" y="35261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A7F0B-399D-4B5B-94D0-FDC1533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349" y="42462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3883D7-5E14-4E88-BF85-1B09240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833" y="36976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C4462-DE16-4318-92D7-3E1993B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407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49C03-43EC-4904-A1E8-F67E192C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8" y="20288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High engineered-CMT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819AE-1121-4BAD-A75C-9F48520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339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High-RE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D66A03-51A5-4D43-8A9D-5F6C911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4098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C9CFB5-7C3C-460F-B411-07E626F2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383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23D"/>
                </a:solidFill>
              </a:defRPr>
            </a:pPr>
            <a:r>
              <a:rPr sz="1425" b="1">
                <a:solidFill>
                  <a:srgbClr val="25323D"/>
                </a:solidFill>
              </a:rPr>
              <a:t>What the rule does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F9F05-E809-4D2B-81D3-4588279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323D"/>
                </a:solidFill>
              </a:defRPr>
            </a:pPr>
            <a:r>
              <a:rPr sz="1050" b="0">
                <a:solidFill>
                  <a:srgbClr val="25323D"/>
                </a:solidFill>
              </a:rPr>
              <a:t>It selects high deployment on one focal axis while excluding pathways that are also top-tercile on the opposing axis. The strict-polar rule remains a sensitivity.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0F28FE-FB40-4A3B-88B2-1954A8FE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Figure is a schematic of the classification rule; the primary classifier uses cumulative 2020–2100 deployment for every scenario.</a:t>
            </a:r>
          </a:p>
        </p:txBody>
      </p:sp>
    </p:spTree>
    <p:extLst>
      <p:ext uri="{BB962C8B-B14F-4D97-AF65-F5344CB8AC3E}">
        <p14:creationId xmlns:p14="http://schemas.microsoft.com/office/powerpoint/2010/main" val="15288750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A858C36-6F73-41BA-9D79-C654EDA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6196B-DB07-4858-9199-71ED8B0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FULL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3E795-CA33-4AF4-B5EB-E0C8911A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Full-database World medians: the jobs and deprivation contrast is visible in every primary panel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42E56-20D3-4862-B772-E12316F5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90D0-BD96-42CE-8C7C-74588D99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7220F-A5E6-41DE-B3BD-653CE362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2A4D0-CF1C-43F4-9E5A-BCCC1CDF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083EB-CAE9-4EB5-A937-B995E32F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95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684"/>
                </a:solidFill>
              </a:defRPr>
            </a:pPr>
            <a:r>
              <a:rPr sz="750" b="0">
                <a:solidFill>
                  <a:srgbClr val="667684"/>
                </a:solidFill>
              </a:rPr>
              <a:t>Engineered-CMT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19CFC-FE26-4591-960A-2A68C5B0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7A395-E955-45ED-968D-F1B5711B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02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684"/>
                </a:solidFill>
              </a:defRPr>
            </a:pPr>
            <a:r>
              <a:rPr sz="750" b="0">
                <a:solidFill>
                  <a:srgbClr val="667684"/>
                </a:solidFill>
              </a:rPr>
              <a:t>High-RE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2CFAA-BE40-4838-8C18-199A7C8F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Renewable job-years / 1,000 people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190B2-730F-4F61-A8A3-069A4A1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29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1AFE8-EB8E-4EA8-B401-D05476FC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5CCC3-B8D2-4DE8-BB2D-AA869B69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23066-2016-44C8-B8C0-5D58CB5F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091BB-32CA-45F3-8D17-962A56F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250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C36C4-EC14-4E78-87D8-2F06A873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DA58E-408C-456A-870C-3CE6343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500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43911-4BBE-4F84-97E4-F2ED18DA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B8EA3-EDAC-4586-8DC8-5E11EFB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750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8C5F5-DE91-4F61-A8F4-C49BB305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1.5°C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F98C9-A85B-483D-AC83-913C614B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764" y="2409825"/>
            <a:ext cx="1357884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EC5C1-B5BA-4FF5-A36F-C324BCF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139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D45D1-0022-49E7-9E04-EC46754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023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EFD8D-23C1-4B7C-AF94-EBEDA40C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164" y="21717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291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31BA1-52B2-4E05-9744-F10F3D10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048" y="25050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687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920516-8DC8-4B16-900C-D08847A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2°C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FFA04-30C2-4FAA-8A67-896F124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142" y="2867025"/>
            <a:ext cx="98755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525B9-5300-480B-BFB1-C3C941F6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17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61C28-8581-4868-9AAC-426B3283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069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E34D4F-FCB3-4C79-835B-026258D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542" y="26289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173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90E357-FAF2-454C-A8AB-8C1B493C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094" y="29622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461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72ABE-0993-4A68-A25D-4D9F349F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Energy gap (GJ/cap)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31753A-66E2-4DFF-8B3A-81B2F74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29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E8A21-FAFB-46A2-8589-4D225C5F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EA59F-1270-4EC0-A61F-68979487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F89466-997D-43D8-B1B6-873B0508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552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127CA2-EA6F-430C-9354-47FCC913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852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763E7B-014B-4749-9813-49F56810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530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BAD764-39B1-4F52-829F-ECB75454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830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6046FB-FA84-4996-A824-75F70C2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1.5°C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85F628-32BE-4390-BB75-98735FE2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5" y="2409825"/>
            <a:ext cx="66631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18BB95-47E6-4199-A6FC-90404BE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8EC9B9-6FB3-4578-91B0-FC21B01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62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11F1C6-8311-4EB3-BBB8-FBEB489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1717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18.7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AAF969-0DCF-4687-87BC-630234C6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5" y="25050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41B077-5695-4471-B7FC-3CABAE0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98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2°C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899456-DF0F-4A81-AB5E-B484B33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140" y="28670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683DD5-AC4B-4A0A-83A1-28A7B7C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865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C1D01A-F32E-47EA-B5E2-935C31E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515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38C39D-DA78-48AA-AF86-74EE38F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890" y="26289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15.5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FC3BDE-1CAA-42F6-857C-D77B9BD3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540" y="29622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11.1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4E5A45-2F44-4F73-9E77-162E16EE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Deprivation headcount (%)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A27901-B2BE-4092-98B6-E053302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29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3C1711-0F5D-4200-B1CA-2E2A385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7AC61C-E62E-4B51-B13E-7D7376D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04F93E-DCA7-4F27-AB4F-D6A1F37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C04D58-FF96-42A8-941A-83D697C8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AB20FD-CE3F-423C-B036-98616AC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9DA4E7-D928-40A3-88AA-8EA01BB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165683-A17A-4EBD-A1BC-4625DE26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52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1.5°C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A4815D-0F34-4C4A-B21C-89E0A56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533" y="2409825"/>
            <a:ext cx="64293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99C0B8-789D-4D6B-B180-AC9050AE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845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1612DA-5FC8-40EF-82EA-5B637A2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908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56A8DE-0C9D-43A8-BA18-A5F3532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870" y="21717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6.86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EE934B-2E95-4BC4-BB4C-C1F61D98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933" y="25050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4.61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679264-3488-4CEC-86C1-FD205C4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98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2°C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BBFBE4-74DB-4BBD-BDC9-B6CDD5B9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2867025"/>
            <a:ext cx="50863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A4D3BA-4732-4531-B45F-11795352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4C1994-A4F8-4674-9BE1-6918DF0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315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CDB806-4B2D-409E-A9D0-FD675197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6289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5.80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A98CA3-3036-48C1-B708-68B73E56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9622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4.02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215BB7-37D6-4097-B5C4-4C6D6E2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B05C27-C30D-4612-9C80-CD82184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High-RE is higher on modeled RE jobs and lower on both modeled deprivation metrics at both ambition levels in the full ensemble.</a:t>
            </a:r>
          </a:p>
        </p:txBody>
      </p:sp>
    </p:spTree>
    <p:extLst>
      <p:ext uri="{BB962C8B-B14F-4D97-AF65-F5344CB8AC3E}">
        <p14:creationId xmlns:p14="http://schemas.microsoft.com/office/powerpoint/2010/main" val="12215094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63F1D2-1856-4ACA-B683-BF764D3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C19B-6810-4A30-9BC9-6278758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SCI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5BCA8-50EC-41A3-B37E-FBEF976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SCI-vetted World medians: jobs remain distinct; 2°C deprivation crosses 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D8FAD-FB66-47B5-8356-9FB0CE21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C2121-7F44-4F19-AB35-498C150A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55B4E-F321-47C7-9103-E65BEEA7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BD087-E3F9-42A8-8E86-3469237F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BDB4A-72DA-4D65-92DE-0479C876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95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684"/>
                </a:solidFill>
              </a:defRPr>
            </a:pPr>
            <a:r>
              <a:rPr sz="750" b="0">
                <a:solidFill>
                  <a:srgbClr val="667684"/>
                </a:solidFill>
              </a:rPr>
              <a:t>Engineered-CMT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8FB6B-5AC2-474C-8D2A-B0C5347C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34884-B323-485A-B303-22527C49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02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684"/>
                </a:solidFill>
              </a:defRPr>
            </a:pPr>
            <a:r>
              <a:rPr sz="750" b="0">
                <a:solidFill>
                  <a:srgbClr val="667684"/>
                </a:solidFill>
              </a:rPr>
              <a:t>High-RE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9B354-085F-42B7-934B-11150A9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Renewable job-years / 1,000 people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99914-7093-438D-953A-E59F3BDB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29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BDF52-2DC0-4576-B0AB-58EF2C3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349AB-CA96-4629-A908-60BE72F2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321AA-B7BB-419C-89B0-052D7BFF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C13D5-B970-4D25-B199-9EE94BF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200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FF3E8-BABD-444C-9445-97EA3453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AE808-6C6B-402D-AEC9-F374C336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400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F388D-D505-4C80-A9CD-01018746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E987A-882E-4423-8E73-6720EF3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600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75C6A-F0A3-4106-B95C-51EE046E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1.5°C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1E859-A9A3-4E4E-8B1A-7BE453D8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495" y="2409825"/>
            <a:ext cx="112299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CD9B6-D2EF-4E7B-92A2-30D22C9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36488-4977-4D34-8A61-1D5EAFF7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868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77308-45A6-473D-829C-4FDC379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" y="21717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264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67EF4-BF97-4797-8308-D305F722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3" y="25050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526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0985B-8821-426C-A90E-5CBCEF0C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2°C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44162-B330-4EE0-8B8D-EA62875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3" y="2867025"/>
            <a:ext cx="475774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3EE94-4A0F-4FA6-809B-6A005D55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398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0A7D2-120F-4B27-A214-52975F3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171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61113-8E63-4DA1-9614-270CE449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423" y="26289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182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509F6-0143-4583-965A-6029C93C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196" y="29622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293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1B7FD-E955-4FEC-B362-B013A33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Energy gap (GJ/cap)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6D6F7C-ADDE-4E6B-B520-94D2D016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29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098C68-4C45-4065-BDF0-B1BCDE0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69CD7D-A9C5-4969-A581-6CDA3AD7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FE40FF-C725-4E86-A2A3-B2F22680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8389F3-D172-4F6D-8A90-0DE4F761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19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D4A6E-4297-441C-844A-2AB6690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C74991-C59E-4ACC-89BE-7C2405D4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583B3-5C03-4788-874F-F8D247C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1.5°C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451EA0-FFD5-4FB1-AD91-665D5F89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569" y="2409825"/>
            <a:ext cx="7715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65A7FD-E38A-4D70-9478-F4973B95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469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5E7232-28C8-41D5-9B97-379D002E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F349A1-82EB-4428-8408-508EF6D3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494" y="21717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20.8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4460D8-8C41-4927-82AB-CACD42F6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969" y="25050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18.4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F710EB-6663-4C1D-8F8A-4D16A27A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98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2°C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BAE932-AF0D-435C-8853-B0328181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48220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1917F4-7A2D-43D7-83C9-0DF6D53D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433DE8-3039-400A-90C4-07F3B1A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028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A1A660-FCA7-4EE4-A441-1911B853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19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CE64F8-5B2D-4E2D-8D7B-93933C97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053" y="29622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20.5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FB4214-36D4-48CB-8AD5-B10F31E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Deprivation headcount (%)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D38F54-7B3F-44DD-B2A4-9901B797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29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870ACB-0DE1-4FFB-BF24-AB9CA2D5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02BD9A-4ABE-4A05-AC52-8DB7294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A2F34C-CFAE-4FA8-A503-360C1A01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56E606-96A9-47B8-9E8E-A69CF18B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AFA378-C4F7-46BA-AACA-9ADDDB3B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0"/>
            <a:ext cx="0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8542E7-9F88-454B-9515-C3EF306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50520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61B1F3-D10A-4CF8-A164-11714B2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52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1.5°C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9E1E76-1B45-4144-8E60-8E9C811F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089" y="2409825"/>
            <a:ext cx="63650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4872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35CEBA-B0AB-4743-B3EA-886A4B8C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972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346B86-9AD5-4E08-A078-557EF7C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099677-A5B9-4C7C-B0AA-1C39ECCB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997" y="21717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7.85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6873F6-E745-4101-B99A-4CEEF41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25050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6.86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8ACA0C-98E9-4E84-BBCA-EB11C6D6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98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2°C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62F2C9-FF0C-4CF4-9B08-EEE3B5A1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518" y="2867025"/>
            <a:ext cx="469344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9738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82C92D-B4C6-4247-8FC0-38204AFA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893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C0EF25-DA63-4AC1-806F-95F15897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38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BC6BBE-1A47-4704-96BE-6D3399C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918" y="2628900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C4872B"/>
                </a:solidFill>
              </a:defRPr>
            </a:pPr>
            <a:r>
              <a:rPr sz="675" b="1">
                <a:solidFill>
                  <a:srgbClr val="C4872B"/>
                </a:solidFill>
              </a:rPr>
              <a:t>6.87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8BF504-E704-4AAD-8030-62142D8B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2962275"/>
            <a:ext cx="457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9738B"/>
                </a:solidFill>
              </a:defRPr>
            </a:pPr>
            <a:r>
              <a:rPr sz="675" b="1">
                <a:solidFill>
                  <a:srgbClr val="39738B"/>
                </a:solidFill>
              </a:rPr>
              <a:t>7.60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4B64C0-7778-4226-BC04-E87DC5B1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8CF3BA9-C8EF-4BCC-9CF8-30D24426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The figure makes the substantive point visible: SCI 2°C does not reproduce the pooled deprivation ranking, even though the jobs ranking remains.</a:t>
            </a:r>
          </a:p>
        </p:txBody>
      </p:sp>
    </p:spTree>
    <p:extLst>
      <p:ext uri="{BB962C8B-B14F-4D97-AF65-F5344CB8AC3E}">
        <p14:creationId xmlns:p14="http://schemas.microsoft.com/office/powerpoint/2010/main" val="785805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9D8E94-93B7-4662-AFAF-9FC688F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R10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CD8DB-0AA5-483A-8E0C-EC9760F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BAA5A-DF0E-4D7B-8E52-E03A0B9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High-RE increases modeled RE job-years in the regions that carry the largest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75E6C-D506-4D9A-B401-87F3B1C6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B3996-5B3E-466C-A34F-ECBE3E5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953A7-47A1-46E0-BCC8-4D5A6275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61867-B214-471E-9060-5F7E7BE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1.5°C · High-RE minus engineered-CMT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D6659-47C8-4D08-802A-081649B4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85D1D-7F7F-430C-89C5-14D110B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43125"/>
            <a:ext cx="29585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6568A-2B5C-477C-A2F7-C9EA4191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542" y="21145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+832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B0B2-332F-486F-95AB-6FB4FB49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0A50B-2561-4D9D-83E1-7CE70D1E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28875"/>
            <a:ext cx="260654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C52F8-75FE-442E-8B2C-8B6F8DB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498" y="24003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+733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22F15-EFF4-4262-BB84-8DAEE966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5415B-C09C-416C-A797-A8DB103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14625"/>
            <a:ext cx="23682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DFC39-7AA7-4FD4-839D-9E66581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246" y="26860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+666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0FB69-C62B-4948-82B4-9DCEBFEA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Middle East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DFA0A-0D78-4F62-AAE1-B3F658A7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00375"/>
            <a:ext cx="19806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4AF88-85B4-4CAA-817E-1A50889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642" y="29718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+557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9BB77-8315-474E-9F27-008BAC7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Reforming economies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BDD86-5D15-44C1-BDCF-3DED28F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86125"/>
            <a:ext cx="133705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A3766-D58D-449E-862A-EBE5D627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006" y="32575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+376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5BF30-054F-4FB4-AEDF-DF66F8D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441BE-0549-4B1D-99FB-79B9820F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71875"/>
            <a:ext cx="78587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5E4F8-284F-486D-9FD3-DE2B7411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26" y="35433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+221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78D41-39C1-42F0-97E0-59A56537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North America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5F861-19FC-4394-8793-08B73B8D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5476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9E5AD-2526-4694-B6F5-EC338D8B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574" y="38290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+154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AF612-2C24-4774-A430-FEE5069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China+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C5E63-FF54-4A6D-88CA-13BC0C4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43375"/>
            <a:ext cx="44094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32479-192F-4F0E-A2FE-5D8F169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894" y="41148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+124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81AAA-3031-4980-9186-E5127D6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Europe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730065-40C0-4D3C-A8D8-A1938B1B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29125"/>
            <a:ext cx="22402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CAC82-7253-43A0-B6AB-E25CDED5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78" y="44005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+63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CDC05D-1C25-48B2-8004-B69F3278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Pacific OECD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5C9D6D-94CB-4B97-B7D8-6B7B62F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14875"/>
            <a:ext cx="355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62FAE5-5CAD-430F-860E-C2AAA65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510" y="46863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E5654"/>
                </a:solidFill>
              </a:defRPr>
            </a:pPr>
            <a:r>
              <a:rPr sz="750" b="1">
                <a:solidFill>
                  <a:srgbClr val="BE5654"/>
                </a:solidFill>
              </a:rPr>
              <a:t>-10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326BF3-F38C-415B-AEEA-46BD0A76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2°C · High-RE minus engineered-CMT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BA4C63-5C07-465C-8C5B-74B67056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0C9CA0-B7CF-40FF-BB98-308AD76B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191312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9C694F-A42F-49A5-A107-40C4473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528" y="21145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+538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1B065E-8D99-470E-BACD-71D26D6F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DD9E3C-FC6B-4C00-B927-D1D79C8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28875"/>
            <a:ext cx="16179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586056-B09A-4A95-82F5-4382E64D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380" y="24003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+455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644F30-753C-4193-A864-351521E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A1FF82-9220-49C8-98A2-B09EEBE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157175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F15DFA-EF20-44ED-8E78-62C8497F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152" y="26860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+442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B8D6E4-2F1D-4B27-A6B2-92997448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Middle East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589E60-C4AE-44C4-ACCC-2EABB01B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146151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FD85D9-8027-4DD4-94ED-88C92BF1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916" y="29718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+411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72A34D-19B4-4D58-A871-5C95A70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Reforming economies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46B662-9E57-4F98-905D-91C6DA6D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107746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CEDE65-DBF1-4D13-AEED-0490F6F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868" y="32575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+303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73A61D-6D5A-4744-A0AB-20529A9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018D8A-9FD5-4823-8564-9C1B0ED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68986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8BC7E5-55BF-45AB-A52B-99B748CE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264" y="35433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+194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0D183F-DA00-4CA7-AC12-AB433036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North America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77B26C-3076-43F5-8F06-E1D14D81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57625"/>
            <a:ext cx="36626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DD5F74-FF69-4777-8AFE-A0C32FA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668" y="38290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+103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2CC64D-6083-4A66-AA53-2E535B7A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China+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87CD1B-AB99-4E92-BDE6-C3DE65D4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3235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37ADC2-9557-4D16-948C-0071A2E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996" y="41148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+91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13C809-6BB5-4306-8F88-F780C0E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Europe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FA9284-2E31-4733-9636-784CEA7E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29125"/>
            <a:ext cx="20624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0DACAD-BA0C-4C6A-8C95-7C2D0A5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648" y="440055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+58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DF21AC-2796-4AA2-BF7C-8CACDBC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1095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5323D"/>
                </a:solidFill>
              </a:defRPr>
            </a:pPr>
            <a:r>
              <a:rPr sz="750" b="1">
                <a:solidFill>
                  <a:srgbClr val="25323D"/>
                </a:solidFill>
              </a:rPr>
              <a:t>Pacific OECD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84CC27-F817-475B-8EB9-4137790E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6400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D1B184-2FF6-4BEF-9606-254E519B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408" y="4686300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+18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2A624D-463A-48C7-9E89-E5BF30AC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The World jobs result is not a single-region artifact: the largest gaps appear in Africa, India+, Rest of Asia, and the Middle East.</a:t>
            </a:r>
          </a:p>
        </p:txBody>
      </p:sp>
    </p:spTree>
    <p:extLst>
      <p:ext uri="{BB962C8B-B14F-4D97-AF65-F5344CB8AC3E}">
        <p14:creationId xmlns:p14="http://schemas.microsoft.com/office/powerpoint/2010/main" val="4176521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420CD4-8098-4CCF-9580-5C035428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R10 DEPRIVATION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F1D73-225C-4060-B0B8-AC9DE48E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F0B9C-31BA-41CC-BB6E-9D9EAAD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Energy-gap improvements are concentrated in high-shortfall regions—and reversals are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0F34D-4452-4186-BE48-C4FB838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EB5E-28EC-4048-94B1-DBAFCD2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D96D7-073B-4310-A79C-C18E3169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50F2D-F250-495F-89F7-632DA574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Energy gap · 1.5°C (GJ/cap)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2473-C970-418D-8D02-2170C77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7645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81912-EB47-437B-9D40-DDE551F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85775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05D9E-1A08-42F5-9E13-E57DDA3A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0D800-736E-4524-A6CE-7C5708C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2133600"/>
            <a:ext cx="157876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4990E-EF60-4104-8F23-764E173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81" y="21050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-22.1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2B753-3FC0-4F8E-9BA8-4B3D1A73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458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7E948-210A-42C4-84EB-E2A24E1D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969" y="2392680"/>
            <a:ext cx="165020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7849B-4D0D-4229-B5C2-866D3C46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4" y="236410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-23.1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4C022-E945-41AC-BF17-F069DBEF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366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Europe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4DECE-3CF0-45CB-9100-8B6AEA8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19" y="2651760"/>
            <a:ext cx="22145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643C7-3A1E-4DD5-A019-3DD976D6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094" y="262318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-3.1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A3C63-C1A0-40E8-A9A5-C99A15E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274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4EABB-B09A-4F20-B92B-C2021C4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869" y="2910840"/>
            <a:ext cx="16430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C7A61-1ECF-4510-AA35-4F10A1FC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288226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-2.3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C5E02-AC9B-42AE-8FF7-127DC25C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182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73EA3-83E4-4226-9FAA-2FD45BC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169920"/>
            <a:ext cx="4286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22A6F-BF2C-46B8-89E6-6999AE1E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14134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-0.6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569DE-3014-4DF1-BA6D-CAE792D2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China+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1C05C-4C01-4479-B1D7-32828E1B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744" y="3429000"/>
            <a:ext cx="2143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F8F3E-5EAC-42EC-8DDB-12BBA52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119" y="34004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-0.3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7B6FA7-79EA-42B4-A99E-EE8ED04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998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Reforming ec.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C2621-2308-4B24-8209-D5294A2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88080"/>
            <a:ext cx="714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4D043-DA71-4849-9BB0-7DF2649F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419" y="365950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0.1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6B0B23-BCA7-4681-AFA7-48C0A8E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906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Pacific OECD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2F7B1B-B1A8-4705-A422-0ABC26EB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47160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AE758B-DA25-4968-91CC-FE5090F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1858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0.8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9A4916-F69C-4363-B108-274506F9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814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North America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40C8CD-3592-4798-B9B0-738DBBAE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06240"/>
            <a:ext cx="6429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FD81B6-AF35-4633-95EE-85478368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417766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0.9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A3085D-3749-4E64-8497-3F3F1199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722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Middle East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DE71C-4D2C-482C-9932-B0A5969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6532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4B96CA-D2D3-4B3A-90FC-FC99435E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674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1.2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21D5B1-9964-4910-80D2-7757AB8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Energy gap · 2°C (GJ/cap)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E48118-278C-4C86-A97C-5EBF9571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098BAF-26B9-44E3-B0E5-000C7FE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5775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EA6AE1-F995-4861-AB18-D6E1D16D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C08B88-98AB-4E59-BE29-29DDD6B5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33600"/>
            <a:ext cx="1771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1D6644-63FF-49BC-98E2-84B3F12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050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-24.8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57C359-11F2-49DC-A333-A80490BD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458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8C9012-CBE8-4B3B-8843-FC83514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392680"/>
            <a:ext cx="8143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87B8E1-BBAC-486E-9D35-7FD1E61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236410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-11.4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BAB401-CA90-4BCF-BB2D-8523969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366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Europe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553A51-A86E-45D6-8489-BC478428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619" y="2651760"/>
            <a:ext cx="5000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7567E1-B8F8-4F97-A894-7558B63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994" y="262318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-0.7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B55A80-B32C-4F45-AE5C-D24B18ED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274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A9F3FA-4EB5-4D58-8E8F-B3A5C220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10840"/>
            <a:ext cx="21431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C6FFE9-3FBD-4631-B440-9AFDDBAA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88226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3.0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4C96CD-BA1C-4D2D-B08D-82E53374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182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8956E2-B416-44F5-8584-474582B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619" y="3169920"/>
            <a:ext cx="5000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ACBDB6-7B52-4753-843E-A6BFDC06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994" y="314134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-0.7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6B1313-D2E4-4EAB-9FCC-D368107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China+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AF858E-B846-4104-A319-C69CB4C1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481" y="3429000"/>
            <a:ext cx="714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0009CC-4D2B-4C8A-A795-DA9032BF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856" y="34004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-0.1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81C5E7-FBBD-428D-B57E-09CA47D3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998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Reforming ec.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8D1749-08F7-4F3D-9B85-724628EE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88080"/>
            <a:ext cx="142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94442E-527C-4FBA-826B-24AA4E01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65950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0.2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E12334-2C85-48CC-8C73-E0C05504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906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Pacific OECD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C6C70A-9F90-46A6-8881-069506C9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47160"/>
            <a:ext cx="9286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3817F2-E6E1-4185-BA51-0451D4FF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594" y="391858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1.3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D9728A-D7E7-4289-B93A-1ED971E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814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North America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B31C43-BD90-4189-81BA-3B803CD9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06240"/>
            <a:ext cx="7143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877922-6DDD-4261-B102-935AAE69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417766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1.0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0CDE65-1951-463E-B240-2057144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7220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Middle East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E456E2-DAAC-4FDF-9EAD-CCEDA0E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65320"/>
            <a:ext cx="10001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8B6CF92-AB2C-4CCD-886E-5C3F7E4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443674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1.4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062441-F845-406C-8C49-7E687F43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Negative values favor High-RE. Headcount follows the same high-stakes pattern: Africa −10.0/−9.5 pp and Latin America −7.6/−3.4 pp (1.5°C/2°C).</a:t>
            </a:r>
          </a:p>
        </p:txBody>
      </p:sp>
    </p:spTree>
    <p:extLst>
      <p:ext uri="{BB962C8B-B14F-4D97-AF65-F5344CB8AC3E}">
        <p14:creationId xmlns:p14="http://schemas.microsoft.com/office/powerpoint/2010/main" val="7208674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7374E8-A7E4-42D2-887F-BAC020F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7275A-0932-4841-A503-E0F97A5F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MORTALITY ·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B3FD7-9266-49F0-8A95-0E8CF3E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PM2.5 coverage is unequal across arms and ambition cells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9184F-C931-4010-95D5-86B10262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C88E5-DA97-452F-BE6A-1740BDF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1BF80-EB2F-4088-B6C1-17A0290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722D8-28EC-4AE3-979D-237B05BE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FDDF2-C4E9-46FA-A571-6AC71CEC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95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684"/>
                </a:solidFill>
              </a:defRPr>
            </a:pPr>
            <a:r>
              <a:rPr sz="750" b="0">
                <a:solidFill>
                  <a:srgbClr val="667684"/>
                </a:solidFill>
              </a:rPr>
              <a:t>Engineered-CMT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86AF7-1E7A-42BF-868B-5623A98B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97574-C436-4705-9D88-A49AFE0E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02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684"/>
                </a:solidFill>
              </a:defRPr>
            </a:pPr>
            <a:r>
              <a:rPr sz="750" b="0">
                <a:solidFill>
                  <a:srgbClr val="667684"/>
                </a:solidFill>
              </a:rPr>
              <a:t>High-RE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30432-FF42-4551-A812-A4B1D28F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Full 1.5°C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3D540-65A8-4CD0-83EF-D75384C1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41320"/>
            <a:ext cx="438150" cy="124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34C42-4645-40D6-B5A4-EEF9E28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89910"/>
            <a:ext cx="438150" cy="1101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CB526-891A-49F1-947C-A27942F5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799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66%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2D587-57F4-40C9-85DA-CDF548E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5658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58%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81059-119B-40EF-A9B3-21F559CF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Full 2°C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613D2-82BC-4FC5-912D-D2A2EC4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91815"/>
            <a:ext cx="438150" cy="1099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0E84C-90DB-4C85-8E01-33F19514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1785"/>
            <a:ext cx="438150" cy="1339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8F12F-0324-4A98-A614-E5E4818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849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58%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CCF35-42E5-4489-845C-829D8AE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1846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70%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D72DA-9415-49BB-880A-4B3E524C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SCI 1.5°C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E1339-286B-4ED1-AFA3-A1F98BA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438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02348-3C0C-4801-9E92-FCD7BF22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438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75F56-CFEA-49A8-9B9D-5EBC6DC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5267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100%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A37AD-1FBF-49DF-8936-6C57D15A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5267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F7D00-017C-4116-B5C9-17CA355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SCI 2°C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C58F1-87E0-4E70-B603-E837FCD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27935"/>
            <a:ext cx="438150" cy="1663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C780F-81D8-4899-8C95-DF0C8B4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16480"/>
            <a:ext cx="43815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791B9-2F24-47F0-8FC2-B1F2787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9461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87%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3471C7-65B7-4417-A2CB-5DD19A02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8315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98%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033FDD-B381-41FD-81B9-AA4BCC1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AB7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47D1F-100D-47E9-8453-993959EB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993CE-9E18-4BB8-8C0E-C3891FEB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15C0A2-73CE-4D9C-9B76-03E283C5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F775BB-4625-469F-9517-709AD23F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Coverage is a property of reporting, not pathway quality. The complete-case screen avoids adding a model- or arm-specific imputation assumption to the mortality comparison.</a:t>
            </a:r>
          </a:p>
        </p:txBody>
      </p:sp>
    </p:spTree>
    <p:extLst>
      <p:ext uri="{BB962C8B-B14F-4D97-AF65-F5344CB8AC3E}">
        <p14:creationId xmlns:p14="http://schemas.microsoft.com/office/powerpoint/2010/main" val="8144194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F88901-8F5C-482D-B88F-4189B05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42E32-DF19-4783-95BE-D7DDEB6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MORTALITY ·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E225-6676-47E8-BBD4-02F9B335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Pooled PM2.5 contrasts change sign; matching models changes the 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DDDB4-ABC4-43C4-8C88-B9498890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685FF-9953-4BF0-8C71-454B53F7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3BE00-5299-4E71-BAC1-95B29C2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36A49-D772-4DEA-9D44-7A10C21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323D"/>
                </a:solidFill>
              </a:defRPr>
            </a:pPr>
            <a:r>
              <a:rPr sz="975" b="1">
                <a:solidFill>
                  <a:srgbClr val="25323D"/>
                </a:solidFill>
              </a:rPr>
              <a:t>High-RE minus engineered-CMT cumulative PM2.5 deaths (million)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42F61-3F92-457F-956C-EE7E7FBC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221932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F062F-236D-479D-B996-ABB1318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138" y="490537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B1E86-D8AC-489D-BBDD-15A944F8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Full 1.5°C pooled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773E2-3B5D-4493-806D-AB8C78F1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19" y="2276475"/>
            <a:ext cx="37526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0037A-A084-4142-ACCC-D944B73E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894" y="22479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A1F94-78EC-4235-999E-D2CFB61F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0319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Full 2°C pooled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7BDFB-92F4-44F4-A1D5-6338374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2588419"/>
            <a:ext cx="13084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8B34D-8B68-484A-BC11-8AAA69EE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735" y="2559844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CDFD0-0249-40EF-90D0-EAAD9DD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2263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SCI 1.5°C pooled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0AF4C-1CED-4C8D-8F47-217228C5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452" y="2900363"/>
            <a:ext cx="217733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53897-D436-4D2E-BD11-A301F5D7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827" y="2871788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5D086-B83F-44DC-BA83-44FE04C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4206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SCI 2°C pooled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89EDE-0DCC-4E62-8273-7D37AA9B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3212306"/>
            <a:ext cx="9694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3FA0A-4F0D-4351-8B2E-2E55A16F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368" y="3183731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BE5654"/>
                </a:solidFill>
              </a:defRPr>
            </a:pPr>
            <a:r>
              <a:rPr sz="675" b="1">
                <a:solidFill>
                  <a:srgbClr val="BE5654"/>
                </a:solidFill>
              </a:rPr>
              <a:t>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2BADB-00C7-4DB8-BBA8-153CBA7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Full 1.5°C matched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3C331-0436-4DBD-9491-409010F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636" y="3524250"/>
            <a:ext cx="75615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4B78F-FEB0-4A09-89A5-FA6781F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011" y="34956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49BF08-0836-482D-BD60-36E8A709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8094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Full 2°C matched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50B52-6AD7-450D-906C-3A243AF7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678" y="3836194"/>
            <a:ext cx="127910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9AD64-5C90-45C8-AD5F-3741E0C7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053" y="3807619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2FA5C-6123-4660-A922-73B22A1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0038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SCI 1.5°C matched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A2644-8B5D-43E8-9615-7752BCF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06" y="4148138"/>
            <a:ext cx="309888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C1571-02DF-4EB1-B17A-2B23E5A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281" y="4119563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-72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E5F30B-D685-4ECF-A026-693DE4D7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1981"/>
            <a:ext cx="310038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25323D"/>
                </a:solidFill>
              </a:defRPr>
            </a:pPr>
            <a:r>
              <a:rPr sz="675" b="1">
                <a:solidFill>
                  <a:srgbClr val="25323D"/>
                </a:solidFill>
              </a:rPr>
              <a:t>SCI 2°C matched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5E2BA1-08D1-4020-AD5A-02D18F8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05" y="4460081"/>
            <a:ext cx="274218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A2CE96-648C-4F5F-901F-050AB404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80" y="4431506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429568"/>
                </a:solidFill>
              </a:defRPr>
            </a:pPr>
            <a:r>
              <a:rPr sz="675" b="1">
                <a:solidFill>
                  <a:srgbClr val="429568"/>
                </a:solidFill>
              </a:rPr>
              <a:t>-64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366674-CEE5-4DDD-89B9-0A4CF48E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1DB9E9-5188-40A0-A37F-3BED7D1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Negative values indicate lower High-RE mortality. Pooled signs change; qualifying within-model comparisons are negative, but model counts remain small.</a:t>
            </a:r>
          </a:p>
        </p:txBody>
      </p:sp>
    </p:spTree>
    <p:extLst>
      <p:ext uri="{BB962C8B-B14F-4D97-AF65-F5344CB8AC3E}">
        <p14:creationId xmlns:p14="http://schemas.microsoft.com/office/powerpoint/2010/main" val="3847838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EA3E7-D3B7-44BF-9E55-A0F04877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EVIDENCE FIGURES ·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69291-B0A6-4EB2-B2C8-E45052E2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3D7E9-9511-43C4-9CFC-425B8F3B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What the figures add to the paper’s final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DF5AB-4E39-41C0-A931-D09C9D1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20275-1295-4E03-A2AD-DF5CC1A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7CAAD-40CD-44FC-A2DA-67703A9F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11156-64AD-4823-B92A-89CAF0A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F65C0-2851-43C7-A1F7-640740F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23D"/>
                </a:solidFill>
              </a:defRPr>
            </a:pPr>
            <a:r>
              <a:rPr sz="1575" b="1">
                <a:solidFill>
                  <a:srgbClr val="25323D"/>
                </a:solidFill>
              </a:rPr>
              <a:t>1  The primary full-database result is visually strong for jobs and energy deprivation.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A66AA-24DE-4637-9C71-79071519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23D"/>
                </a:solidFill>
              </a:defRPr>
            </a:pPr>
            <a:r>
              <a:rPr sz="1575" b="1">
                <a:solidFill>
                  <a:srgbClr val="25323D"/>
                </a:solidFill>
              </a:rPr>
              <a:t>2  SCI-vetted 2°C deprivation and PM2.5 mortality are visual evidence of heterogeneity—not inconvenient exceptions.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BC7E7-BADE-4947-9072-AFAD94A2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6232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23D"/>
                </a:solidFill>
              </a:defRPr>
            </a:pPr>
            <a:r>
              <a:rPr sz="1575" b="1">
                <a:solidFill>
                  <a:srgbClr val="25323D"/>
                </a:solidFill>
              </a:rPr>
              <a:t>3  R10 figures turn “World” from a black box into an explainable aggregation of scale, stakes, and portfolio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5BEAC-B675-4001-89B3-27E12AD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These figures should replace the text-only result slides in the discussion version of the deck; the tables remain useful for a methods appendix.</a:t>
            </a:r>
          </a:p>
        </p:txBody>
      </p:sp>
    </p:spTree>
    <p:extLst>
      <p:ext uri="{BB962C8B-B14F-4D97-AF65-F5344CB8AC3E}">
        <p14:creationId xmlns:p14="http://schemas.microsoft.com/office/powerpoint/2010/main" val="1672869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2026-08-25T19:12:22.0030000Z</dcterms:created>
  <dcterms:modified xsi:type="dcterms:W3CDTF">2026-08-25T19:12:22.0030000Z</dcterms:modified>
</coreProperties>
</file>